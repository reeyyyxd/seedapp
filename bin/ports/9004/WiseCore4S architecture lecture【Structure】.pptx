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38"/>
  </p:notesMasterIdLst>
  <p:handoutMasterIdLst>
    <p:handoutMasterId r:id="rId39"/>
  </p:handoutMasterIdLst>
  <p:sldIdLst>
    <p:sldId id="406" r:id="rId5"/>
    <p:sldId id="408" r:id="rId6"/>
    <p:sldId id="396" r:id="rId7"/>
    <p:sldId id="364" r:id="rId8"/>
    <p:sldId id="365" r:id="rId9"/>
    <p:sldId id="366" r:id="rId10"/>
    <p:sldId id="367" r:id="rId11"/>
    <p:sldId id="374" r:id="rId12"/>
    <p:sldId id="379" r:id="rId13"/>
    <p:sldId id="384" r:id="rId14"/>
    <p:sldId id="394" r:id="rId15"/>
    <p:sldId id="407" r:id="rId16"/>
    <p:sldId id="322" r:id="rId17"/>
    <p:sldId id="409" r:id="rId18"/>
    <p:sldId id="410" r:id="rId19"/>
    <p:sldId id="411" r:id="rId20"/>
    <p:sldId id="412" r:id="rId21"/>
    <p:sldId id="413" r:id="rId22"/>
    <p:sldId id="414" r:id="rId23"/>
    <p:sldId id="415" r:id="rId24"/>
    <p:sldId id="416" r:id="rId25"/>
    <p:sldId id="417" r:id="rId26"/>
    <p:sldId id="418" r:id="rId27"/>
    <p:sldId id="419" r:id="rId28"/>
    <p:sldId id="420" r:id="rId29"/>
    <p:sldId id="421" r:id="rId30"/>
    <p:sldId id="422" r:id="rId31"/>
    <p:sldId id="423" r:id="rId32"/>
    <p:sldId id="424" r:id="rId33"/>
    <p:sldId id="425" r:id="rId34"/>
    <p:sldId id="426" r:id="rId35"/>
    <p:sldId id="427" r:id="rId36"/>
    <p:sldId id="428" r:id="rId3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CCECFF"/>
    <a:srgbClr val="2479CE"/>
    <a:srgbClr val="FF0000"/>
    <a:srgbClr val="000000"/>
    <a:srgbClr val="E53C37"/>
    <a:srgbClr val="E537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78" autoAdjust="0"/>
    <p:restoredTop sz="60931" autoAdjust="0"/>
  </p:normalViewPr>
  <p:slideViewPr>
    <p:cSldViewPr showGuides="1">
      <p:cViewPr>
        <p:scale>
          <a:sx n="48" d="100"/>
          <a:sy n="48" d="100"/>
        </p:scale>
        <p:origin x="-2262" y="-7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284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4EC5F06-772D-4E44-85F9-234E59EDFABC}" type="datetimeFigureOut">
              <a:rPr kumimoji="1" lang="ja-JP" altLang="en-US" smtClean="0"/>
              <a:pPr/>
              <a:t>2016/7/8</a:t>
            </a:fld>
            <a:endParaRPr kumimoji="1" lang="ja-JP" altLang="en-US"/>
          </a:p>
        </p:txBody>
      </p:sp>
      <p:sp>
        <p:nvSpPr>
          <p:cNvPr id="4" name="フッター プレースホル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9E6B994-DDAF-4058-892A-C76AC7782753}" type="slidenum">
              <a:rPr kumimoji="1" lang="ja-JP" altLang="en-US" smtClean="0"/>
              <a:pPr/>
              <a:t>‹#›</a:t>
            </a:fld>
            <a:endParaRPr kumimoji="1" lang="ja-JP" altLang="en-US"/>
          </a:p>
        </p:txBody>
      </p:sp>
    </p:spTree>
    <p:extLst>
      <p:ext uri="{BB962C8B-B14F-4D97-AF65-F5344CB8AC3E}">
        <p14:creationId xmlns:p14="http://schemas.microsoft.com/office/powerpoint/2010/main" val="37746686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3DF5FC-00AA-40AE-8B58-B1EBBBBFA924}" type="datetimeFigureOut">
              <a:rPr kumimoji="1" lang="ja-JP" altLang="en-US" smtClean="0"/>
              <a:pPr/>
              <a:t>2016/7/8</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EA8FAAC-3553-4DF2-8750-213545726E68}" type="slidenum">
              <a:rPr kumimoji="1" lang="ja-JP" altLang="en-US" smtClean="0"/>
              <a:pPr/>
              <a:t>‹#›</a:t>
            </a:fld>
            <a:endParaRPr kumimoji="1" lang="ja-JP" altLang="en-US"/>
          </a:p>
        </p:txBody>
      </p:sp>
    </p:spTree>
    <p:extLst>
      <p:ext uri="{BB962C8B-B14F-4D97-AF65-F5344CB8AC3E}">
        <p14:creationId xmlns:p14="http://schemas.microsoft.com/office/powerpoint/2010/main" val="7940321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0</a:t>
            </a:fld>
            <a:endParaRPr kumimoji="1" lang="ja-JP" altLang="en-US"/>
          </a:p>
        </p:txBody>
      </p:sp>
    </p:spTree>
    <p:extLst>
      <p:ext uri="{BB962C8B-B14F-4D97-AF65-F5344CB8AC3E}">
        <p14:creationId xmlns:p14="http://schemas.microsoft.com/office/powerpoint/2010/main" val="3084500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a:t>
            </a:fld>
            <a:endParaRPr kumimoji="1" lang="ja-JP" altLang="en-US"/>
          </a:p>
        </p:txBody>
      </p:sp>
    </p:spTree>
    <p:extLst>
      <p:ext uri="{BB962C8B-B14F-4D97-AF65-F5344CB8AC3E}">
        <p14:creationId xmlns:p14="http://schemas.microsoft.com/office/powerpoint/2010/main" val="3464401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t>I explain about Subsystem in WiseCore4S.</a:t>
            </a:r>
          </a:p>
          <a:p>
            <a:r>
              <a:rPr kumimoji="1" lang="en-US" altLang="ja-JP" sz="1200" kern="1200" dirty="0" smtClean="0">
                <a:solidFill>
                  <a:schemeClr val="tx1"/>
                </a:solidFill>
                <a:effectLst/>
                <a:latin typeface="Arial" charset="0"/>
                <a:ea typeface="ＭＳ Ｐ明朝" pitchFamily="18" charset="-128"/>
                <a:cs typeface="+mn-cs"/>
              </a:rPr>
              <a:t>Sub</a:t>
            </a:r>
            <a:r>
              <a:rPr kumimoji="1" lang="en-US" altLang="ja-JP" sz="1200" kern="1200" baseline="0" dirty="0" smtClean="0">
                <a:solidFill>
                  <a:schemeClr val="tx1"/>
                </a:solidFill>
                <a:effectLst/>
                <a:latin typeface="Arial" charset="0"/>
                <a:ea typeface="ＭＳ Ｐ明朝" pitchFamily="18" charset="-128"/>
                <a:cs typeface="+mn-cs"/>
              </a:rPr>
              <a:t> system is s</a:t>
            </a:r>
            <a:r>
              <a:rPr kumimoji="1" lang="en-US" altLang="ja-JP" sz="1200" kern="1200" dirty="0" smtClean="0">
                <a:solidFill>
                  <a:schemeClr val="tx1"/>
                </a:solidFill>
                <a:effectLst/>
                <a:latin typeface="Arial" charset="0"/>
                <a:ea typeface="ＭＳ Ｐ明朝" pitchFamily="18" charset="-128"/>
                <a:cs typeface="+mn-cs"/>
              </a:rPr>
              <a:t>ystem that is a part of the whole, grouped together by similar features.</a:t>
            </a:r>
            <a:endParaRPr kumimoji="1" lang="ja-JP" altLang="ja-JP" sz="1200" kern="1200" dirty="0" smtClean="0">
              <a:solidFill>
                <a:schemeClr val="tx1"/>
              </a:solidFill>
              <a:effectLst/>
              <a:latin typeface="Arial" charset="0"/>
              <a:ea typeface="ＭＳ Ｐ明朝" pitchFamily="18" charset="-128"/>
              <a:cs typeface="+mn-cs"/>
            </a:endParaRPr>
          </a:p>
          <a:p>
            <a:r>
              <a:rPr kumimoji="1" lang="en-US" altLang="ja-JP" sz="1200" kern="1200" dirty="0" smtClean="0">
                <a:solidFill>
                  <a:schemeClr val="tx1"/>
                </a:solidFill>
                <a:effectLst/>
                <a:latin typeface="Arial" charset="0"/>
                <a:ea typeface="ＭＳ Ｐ明朝" pitchFamily="18" charset="-128"/>
                <a:cs typeface="+mn-cs"/>
              </a:rPr>
              <a:t>Overall the WiseCore4S controller structure consists of Standard application, Product line platform, Extension service platform. </a:t>
            </a:r>
            <a:endParaRPr kumimoji="1" lang="en-US" altLang="ja-JP" dirty="0" smtClean="0"/>
          </a:p>
          <a:p>
            <a:endParaRPr kumimoji="1" lang="en-US" altLang="ja-JP" dirty="0" smtClean="0"/>
          </a:p>
          <a:p>
            <a:r>
              <a:rPr kumimoji="1" lang="en-US" altLang="ja-JP" sz="1200" kern="1200" dirty="0" smtClean="0">
                <a:solidFill>
                  <a:schemeClr val="tx1"/>
                </a:solidFill>
                <a:effectLst/>
                <a:latin typeface="Arial" charset="0"/>
                <a:ea typeface="ＭＳ Ｐ明朝" pitchFamily="18" charset="-128"/>
                <a:cs typeface="+mn-cs"/>
              </a:rPr>
              <a:t>Standard Application is subsystem that realizes standard functions and provides them as the Application Service.</a:t>
            </a:r>
            <a:endParaRPr kumimoji="1" lang="en-US" altLang="ja-JP" dirty="0" smtClean="0"/>
          </a:p>
          <a:p>
            <a:r>
              <a:rPr kumimoji="1" lang="en-US" altLang="ja-JP" sz="1200" kern="1200" dirty="0" smtClean="0">
                <a:solidFill>
                  <a:schemeClr val="tx1"/>
                </a:solidFill>
                <a:effectLst/>
                <a:latin typeface="Arial" charset="0"/>
                <a:ea typeface="ＭＳ Ｐ明朝" pitchFamily="18" charset="-128"/>
                <a:cs typeface="+mn-cs"/>
              </a:rPr>
              <a:t>Product Line Platform is subsystem that realizes functions as the basis to serve users and provides them as the Platform Service.</a:t>
            </a:r>
            <a:endParaRPr kumimoji="1" lang="en-US" altLang="ja-JP" dirty="0" smtClean="0"/>
          </a:p>
          <a:p>
            <a:r>
              <a:rPr kumimoji="1" lang="en-US" altLang="ja-JP" sz="1200" kern="1200" dirty="0" smtClean="0">
                <a:solidFill>
                  <a:schemeClr val="tx1"/>
                </a:solidFill>
                <a:effectLst/>
                <a:latin typeface="Arial" charset="0"/>
                <a:ea typeface="ＭＳ Ｐ明朝" pitchFamily="18" charset="-128"/>
                <a:cs typeface="+mn-cs"/>
              </a:rPr>
              <a:t>Extension Service Platform is subsystem</a:t>
            </a:r>
            <a:r>
              <a:rPr kumimoji="1" lang="en-US" altLang="ja-JP" sz="1200" kern="1200" baseline="0" dirty="0" smtClean="0">
                <a:solidFill>
                  <a:schemeClr val="tx1"/>
                </a:solidFill>
                <a:effectLst/>
                <a:latin typeface="Arial" charset="0"/>
                <a:ea typeface="ＭＳ Ｐ明朝" pitchFamily="18" charset="-128"/>
                <a:cs typeface="+mn-cs"/>
              </a:rPr>
              <a:t> that p</a:t>
            </a:r>
            <a:r>
              <a:rPr kumimoji="1" lang="en-US" altLang="ja-JP" sz="1200" kern="1200" dirty="0" smtClean="0">
                <a:solidFill>
                  <a:schemeClr val="tx1"/>
                </a:solidFill>
                <a:effectLst/>
                <a:latin typeface="Arial" charset="0"/>
                <a:ea typeface="ＭＳ Ｐ明朝" pitchFamily="18" charset="-128"/>
                <a:cs typeface="+mn-cs"/>
              </a:rPr>
              <a:t>rovides the means for Extension Application to extend its functions.</a:t>
            </a:r>
            <a:endParaRPr kumimoji="1" lang="en-US" altLang="ja-JP" dirty="0" smtClean="0"/>
          </a:p>
          <a:p>
            <a:endParaRPr kumimoji="1" lang="en-US" altLang="ja-JP" dirty="0" smtClean="0"/>
          </a:p>
          <a:p>
            <a:endParaRPr kumimoji="1" lang="en-US" altLang="ja-JP" dirty="0" smtClean="0"/>
          </a:p>
          <a:p>
            <a:r>
              <a:rPr kumimoji="1" lang="en-US" altLang="ja-JP" dirty="0" smtClean="0"/>
              <a:t>WiseCore4S</a:t>
            </a:r>
            <a:r>
              <a:rPr kumimoji="1" lang="ja-JP" altLang="en-US" dirty="0" smtClean="0"/>
              <a:t>のサブシステム構成について説明します。</a:t>
            </a:r>
            <a:endParaRPr kumimoji="1" lang="en-US" altLang="ja-JP" dirty="0" smtClean="0"/>
          </a:p>
          <a:p>
            <a:r>
              <a:rPr kumimoji="1" lang="ja-JP" altLang="en-US" dirty="0" smtClean="0"/>
              <a:t>サブシステムとは、システム全体の一部を構成する機能単位で分割されたシステムです。</a:t>
            </a:r>
            <a:endParaRPr kumimoji="1" lang="en-US" altLang="ja-JP" dirty="0" smtClean="0"/>
          </a:p>
          <a:p>
            <a:r>
              <a:rPr kumimoji="1" lang="en-US" altLang="ja-JP" dirty="0" smtClean="0"/>
              <a:t>WiseCore4S</a:t>
            </a:r>
            <a:r>
              <a:rPr kumimoji="1" lang="ja-JP" altLang="en-US" dirty="0" smtClean="0"/>
              <a:t>では、大きく、</a:t>
            </a:r>
            <a:r>
              <a:rPr kumimoji="1" lang="en-US" altLang="ja-JP" dirty="0" smtClean="0"/>
              <a:t>Standard Application</a:t>
            </a:r>
            <a:r>
              <a:rPr kumimoji="1" lang="ja-JP" altLang="en-US" dirty="0" smtClean="0"/>
              <a:t>と、</a:t>
            </a:r>
            <a:r>
              <a:rPr kumimoji="1" lang="en-US" altLang="ja-JP" dirty="0" smtClean="0"/>
              <a:t>Product Line Platform</a:t>
            </a:r>
            <a:r>
              <a:rPr kumimoji="1" lang="ja-JP" altLang="en-US" dirty="0" err="1" smtClean="0"/>
              <a:t>、</a:t>
            </a:r>
            <a:r>
              <a:rPr kumimoji="1" lang="ja-JP" altLang="en-US" dirty="0" smtClean="0"/>
              <a:t>そして、</a:t>
            </a:r>
            <a:r>
              <a:rPr kumimoji="1" lang="en-US" altLang="ja-JP" dirty="0" smtClean="0"/>
              <a:t>Extension </a:t>
            </a:r>
            <a:r>
              <a:rPr kumimoji="1" lang="en-US" altLang="ja-JP" dirty="0" err="1" smtClean="0"/>
              <a:t>ServicePlatform</a:t>
            </a:r>
            <a:r>
              <a:rPr kumimoji="1" lang="ja-JP" altLang="en-US" dirty="0" smtClean="0"/>
              <a:t>のサブシステムに分割されます。</a:t>
            </a:r>
            <a:endParaRPr kumimoji="1" lang="en-US" altLang="ja-JP" dirty="0" smtClean="0"/>
          </a:p>
          <a:p>
            <a:endParaRPr kumimoji="1" lang="en-US" altLang="ja-JP" dirty="0" smtClean="0"/>
          </a:p>
          <a:p>
            <a:r>
              <a:rPr kumimoji="1" lang="en-US" altLang="ja-JP" dirty="0" smtClean="0"/>
              <a:t>Standard Application</a:t>
            </a:r>
            <a:r>
              <a:rPr kumimoji="1" lang="ja-JP" altLang="en-US" dirty="0" smtClean="0"/>
              <a:t>は、標準機能を実現し、アプリケーションサービスとして提供します。</a:t>
            </a:r>
            <a:endParaRPr kumimoji="1" lang="en-US" altLang="ja-JP" dirty="0" smtClean="0"/>
          </a:p>
          <a:p>
            <a:r>
              <a:rPr kumimoji="1" lang="en-US" altLang="ja-JP" dirty="0" smtClean="0"/>
              <a:t>Product Line Platform</a:t>
            </a:r>
            <a:r>
              <a:rPr kumimoji="1" lang="ja-JP" altLang="en-US" dirty="0" smtClean="0"/>
              <a:t>は、ユーザーサービスを実現するための基盤となる機能を実現します。</a:t>
            </a:r>
            <a:endParaRPr kumimoji="1" lang="en-US" altLang="ja-JP" dirty="0" smtClean="0"/>
          </a:p>
          <a:p>
            <a:r>
              <a:rPr kumimoji="1" lang="en-US" altLang="ja-JP" dirty="0" smtClean="0"/>
              <a:t>Extension Application</a:t>
            </a:r>
            <a:r>
              <a:rPr kumimoji="1" lang="ja-JP" altLang="en-US" dirty="0" smtClean="0"/>
              <a:t>は、拡張機能を実現し、アプリケーションサービスとして提供します。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3</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t>Product Line</a:t>
            </a:r>
            <a:r>
              <a:rPr kumimoji="1" lang="en-US" altLang="ja-JP" baseline="0" dirty="0" smtClean="0"/>
              <a:t> Platform provides various functions to generate Standard Application and Extension Applications.</a:t>
            </a:r>
            <a:endParaRPr kumimoji="1" lang="en-US" altLang="ja-JP" dirty="0" smtClean="0"/>
          </a:p>
          <a:p>
            <a:r>
              <a:rPr kumimoji="1" lang="en-US" altLang="ja-JP" baseline="0" dirty="0" smtClean="0"/>
              <a:t>The component in Product Line Platform does not call interface provided from Standard Application and Extension Service Platform.</a:t>
            </a:r>
          </a:p>
          <a:p>
            <a:r>
              <a:rPr kumimoji="1" lang="en-US" altLang="ja-JP" baseline="0" dirty="0" smtClean="0"/>
              <a:t>Because Product Line Platform cannot decide the behavior of Applications.</a:t>
            </a:r>
            <a:endParaRPr kumimoji="1" lang="en-US" altLang="ja-JP" dirty="0" smtClean="0"/>
          </a:p>
          <a:p>
            <a:r>
              <a:rPr kumimoji="1" lang="en-US" altLang="ja-JP" dirty="0" smtClean="0"/>
              <a:t>So</a:t>
            </a:r>
            <a:r>
              <a:rPr kumimoji="1" lang="ja-JP" altLang="en-US" baseline="0" dirty="0" smtClean="0"/>
              <a:t> </a:t>
            </a:r>
            <a:r>
              <a:rPr kumimoji="1" lang="en-US" altLang="ja-JP" baseline="0" dirty="0" smtClean="0"/>
              <a:t>d</a:t>
            </a:r>
            <a:r>
              <a:rPr kumimoji="1" lang="en-US" altLang="ja-JP" dirty="0" smtClean="0"/>
              <a:t>ependence</a:t>
            </a:r>
            <a:r>
              <a:rPr kumimoji="1" lang="en-US" altLang="ja-JP" baseline="0" dirty="0" smtClean="0"/>
              <a:t> from Product Line Platform to Standard Applications and Extension Service Platform is not allowed.</a:t>
            </a:r>
          </a:p>
          <a:p>
            <a:endParaRPr kumimoji="1" lang="en-US" altLang="ja-JP"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baseline="0" dirty="0" smtClean="0"/>
              <a:t>And also d</a:t>
            </a:r>
            <a:r>
              <a:rPr kumimoji="1" lang="en-US" altLang="ja-JP" dirty="0" smtClean="0"/>
              <a:t>ependence</a:t>
            </a:r>
            <a:r>
              <a:rPr kumimoji="1" lang="en-US" altLang="ja-JP" baseline="0" dirty="0" smtClean="0"/>
              <a:t> from Product Line Platform to Extension Service Platform, From Extension Service Platform to Standard Applications are not allowed.</a:t>
            </a:r>
          </a:p>
          <a:p>
            <a:r>
              <a:rPr kumimoji="1" lang="en-US" altLang="ja-JP" dirty="0" smtClean="0"/>
              <a:t>This</a:t>
            </a:r>
            <a:r>
              <a:rPr kumimoji="1" lang="en-US" altLang="ja-JP" baseline="0" dirty="0" smtClean="0"/>
              <a:t> sheet shows it.</a:t>
            </a:r>
          </a:p>
          <a:p>
            <a:endParaRPr kumimoji="1" lang="en-US" altLang="ja-JP" baseline="0" dirty="0" smtClean="0"/>
          </a:p>
          <a:p>
            <a:r>
              <a:rPr kumimoji="1" lang="en-US" altLang="ja-JP" baseline="0" dirty="0" smtClean="0"/>
              <a:t>Regarding a Notification from Product Line Platform to Standard Application, we use observer pattern.</a:t>
            </a:r>
          </a:p>
          <a:p>
            <a:r>
              <a:rPr kumimoji="1" lang="en-US" altLang="ja-JP" baseline="0" dirty="0" smtClean="0"/>
              <a:t>The component in Product Line Platform provides observer interface, and component in Application register observer by using this interface.  </a:t>
            </a:r>
          </a:p>
          <a:p>
            <a:r>
              <a:rPr kumimoji="1" lang="en-US" altLang="ja-JP" baseline="0" dirty="0" smtClean="0"/>
              <a:t>By registering observer, Standard Application can receive notification from Product Line Platform.</a:t>
            </a:r>
          </a:p>
          <a:p>
            <a:endParaRPr kumimoji="1" lang="en-US" altLang="ja-JP" dirty="0" smtClean="0"/>
          </a:p>
          <a:p>
            <a:r>
              <a:rPr kumimoji="1" lang="en-US" altLang="ja-JP" dirty="0" smtClean="0"/>
              <a:t>Next</a:t>
            </a:r>
            <a:r>
              <a:rPr kumimoji="1" lang="en-US" altLang="ja-JP" baseline="0" dirty="0" smtClean="0"/>
              <a:t>, I explain about package in this subsystem.</a:t>
            </a:r>
          </a:p>
          <a:p>
            <a:endParaRPr kumimoji="1" lang="en-US" altLang="ja-JP" dirty="0" smtClean="0"/>
          </a:p>
          <a:p>
            <a:endParaRPr kumimoji="1" lang="en-US" altLang="ja-JP" dirty="0" smtClean="0"/>
          </a:p>
          <a:p>
            <a:r>
              <a:rPr kumimoji="1" lang="en-US" altLang="ja-JP" dirty="0" smtClean="0"/>
              <a:t>Product Line Platform</a:t>
            </a:r>
            <a:r>
              <a:rPr kumimoji="1" lang="ja-JP" altLang="en-US" dirty="0" smtClean="0"/>
              <a:t>は、</a:t>
            </a:r>
            <a:r>
              <a:rPr kumimoji="1" lang="en-US" altLang="ja-JP" dirty="0" smtClean="0"/>
              <a:t>Standard Application</a:t>
            </a:r>
            <a:r>
              <a:rPr kumimoji="1" lang="ja-JP" altLang="en-US" dirty="0" smtClean="0"/>
              <a:t>と、</a:t>
            </a:r>
            <a:r>
              <a:rPr kumimoji="1" lang="en-US" altLang="ja-JP" dirty="0" smtClean="0"/>
              <a:t>Extension Service Platform</a:t>
            </a:r>
            <a:r>
              <a:rPr kumimoji="1" lang="ja-JP" altLang="en-US" dirty="0" smtClean="0"/>
              <a:t>に機能を提供するサブシステムです。</a:t>
            </a:r>
            <a:endParaRPr kumimoji="1" lang="en-US" altLang="ja-JP" dirty="0" smtClean="0"/>
          </a:p>
          <a:p>
            <a:r>
              <a:rPr kumimoji="1" lang="en-US" altLang="ja-JP" dirty="0" smtClean="0"/>
              <a:t>Product Line Platform</a:t>
            </a:r>
            <a:r>
              <a:rPr kumimoji="1" lang="ja-JP" altLang="en-US" dirty="0" smtClean="0"/>
              <a:t>から、</a:t>
            </a:r>
            <a:r>
              <a:rPr kumimoji="1" lang="en-US" altLang="ja-JP" dirty="0" smtClean="0"/>
              <a:t>Standard Application</a:t>
            </a:r>
            <a:r>
              <a:rPr kumimoji="1" lang="ja-JP" altLang="en-US" dirty="0" smtClean="0"/>
              <a:t>と、</a:t>
            </a:r>
            <a:r>
              <a:rPr kumimoji="1" lang="en-US" altLang="ja-JP" dirty="0" smtClean="0"/>
              <a:t>Extension Service Platform</a:t>
            </a:r>
            <a:r>
              <a:rPr kumimoji="1" lang="ja-JP" altLang="en-US" dirty="0" err="1" smtClean="0"/>
              <a:t>が提</a:t>
            </a:r>
            <a:r>
              <a:rPr kumimoji="1" lang="ja-JP" altLang="en-US" dirty="0" smtClean="0"/>
              <a:t>供するインタフェースを呼び出してはいけません。</a:t>
            </a:r>
            <a:endParaRPr kumimoji="1" lang="en-US" altLang="ja-JP" dirty="0" smtClean="0"/>
          </a:p>
          <a:p>
            <a:r>
              <a:rPr kumimoji="1" lang="ja-JP" altLang="en-US" dirty="0" smtClean="0"/>
              <a:t>それは、</a:t>
            </a:r>
            <a:r>
              <a:rPr kumimoji="1" lang="en-US" altLang="ja-JP" dirty="0" smtClean="0"/>
              <a:t>Product Line Platform</a:t>
            </a:r>
            <a:r>
              <a:rPr kumimoji="1" lang="ja-JP" altLang="en-US" dirty="0" smtClean="0"/>
              <a:t>は、アプリケーションの振る舞いを決めることはできないからです。</a:t>
            </a:r>
            <a:endParaRPr kumimoji="1" lang="en-US" altLang="ja-JP" dirty="0" smtClean="0"/>
          </a:p>
          <a:p>
            <a:r>
              <a:rPr kumimoji="1" lang="ja-JP" altLang="en-US" dirty="0" smtClean="0"/>
              <a:t>そのため、</a:t>
            </a:r>
            <a:r>
              <a:rPr kumimoji="1" lang="en-US" altLang="ja-JP" dirty="0" smtClean="0"/>
              <a:t>Product Line Platform</a:t>
            </a:r>
            <a:r>
              <a:rPr kumimoji="1" lang="ja-JP" altLang="en-US" dirty="0" smtClean="0"/>
              <a:t>から</a:t>
            </a:r>
            <a:r>
              <a:rPr kumimoji="1" lang="en-US" altLang="ja-JP" dirty="0" smtClean="0"/>
              <a:t>Standard Application</a:t>
            </a:r>
            <a:r>
              <a:rPr kumimoji="1" lang="ja-JP" altLang="en-US" dirty="0" smtClean="0"/>
              <a:t>と、</a:t>
            </a:r>
            <a:r>
              <a:rPr kumimoji="1" lang="en-US" altLang="ja-JP" dirty="0" smtClean="0"/>
              <a:t>Extension Service Platform</a:t>
            </a:r>
            <a:r>
              <a:rPr kumimoji="1" lang="ja-JP" altLang="en-US" dirty="0" smtClean="0"/>
              <a:t>に向けての依存関係を持たせてはいけません。</a:t>
            </a:r>
            <a:endParaRPr kumimoji="1" lang="en-US" altLang="ja-JP" dirty="0" smtClean="0"/>
          </a:p>
          <a:p>
            <a:endParaRPr kumimoji="1" lang="en-US" altLang="ja-JP" dirty="0" smtClean="0"/>
          </a:p>
          <a:p>
            <a:r>
              <a:rPr kumimoji="1" lang="ja-JP" altLang="en-US" dirty="0" smtClean="0"/>
              <a:t>同様のことが、</a:t>
            </a:r>
            <a:r>
              <a:rPr kumimoji="1" lang="en-US" altLang="ja-JP" dirty="0" smtClean="0"/>
              <a:t>Extension Service Platform</a:t>
            </a:r>
            <a:r>
              <a:rPr kumimoji="1" lang="ja-JP" altLang="en-US" dirty="0" smtClean="0"/>
              <a:t>と、</a:t>
            </a:r>
            <a:r>
              <a:rPr kumimoji="1" lang="en-US" altLang="ja-JP" dirty="0" smtClean="0"/>
              <a:t>Standard Application</a:t>
            </a:r>
            <a:r>
              <a:rPr kumimoji="1" lang="ja-JP" altLang="en-US" dirty="0" err="1" smtClean="0"/>
              <a:t>にも</a:t>
            </a:r>
            <a:r>
              <a:rPr kumimoji="1" lang="ja-JP" altLang="en-US" dirty="0" smtClean="0"/>
              <a:t>言えます。</a:t>
            </a:r>
            <a:r>
              <a:rPr kumimoji="1" lang="en-US" altLang="ja-JP" dirty="0" smtClean="0"/>
              <a:t>Extension Service Platform</a:t>
            </a:r>
            <a:r>
              <a:rPr kumimoji="1" lang="ja-JP" altLang="en-US" dirty="0" smtClean="0"/>
              <a:t>から</a:t>
            </a:r>
            <a:r>
              <a:rPr kumimoji="1" lang="en-US" altLang="ja-JP" dirty="0" smtClean="0"/>
              <a:t>Standard Application</a:t>
            </a:r>
            <a:r>
              <a:rPr kumimoji="1" lang="ja-JP" altLang="en-US" dirty="0" err="1" smtClean="0"/>
              <a:t>への</a:t>
            </a:r>
            <a:r>
              <a:rPr kumimoji="1" lang="ja-JP" altLang="en-US" dirty="0" smtClean="0"/>
              <a:t>依存</a:t>
            </a:r>
            <a:endParaRPr kumimoji="1" lang="en-US" altLang="ja-JP" dirty="0" smtClean="0"/>
          </a:p>
          <a:p>
            <a:r>
              <a:rPr kumimoji="1" lang="ja-JP" altLang="en-US" dirty="0" smtClean="0"/>
              <a:t>関係を持たせてはなりません。</a:t>
            </a:r>
            <a:endParaRPr kumimoji="1" lang="en-US" altLang="ja-JP" dirty="0" smtClean="0"/>
          </a:p>
          <a:p>
            <a:r>
              <a:rPr kumimoji="1" lang="ja-JP" altLang="en-US" dirty="0" smtClean="0"/>
              <a:t>それをこの図で表現しています。</a:t>
            </a:r>
            <a:endParaRPr kumimoji="1" lang="en-US" altLang="ja-JP" dirty="0" smtClean="0"/>
          </a:p>
          <a:p>
            <a:endParaRPr kumimoji="1" lang="en-US" altLang="ja-JP" dirty="0" smtClean="0"/>
          </a:p>
          <a:p>
            <a:r>
              <a:rPr kumimoji="1" lang="en-US" altLang="ja-JP" dirty="0" smtClean="0"/>
              <a:t>Product Line Platform</a:t>
            </a:r>
            <a:r>
              <a:rPr kumimoji="1" lang="ja-JP" altLang="en-US" dirty="0" smtClean="0"/>
              <a:t>から</a:t>
            </a:r>
            <a:r>
              <a:rPr kumimoji="1" lang="en-US" altLang="ja-JP" dirty="0" smtClean="0"/>
              <a:t>Standard Application</a:t>
            </a:r>
            <a:r>
              <a:rPr kumimoji="1" lang="ja-JP" altLang="en-US" dirty="0" err="1" smtClean="0"/>
              <a:t>への</a:t>
            </a:r>
            <a:r>
              <a:rPr kumimoji="1" lang="ja-JP" altLang="en-US" dirty="0" smtClean="0"/>
              <a:t>通知は、オブザーバの仕組みを使用して行います。</a:t>
            </a:r>
            <a:endParaRPr kumimoji="1" lang="en-US" altLang="ja-JP" dirty="0" smtClean="0"/>
          </a:p>
          <a:p>
            <a:r>
              <a:rPr kumimoji="1" lang="en-US" altLang="ja-JP" dirty="0" smtClean="0"/>
              <a:t>Product Line Platform</a:t>
            </a:r>
            <a:r>
              <a:rPr kumimoji="1" lang="ja-JP" altLang="en-US" dirty="0" smtClean="0"/>
              <a:t>サブシステムに配置されるコンポーネントは、オブザーバインタフェースを提供し、そのインタフェースを利用し、</a:t>
            </a:r>
            <a:r>
              <a:rPr kumimoji="1" lang="en-US" altLang="ja-JP" dirty="0" smtClean="0"/>
              <a:t>Standard Application</a:t>
            </a:r>
            <a:r>
              <a:rPr kumimoji="1" lang="ja-JP" altLang="en-US" dirty="0" smtClean="0"/>
              <a:t>から</a:t>
            </a:r>
            <a:endParaRPr kumimoji="1" lang="en-US" altLang="ja-JP" dirty="0" smtClean="0"/>
          </a:p>
          <a:p>
            <a:r>
              <a:rPr kumimoji="1" lang="ja-JP" altLang="en-US" dirty="0" smtClean="0"/>
              <a:t>オブザーバを登録することで、</a:t>
            </a:r>
            <a:r>
              <a:rPr kumimoji="1" lang="en-US" altLang="ja-JP" dirty="0" smtClean="0"/>
              <a:t>Standard Application</a:t>
            </a:r>
            <a:r>
              <a:rPr kumimoji="1" lang="ja-JP" altLang="en-US" dirty="0" smtClean="0"/>
              <a:t>は、</a:t>
            </a:r>
            <a:r>
              <a:rPr kumimoji="1" lang="en-US" altLang="ja-JP" dirty="0" smtClean="0"/>
              <a:t>Product Line Platform</a:t>
            </a:r>
            <a:r>
              <a:rPr kumimoji="1" lang="ja-JP" altLang="en-US" dirty="0" smtClean="0"/>
              <a:t>からの通知を受けることができます。</a:t>
            </a:r>
            <a:endParaRPr kumimoji="1" lang="en-US" altLang="ja-JP" dirty="0" smtClean="0"/>
          </a:p>
          <a:p>
            <a:endParaRPr kumimoji="1" lang="en-US" altLang="ja-JP" dirty="0" smtClean="0"/>
          </a:p>
          <a:p>
            <a:r>
              <a:rPr kumimoji="1" lang="ja-JP" altLang="en-US" dirty="0" smtClean="0"/>
              <a:t>次に、それぞれのサブシステムに配置されるパッケージについて説明します。</a:t>
            </a:r>
            <a:endParaRPr kumimoji="1" lang="en-US" altLang="ja-JP" dirty="0" smtClean="0"/>
          </a:p>
          <a:p>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4</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t>I explain</a:t>
            </a:r>
            <a:r>
              <a:rPr kumimoji="1" lang="en-US" altLang="ja-JP" baseline="0" dirty="0" smtClean="0"/>
              <a:t> about packages in each layer.</a:t>
            </a:r>
            <a:endParaRPr kumimoji="1" lang="en-US" altLang="ja-JP" dirty="0" smtClean="0"/>
          </a:p>
          <a:p>
            <a:endParaRPr kumimoji="1" lang="en-US" altLang="ja-JP" dirty="0" smtClean="0"/>
          </a:p>
          <a:p>
            <a:r>
              <a:rPr kumimoji="1" lang="en-US" altLang="ja-JP" dirty="0" smtClean="0"/>
              <a:t>Subsystem of Standard Application does</a:t>
            </a:r>
            <a:r>
              <a:rPr kumimoji="1" lang="en-US" altLang="ja-JP" baseline="0" dirty="0" smtClean="0"/>
              <a:t> not have layer.</a:t>
            </a:r>
            <a:endParaRPr kumimoji="1" lang="en-US" altLang="ja-JP" dirty="0" smtClean="0"/>
          </a:p>
          <a:p>
            <a:r>
              <a:rPr kumimoji="1" lang="en-US" altLang="ja-JP" dirty="0" smtClean="0"/>
              <a:t>Product Line Platform has 4 layers,</a:t>
            </a:r>
            <a:r>
              <a:rPr kumimoji="1" lang="en-US" altLang="ja-JP" baseline="0" dirty="0" smtClean="0"/>
              <a:t> Platform Service Layer, </a:t>
            </a:r>
            <a:r>
              <a:rPr kumimoji="1" lang="en-US" altLang="ja-JP" dirty="0" smtClean="0"/>
              <a:t>Platform Element</a:t>
            </a:r>
            <a:r>
              <a:rPr kumimoji="1" lang="ja-JP" altLang="en-US" baseline="0" dirty="0" smtClean="0"/>
              <a:t> </a:t>
            </a:r>
            <a:r>
              <a:rPr kumimoji="1" lang="en-US" altLang="ja-JP" baseline="0" dirty="0" smtClean="0"/>
              <a:t>Layer, </a:t>
            </a:r>
            <a:r>
              <a:rPr kumimoji="1" lang="en-US" altLang="ja-JP" dirty="0" smtClean="0"/>
              <a:t>Platform</a:t>
            </a:r>
            <a:r>
              <a:rPr kumimoji="1" lang="ja-JP" altLang="en-US" dirty="0" smtClean="0"/>
              <a:t>　</a:t>
            </a:r>
            <a:r>
              <a:rPr kumimoji="1" lang="en-US" altLang="ja-JP" dirty="0" smtClean="0"/>
              <a:t>Middleware Layer, and Platform OS Layer.</a:t>
            </a:r>
          </a:p>
          <a:p>
            <a:r>
              <a:rPr kumimoji="1" lang="en-US" altLang="ja-JP" dirty="0" smtClean="0"/>
              <a:t>Platform Service</a:t>
            </a:r>
            <a:r>
              <a:rPr kumimoji="1" lang="ja-JP" altLang="en-US" baseline="0" dirty="0" smtClean="0"/>
              <a:t> </a:t>
            </a:r>
            <a:r>
              <a:rPr kumimoji="1" lang="en-US" altLang="ja-JP" dirty="0" smtClean="0"/>
              <a:t>Layer </a:t>
            </a:r>
            <a:r>
              <a:rPr kumimoji="1" lang="en-US" altLang="ja-JP" baseline="0" dirty="0" smtClean="0"/>
              <a:t>provides platform functions to Applications.  </a:t>
            </a:r>
            <a:endParaRPr kumimoji="1" lang="en-US" altLang="ja-JP" dirty="0" smtClean="0"/>
          </a:p>
          <a:p>
            <a:r>
              <a:rPr kumimoji="1" lang="en-US" altLang="ja-JP" dirty="0" smtClean="0"/>
              <a:t>Other layer</a:t>
            </a:r>
            <a:r>
              <a:rPr kumimoji="1" lang="en-US" altLang="ja-JP" baseline="0" dirty="0" smtClean="0"/>
              <a:t>, </a:t>
            </a:r>
            <a:r>
              <a:rPr kumimoji="1" lang="en-US" altLang="ja-JP" dirty="0" smtClean="0"/>
              <a:t>Platform Element</a:t>
            </a:r>
            <a:r>
              <a:rPr kumimoji="1" lang="ja-JP" altLang="en-US" baseline="0" dirty="0" smtClean="0"/>
              <a:t> </a:t>
            </a:r>
            <a:r>
              <a:rPr kumimoji="1" lang="en-US" altLang="ja-JP" baseline="0" dirty="0" smtClean="0"/>
              <a:t>Layer, </a:t>
            </a:r>
            <a:r>
              <a:rPr kumimoji="1" lang="en-US" altLang="ja-JP" dirty="0" smtClean="0"/>
              <a:t>Platform</a:t>
            </a:r>
            <a:r>
              <a:rPr kumimoji="1" lang="ja-JP" altLang="en-US" dirty="0" smtClean="0"/>
              <a:t>　</a:t>
            </a:r>
            <a:r>
              <a:rPr kumimoji="1" lang="en-US" altLang="ja-JP" dirty="0" smtClean="0"/>
              <a:t>Middleware Layer, and Platform OS Layer are</a:t>
            </a:r>
            <a:r>
              <a:rPr kumimoji="1" lang="en-US" altLang="ja-JP" baseline="0" dirty="0" smtClean="0"/>
              <a:t> same as WiseCore3.</a:t>
            </a:r>
            <a:endParaRPr kumimoji="1" lang="en-US" altLang="ja-JP" dirty="0" smtClean="0"/>
          </a:p>
          <a:p>
            <a:endParaRPr kumimoji="1" lang="en-US" altLang="ja-JP" dirty="0" smtClean="0"/>
          </a:p>
          <a:p>
            <a:r>
              <a:rPr kumimoji="1" lang="en-US" altLang="ja-JP" dirty="0" smtClean="0"/>
              <a:t>Extension Service Platform has 2</a:t>
            </a:r>
            <a:r>
              <a:rPr kumimoji="1" lang="en-US" altLang="ja-JP" baseline="0" dirty="0" smtClean="0"/>
              <a:t> layers.</a:t>
            </a:r>
          </a:p>
          <a:p>
            <a:r>
              <a:rPr kumimoji="1" lang="en-US" altLang="ja-JP" dirty="0" smtClean="0"/>
              <a:t>Application Framework Layer </a:t>
            </a:r>
            <a:r>
              <a:rPr kumimoji="1" lang="en-US" altLang="ja-JP" baseline="0" dirty="0" smtClean="0"/>
              <a:t>provides Application Framework to Extension Applications. </a:t>
            </a:r>
            <a:endParaRPr kumimoji="1" lang="en-US" altLang="ja-JP" dirty="0" smtClean="0"/>
          </a:p>
          <a:p>
            <a:r>
              <a:rPr kumimoji="1" lang="en-US" altLang="ja-JP" dirty="0" smtClean="0"/>
              <a:t>And System Service Layer  provides</a:t>
            </a:r>
            <a:r>
              <a:rPr kumimoji="1" lang="en-US" altLang="ja-JP" baseline="0" dirty="0" smtClean="0"/>
              <a:t> interface for Application Framework,</a:t>
            </a:r>
          </a:p>
          <a:p>
            <a:r>
              <a:rPr kumimoji="1" lang="en-US" altLang="ja-JP" baseline="0" dirty="0" smtClean="0"/>
              <a:t>which is for adjusting difference between </a:t>
            </a:r>
            <a:r>
              <a:rPr kumimoji="1" lang="en-US" altLang="ja-JP" dirty="0" smtClean="0"/>
              <a:t>Application Framework and Product Line Platform.</a:t>
            </a:r>
          </a:p>
          <a:p>
            <a:endParaRPr kumimoji="1" lang="en-US" altLang="ja-JP"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t>Next</a:t>
            </a:r>
            <a:r>
              <a:rPr kumimoji="1" lang="en-US" altLang="ja-JP" baseline="0" dirty="0" smtClean="0"/>
              <a:t>, I explain about each Layer.</a:t>
            </a:r>
            <a:endParaRPr kumimoji="1" lang="en-US" altLang="ja-JP" dirty="0" smtClean="0"/>
          </a:p>
          <a:p>
            <a:endParaRPr kumimoji="1" lang="en-US" altLang="ja-JP" dirty="0" smtClean="0"/>
          </a:p>
          <a:p>
            <a:r>
              <a:rPr kumimoji="1" lang="ja-JP" altLang="en-US" dirty="0" smtClean="0"/>
              <a:t>サブシステムに配置されるレイヤと、パッケージについて説明します。</a:t>
            </a:r>
            <a:endParaRPr kumimoji="1" lang="en-US" altLang="ja-JP" dirty="0" smtClean="0"/>
          </a:p>
          <a:p>
            <a:r>
              <a:rPr kumimoji="1" lang="en-US" altLang="ja-JP" dirty="0" smtClean="0"/>
              <a:t>Standard Application</a:t>
            </a:r>
            <a:r>
              <a:rPr kumimoji="1" lang="ja-JP" altLang="en-US" dirty="0" smtClean="0"/>
              <a:t>はレイヤを持ちません。</a:t>
            </a:r>
            <a:endParaRPr kumimoji="1" lang="en-US" altLang="ja-JP" dirty="0" smtClean="0"/>
          </a:p>
          <a:p>
            <a:r>
              <a:rPr kumimoji="1" lang="en-US" altLang="ja-JP" dirty="0" smtClean="0"/>
              <a:t>Product Line Platform</a:t>
            </a:r>
            <a:r>
              <a:rPr kumimoji="1" lang="ja-JP" altLang="en-US" dirty="0" smtClean="0"/>
              <a:t>は、</a:t>
            </a:r>
            <a:r>
              <a:rPr kumimoji="1" lang="en-US" altLang="ja-JP" dirty="0" smtClean="0"/>
              <a:t>4</a:t>
            </a:r>
            <a:r>
              <a:rPr kumimoji="1" lang="ja-JP" altLang="en-US" dirty="0" err="1" smtClean="0"/>
              <a:t>つの</a:t>
            </a:r>
            <a:r>
              <a:rPr kumimoji="1" lang="ja-JP" altLang="en-US" dirty="0" smtClean="0"/>
              <a:t>レイヤで構成されています。</a:t>
            </a:r>
            <a:endParaRPr kumimoji="1" lang="en-US" altLang="ja-JP" dirty="0" smtClean="0"/>
          </a:p>
          <a:p>
            <a:r>
              <a:rPr kumimoji="1" lang="en-US" altLang="ja-JP" dirty="0" smtClean="0"/>
              <a:t>Platform Service</a:t>
            </a:r>
            <a:r>
              <a:rPr kumimoji="1" lang="ja-JP" altLang="en-US" baseline="0" dirty="0" smtClean="0"/>
              <a:t> </a:t>
            </a:r>
            <a:r>
              <a:rPr kumimoji="1" lang="en-US" altLang="ja-JP" dirty="0" smtClean="0"/>
              <a:t>Layer</a:t>
            </a:r>
            <a:r>
              <a:rPr kumimoji="1" lang="ja-JP" altLang="en-US" dirty="0" smtClean="0"/>
              <a:t>が、</a:t>
            </a:r>
            <a:r>
              <a:rPr kumimoji="1" lang="en-US" altLang="ja-JP" dirty="0" smtClean="0"/>
              <a:t>Standard Application</a:t>
            </a:r>
            <a:r>
              <a:rPr kumimoji="1" lang="ja-JP" altLang="en-US" dirty="0" err="1" smtClean="0"/>
              <a:t>、</a:t>
            </a:r>
            <a:r>
              <a:rPr kumimoji="1" lang="en-US" altLang="ja-JP" dirty="0" smtClean="0"/>
              <a:t>Extension Service Platform</a:t>
            </a:r>
            <a:r>
              <a:rPr kumimoji="1" lang="ja-JP" altLang="en-US" dirty="0" smtClean="0"/>
              <a:t>サブシステムに対して、</a:t>
            </a:r>
            <a:r>
              <a:rPr kumimoji="1" lang="en-US" altLang="ja-JP" dirty="0" smtClean="0"/>
              <a:t>Platform</a:t>
            </a:r>
            <a:r>
              <a:rPr kumimoji="1" lang="ja-JP" altLang="en-US" dirty="0" smtClean="0"/>
              <a:t>の機能を提供するレイヤとなります。</a:t>
            </a:r>
            <a:endParaRPr kumimoji="1" lang="en-US" altLang="ja-JP" dirty="0" smtClean="0"/>
          </a:p>
          <a:p>
            <a:endParaRPr kumimoji="1" lang="en-US" altLang="ja-JP" dirty="0" smtClean="0"/>
          </a:p>
          <a:p>
            <a:r>
              <a:rPr kumimoji="1" lang="en-US" altLang="ja-JP" dirty="0" smtClean="0"/>
              <a:t>Extension Service Platform</a:t>
            </a:r>
            <a:r>
              <a:rPr kumimoji="1" lang="ja-JP" altLang="en-US" dirty="0" smtClean="0"/>
              <a:t>は、</a:t>
            </a:r>
            <a:r>
              <a:rPr kumimoji="1" lang="en-US" altLang="ja-JP" dirty="0" smtClean="0"/>
              <a:t>2</a:t>
            </a:r>
            <a:r>
              <a:rPr kumimoji="1" lang="ja-JP" altLang="en-US" dirty="0" err="1" smtClean="0"/>
              <a:t>つの</a:t>
            </a:r>
            <a:r>
              <a:rPr kumimoji="1" lang="ja-JP" altLang="en-US" dirty="0" smtClean="0"/>
              <a:t>レイヤで構成されています。</a:t>
            </a:r>
            <a:endParaRPr kumimoji="1" lang="en-US" altLang="ja-JP" dirty="0" smtClean="0"/>
          </a:p>
          <a:p>
            <a:r>
              <a:rPr kumimoji="1" lang="en-US" altLang="ja-JP" dirty="0" smtClean="0"/>
              <a:t>Application Framework Layer</a:t>
            </a:r>
            <a:r>
              <a:rPr kumimoji="1" lang="ja-JP" altLang="en-US" dirty="0" smtClean="0"/>
              <a:t>は、拡張アプリケーションに対して、アプリケーションフレームワークを提供するレイヤです。</a:t>
            </a:r>
            <a:endParaRPr kumimoji="1" lang="en-US" altLang="ja-JP" dirty="0" smtClean="0"/>
          </a:p>
          <a:p>
            <a:r>
              <a:rPr kumimoji="1" lang="ja-JP" altLang="en-US" dirty="0" smtClean="0"/>
              <a:t>また、</a:t>
            </a:r>
            <a:r>
              <a:rPr kumimoji="1" lang="en-US" altLang="ja-JP" dirty="0" smtClean="0"/>
              <a:t>System Service Layer</a:t>
            </a:r>
            <a:r>
              <a:rPr kumimoji="1" lang="ja-JP" altLang="en-US" dirty="0" smtClean="0"/>
              <a:t>は</a:t>
            </a:r>
            <a:r>
              <a:rPr kumimoji="1" lang="en-US" altLang="ja-JP" dirty="0" smtClean="0"/>
              <a:t>Application Framework</a:t>
            </a:r>
            <a:r>
              <a:rPr kumimoji="1" lang="ja-JP" altLang="en-US" dirty="0" smtClean="0"/>
              <a:t>と、</a:t>
            </a:r>
            <a:r>
              <a:rPr kumimoji="1" lang="en-US" altLang="ja-JP" dirty="0" smtClean="0"/>
              <a:t>Product Line Platform</a:t>
            </a:r>
            <a:r>
              <a:rPr kumimoji="1" lang="ja-JP" altLang="en-US" dirty="0" smtClean="0"/>
              <a:t>間の機器制約を吸収するレイヤとして定義しています。</a:t>
            </a:r>
            <a:endParaRPr kumimoji="1" lang="en-US" altLang="ja-JP" dirty="0" smtClean="0"/>
          </a:p>
          <a:p>
            <a:endParaRPr kumimoji="1" lang="en-US" altLang="ja-JP" dirty="0" smtClean="0"/>
          </a:p>
          <a:p>
            <a:r>
              <a:rPr kumimoji="1" lang="ja-JP" altLang="en-US" dirty="0" smtClean="0"/>
              <a:t>次に、各レイヤについて説明します。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5</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solidFill>
                  <a:schemeClr val="tx1"/>
                </a:solidFill>
                <a:latin typeface="+mn-ea"/>
                <a:ea typeface="+mn-ea"/>
              </a:rPr>
              <a:t>This is Application</a:t>
            </a:r>
            <a:r>
              <a:rPr kumimoji="1" lang="en-US" altLang="ja-JP" baseline="0" dirty="0" smtClean="0">
                <a:solidFill>
                  <a:schemeClr val="tx1"/>
                </a:solidFill>
                <a:latin typeface="+mn-ea"/>
                <a:ea typeface="+mn-ea"/>
              </a:rPr>
              <a:t> Layer.</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ja-JP" sz="1200" b="0" dirty="0" smtClean="0">
                <a:solidFill>
                  <a:schemeClr val="tx1"/>
                </a:solidFill>
                <a:latin typeface="+mn-ea"/>
                <a:ea typeface="+mn-ea"/>
                <a:cs typeface="Meiryo UI" panose="020B0604030504040204" pitchFamily="50" charset="-128"/>
              </a:rPr>
              <a:t>This layer Realizes user services by combining platform services and manages the execution state of these user services.</a:t>
            </a:r>
          </a:p>
          <a:p>
            <a:endParaRPr kumimoji="1" lang="en-US" altLang="ja-JP" dirty="0" smtClean="0">
              <a:solidFill>
                <a:schemeClr val="tx1"/>
              </a:solidFill>
              <a:latin typeface="+mn-ea"/>
              <a:ea typeface="+mn-ea"/>
            </a:endParaRPr>
          </a:p>
          <a:p>
            <a:r>
              <a:rPr kumimoji="1" lang="en-US" altLang="ja-JP" dirty="0" smtClean="0">
                <a:solidFill>
                  <a:schemeClr val="tx1"/>
                </a:solidFill>
                <a:latin typeface="+mn-ea"/>
                <a:ea typeface="+mn-ea"/>
              </a:rPr>
              <a:t>The</a:t>
            </a:r>
            <a:r>
              <a:rPr kumimoji="1" lang="en-US" altLang="ja-JP" baseline="0" dirty="0" smtClean="0">
                <a:solidFill>
                  <a:schemeClr val="tx1"/>
                </a:solidFill>
                <a:latin typeface="+mn-ea"/>
                <a:ea typeface="+mn-ea"/>
              </a:rPr>
              <a:t> package</a:t>
            </a:r>
            <a:r>
              <a:rPr kumimoji="1" lang="en-US" altLang="ja-JP" dirty="0" smtClean="0">
                <a:solidFill>
                  <a:schemeClr val="tx1"/>
                </a:solidFill>
                <a:latin typeface="+mn-ea"/>
                <a:ea typeface="+mn-ea"/>
              </a:rPr>
              <a:t> in this layer are</a:t>
            </a:r>
            <a:r>
              <a:rPr kumimoji="1" lang="en-US" altLang="ja-JP" baseline="0" dirty="0" smtClean="0">
                <a:solidFill>
                  <a:schemeClr val="tx1"/>
                </a:solidFill>
                <a:latin typeface="+mn-ea"/>
                <a:ea typeface="+mn-ea"/>
              </a:rPr>
              <a:t> defined in each Functions.</a:t>
            </a:r>
            <a:r>
              <a:rPr kumimoji="1" lang="en-US" altLang="ja-JP" dirty="0" smtClean="0">
                <a:solidFill>
                  <a:schemeClr val="tx1"/>
                </a:solidFill>
                <a:latin typeface="+mn-ea"/>
                <a:ea typeface="+mn-ea"/>
              </a:rPr>
              <a:t> </a:t>
            </a:r>
          </a:p>
          <a:p>
            <a:r>
              <a:rPr kumimoji="1" lang="en-US" altLang="ja-JP" dirty="0" smtClean="0">
                <a:solidFill>
                  <a:schemeClr val="tx1"/>
                </a:solidFill>
                <a:latin typeface="+mn-ea"/>
                <a:ea typeface="+mn-ea"/>
              </a:rPr>
              <a:t>I divide</a:t>
            </a:r>
            <a:r>
              <a:rPr kumimoji="1" lang="en-US" altLang="ja-JP" baseline="0" dirty="0" smtClean="0">
                <a:solidFill>
                  <a:schemeClr val="tx1"/>
                </a:solidFill>
                <a:latin typeface="+mn-ea"/>
                <a:ea typeface="+mn-ea"/>
              </a:rPr>
              <a:t> into 4 categories about these packages, Basic function applications, System applications, Operation applications and Service cooperation applications.</a:t>
            </a:r>
          </a:p>
          <a:p>
            <a:r>
              <a:rPr kumimoji="1" lang="en-US" altLang="ja-JP" sz="1200" kern="1200" dirty="0" smtClean="0">
                <a:solidFill>
                  <a:schemeClr val="tx1"/>
                </a:solidFill>
                <a:latin typeface="+mn-lt"/>
                <a:ea typeface="+mn-ea"/>
                <a:cs typeface="+mn-cs"/>
              </a:rPr>
              <a:t>Especially, Basic function </a:t>
            </a:r>
            <a:r>
              <a:rPr kumimoji="1" lang="ja-JP" altLang="ja-JP" sz="1200" kern="1200" dirty="0" smtClean="0">
                <a:solidFill>
                  <a:schemeClr val="tx1"/>
                </a:solidFill>
                <a:latin typeface="+mn-lt"/>
                <a:ea typeface="+mn-ea"/>
                <a:cs typeface="+mn-cs"/>
              </a:rPr>
              <a:t>application has been defined for each use case.</a:t>
            </a:r>
            <a:endParaRPr kumimoji="1" lang="en-US" altLang="ja-JP" dirty="0" smtClean="0"/>
          </a:p>
          <a:p>
            <a:endParaRPr kumimoji="1" lang="en-US" altLang="ja-JP" dirty="0" smtClean="0"/>
          </a:p>
          <a:p>
            <a:r>
              <a:rPr kumimoji="1" lang="ja-JP" altLang="en-US" dirty="0" smtClean="0"/>
              <a:t>これはアプリケーションレイヤーです。</a:t>
            </a:r>
            <a:endParaRPr kumimoji="1" lang="en-US" altLang="ja-JP" dirty="0" smtClean="0"/>
          </a:p>
          <a:p>
            <a:r>
              <a:rPr kumimoji="1" lang="en-US" altLang="ja-JP" dirty="0" smtClean="0"/>
              <a:t>Application Layer</a:t>
            </a:r>
            <a:r>
              <a:rPr kumimoji="1" lang="ja-JP" altLang="en-US" dirty="0" smtClean="0"/>
              <a:t>は、ユーザーに、アプリケーションサービスとして提供するレイヤとなります。</a:t>
            </a:r>
            <a:endParaRPr kumimoji="1" lang="en-US" altLang="ja-JP" dirty="0" smtClean="0"/>
          </a:p>
          <a:p>
            <a:endParaRPr kumimoji="1" lang="en-US" altLang="ja-JP" dirty="0" smtClean="0"/>
          </a:p>
          <a:p>
            <a:r>
              <a:rPr kumimoji="1" lang="ja-JP" altLang="en-US" dirty="0" smtClean="0"/>
              <a:t>ここに配置されるパッケージは、機能ごとに定義されます。</a:t>
            </a:r>
            <a:endParaRPr kumimoji="1" lang="en-US" altLang="ja-JP" dirty="0" smtClean="0"/>
          </a:p>
          <a:p>
            <a:r>
              <a:rPr kumimoji="1" lang="ja-JP" altLang="en-US" dirty="0" smtClean="0"/>
              <a:t>私たちは、基本機能アプリケーション、システムアプリケーション、操作アプリケーション、サービス連携アプリケーションの</a:t>
            </a:r>
            <a:r>
              <a:rPr kumimoji="1" lang="en-US" altLang="ja-JP" dirty="0" smtClean="0"/>
              <a:t>4</a:t>
            </a:r>
            <a:r>
              <a:rPr kumimoji="1" lang="ja-JP" altLang="en-US" dirty="0" err="1" smtClean="0"/>
              <a:t>つの</a:t>
            </a:r>
            <a:r>
              <a:rPr kumimoji="1" lang="ja-JP" altLang="en-US" dirty="0" smtClean="0"/>
              <a:t>カテゴリーに分けました。</a:t>
            </a:r>
            <a:endParaRPr kumimoji="1" lang="en-US" altLang="ja-JP" dirty="0" smtClean="0"/>
          </a:p>
          <a:p>
            <a:r>
              <a:rPr kumimoji="1" lang="ja-JP" altLang="en-US" dirty="0" smtClean="0"/>
              <a:t>特に、</a:t>
            </a:r>
            <a:r>
              <a:rPr kumimoji="1" lang="en-US" altLang="ja-JP" dirty="0" smtClean="0"/>
              <a:t>Basic function applications</a:t>
            </a:r>
            <a:r>
              <a:rPr kumimoji="1" lang="ja-JP" altLang="en-US" dirty="0" smtClean="0"/>
              <a:t>はユースケースに基づき、分割しています。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6</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ja-JP" sz="1200" b="0" dirty="0" smtClean="0">
                <a:solidFill>
                  <a:schemeClr val="tx1"/>
                </a:solidFill>
                <a:latin typeface="+mn-ea"/>
                <a:ea typeface="+mn-ea"/>
                <a:cs typeface="Meiryo UI" panose="020B0604030504040204" pitchFamily="50" charset="-128"/>
              </a:rPr>
              <a:t>Platform Service</a:t>
            </a: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 Layer provides Platform Service </a:t>
            </a:r>
            <a:r>
              <a:rPr lang="en-US" altLang="ja-JP" sz="1200" b="0" dirty="0" smtClean="0">
                <a:solidFill>
                  <a:schemeClr val="tx1"/>
                </a:solidFill>
                <a:latin typeface="+mn-ea"/>
                <a:ea typeface="+mn-ea"/>
                <a:cs typeface="Meiryo UI" panose="020B0604030504040204" pitchFamily="50" charset="-128"/>
              </a:rPr>
              <a:t>I/F for Application.</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b="0" dirty="0" smtClean="0">
                <a:solidFill>
                  <a:schemeClr val="tx1"/>
                </a:solidFill>
                <a:latin typeface="+mn-ea"/>
                <a:ea typeface="+mn-ea"/>
              </a:rPr>
              <a:t>Platform Service includes</a:t>
            </a:r>
            <a:r>
              <a:rPr kumimoji="1" lang="en-US" altLang="ja-JP" b="0" baseline="0" dirty="0" smtClean="0">
                <a:solidFill>
                  <a:schemeClr val="tx1"/>
                </a:solidFill>
                <a:latin typeface="+mn-ea"/>
                <a:ea typeface="+mn-ea"/>
              </a:rPr>
              <a:t> </a:t>
            </a:r>
            <a:r>
              <a:rPr lang="en-US" altLang="ja-JP" sz="1200" b="0" dirty="0" smtClean="0">
                <a:solidFill>
                  <a:schemeClr val="tx1"/>
                </a:solidFill>
                <a:latin typeface="+mn-ea"/>
                <a:ea typeface="+mn-ea"/>
                <a:cs typeface="Meiryo UI" panose="020B0604030504040204" pitchFamily="50" charset="-128"/>
              </a:rPr>
              <a:t>Communication, Data Access, Device Operation, Image Processing,  Platform System Management, Platform</a:t>
            </a:r>
            <a:r>
              <a:rPr lang="en-US" altLang="ja-JP" sz="1200" b="0" baseline="0" dirty="0" smtClean="0">
                <a:solidFill>
                  <a:schemeClr val="tx1"/>
                </a:solidFill>
                <a:latin typeface="+mn-ea"/>
                <a:ea typeface="+mn-ea"/>
                <a:cs typeface="Meiryo UI" panose="020B0604030504040204" pitchFamily="50" charset="-128"/>
              </a:rPr>
              <a:t> Utility, and User Authentication.</a:t>
            </a:r>
          </a:p>
          <a:p>
            <a:endParaRPr kumimoji="1" lang="en-US" altLang="ja-JP" dirty="0" smtClean="0">
              <a:solidFill>
                <a:schemeClr val="tx1"/>
              </a:solidFill>
              <a:latin typeface="+mn-ea"/>
              <a:ea typeface="+mn-ea"/>
            </a:endParaRPr>
          </a:p>
          <a:p>
            <a:r>
              <a:rPr kumimoji="1" lang="en-US" altLang="ja-JP" dirty="0" smtClean="0"/>
              <a:t>Platform Service Layer</a:t>
            </a:r>
            <a:r>
              <a:rPr kumimoji="1" lang="ja-JP" altLang="en-US" dirty="0" smtClean="0"/>
              <a:t>は、</a:t>
            </a:r>
            <a:r>
              <a:rPr kumimoji="1" lang="en-US" altLang="ja-JP" dirty="0" smtClean="0"/>
              <a:t>Application</a:t>
            </a:r>
            <a:r>
              <a:rPr kumimoji="1" lang="ja-JP" altLang="en-US" dirty="0" smtClean="0"/>
              <a:t>に対して、サービスを提供するレイヤです。</a:t>
            </a:r>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7</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solidFill>
                  <a:schemeClr val="tx1"/>
                </a:solidFill>
                <a:latin typeface="+mn-ea"/>
                <a:ea typeface="+mn-ea"/>
              </a:rPr>
              <a:t>Platform Element Layer provides means to realize platform service,</a:t>
            </a:r>
            <a:r>
              <a:rPr kumimoji="1" lang="en-US" altLang="ja-JP" baseline="0" dirty="0" smtClean="0">
                <a:solidFill>
                  <a:schemeClr val="tx1"/>
                </a:solidFill>
                <a:latin typeface="+mn-ea"/>
                <a:ea typeface="+mn-ea"/>
              </a:rPr>
              <a:t> </a:t>
            </a:r>
            <a:r>
              <a:rPr kumimoji="1" lang="en-US" altLang="ja-JP" dirty="0" smtClean="0">
                <a:solidFill>
                  <a:schemeClr val="tx1"/>
                </a:solidFill>
                <a:latin typeface="+mn-ea"/>
                <a:ea typeface="+mn-ea"/>
              </a:rPr>
              <a:t>and provides I/F for the exterior and accepts external requests.</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b="0" baseline="0" dirty="0" smtClean="0">
              <a:solidFill>
                <a:schemeClr val="tx1"/>
              </a:solidFill>
              <a:latin typeface="+mn-ea"/>
              <a:ea typeface="+mn-ea"/>
              <a:cs typeface="Meiryo UI" panose="020B0604030504040204" pitchFamily="50"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b="0" dirty="0" smtClean="0">
                <a:solidFill>
                  <a:schemeClr val="tx1"/>
                </a:solidFill>
                <a:latin typeface="+mn-ea"/>
                <a:ea typeface="+mn-ea"/>
              </a:rPr>
              <a:t>This</a:t>
            </a:r>
            <a:r>
              <a:rPr kumimoji="1" lang="en-US" altLang="ja-JP" b="0" baseline="0" dirty="0" smtClean="0">
                <a:solidFill>
                  <a:schemeClr val="tx1"/>
                </a:solidFill>
                <a:latin typeface="+mn-ea"/>
                <a:ea typeface="+mn-ea"/>
              </a:rPr>
              <a:t> layer</a:t>
            </a:r>
            <a:r>
              <a:rPr kumimoji="1" lang="en-US" altLang="ja-JP" b="0" dirty="0" smtClean="0">
                <a:solidFill>
                  <a:schemeClr val="tx1"/>
                </a:solidFill>
                <a:latin typeface="+mn-ea"/>
                <a:ea typeface="+mn-ea"/>
              </a:rPr>
              <a:t> includes</a:t>
            </a:r>
            <a:r>
              <a:rPr kumimoji="1" lang="en-US" altLang="ja-JP" b="0" baseline="0" dirty="0" smtClean="0">
                <a:solidFill>
                  <a:schemeClr val="tx1"/>
                </a:solidFill>
                <a:latin typeface="+mn-ea"/>
                <a:ea typeface="+mn-ea"/>
              </a:rPr>
              <a:t> </a:t>
            </a:r>
            <a:r>
              <a:rPr lang="en-US" altLang="ja-JP" sz="1200" b="0" dirty="0" smtClean="0">
                <a:solidFill>
                  <a:schemeClr val="tx1"/>
                </a:solidFill>
                <a:latin typeface="+mn-ea"/>
                <a:ea typeface="+mn-ea"/>
                <a:cs typeface="Meiryo UI" panose="020B0604030504040204" pitchFamily="50" charset="-128"/>
              </a:rPr>
              <a:t>Communication Protocol, Device Control, Rendering,</a:t>
            </a:r>
            <a:r>
              <a:rPr lang="en-US" altLang="ja-JP" sz="1200" b="0" baseline="0" dirty="0" smtClean="0">
                <a:solidFill>
                  <a:schemeClr val="tx1"/>
                </a:solidFill>
                <a:latin typeface="+mn-ea"/>
                <a:ea typeface="+mn-ea"/>
                <a:cs typeface="Meiryo UI" panose="020B0604030504040204" pitchFamily="50" charset="-128"/>
              </a:rPr>
              <a:t> Virtual Device Control, and Platform Process Management.</a:t>
            </a:r>
          </a:p>
          <a:p>
            <a:endParaRPr kumimoji="1" lang="en-US" altLang="ja-JP" dirty="0" smtClean="0">
              <a:latin typeface="+mn-ea"/>
              <a:ea typeface="+mn-ea"/>
            </a:endParaRPr>
          </a:p>
          <a:p>
            <a:r>
              <a:rPr kumimoji="1" lang="en-US" altLang="ja-JP" dirty="0" smtClean="0">
                <a:latin typeface="+mn-ea"/>
                <a:ea typeface="+mn-ea"/>
              </a:rPr>
              <a:t>Platform</a:t>
            </a:r>
            <a:r>
              <a:rPr kumimoji="1" lang="ja-JP" altLang="en-US" baseline="0" dirty="0" smtClean="0">
                <a:latin typeface="+mn-ea"/>
                <a:ea typeface="+mn-ea"/>
              </a:rPr>
              <a:t> </a:t>
            </a:r>
            <a:r>
              <a:rPr kumimoji="1" lang="en-US" altLang="ja-JP" dirty="0" smtClean="0">
                <a:latin typeface="+mn-ea"/>
                <a:ea typeface="+mn-ea"/>
              </a:rPr>
              <a:t>Element Layer</a:t>
            </a:r>
            <a:r>
              <a:rPr kumimoji="1" lang="ja-JP" altLang="en-US" dirty="0" smtClean="0">
                <a:latin typeface="+mn-ea"/>
                <a:ea typeface="+mn-ea"/>
              </a:rPr>
              <a:t>は、プラットフォームサービスを実現する手段を提供するレイヤです。そして、外部向け</a:t>
            </a:r>
            <a:r>
              <a:rPr kumimoji="1" lang="en-US" altLang="ja-JP" dirty="0" smtClean="0">
                <a:latin typeface="+mn-ea"/>
                <a:ea typeface="+mn-ea"/>
              </a:rPr>
              <a:t>I/F</a:t>
            </a:r>
            <a:r>
              <a:rPr kumimoji="1" lang="ja-JP" altLang="en-US" dirty="0" smtClean="0">
                <a:latin typeface="+mn-ea"/>
                <a:ea typeface="+mn-ea"/>
              </a:rPr>
              <a:t>の提供と、外部からの要求受付を行います。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smtClean="0">
                <a:latin typeface="+mn-ea"/>
                <a:ea typeface="+mn-ea"/>
              </a:rPr>
              <a:t>このレイヤには、</a:t>
            </a:r>
            <a:r>
              <a:rPr lang="en-US" altLang="ja-JP" sz="1200" b="0" dirty="0" smtClean="0">
                <a:solidFill>
                  <a:schemeClr val="bg1"/>
                </a:solidFill>
                <a:latin typeface="+mn-ea"/>
                <a:ea typeface="+mn-ea"/>
                <a:cs typeface="Meiryo UI" panose="020B0604030504040204" pitchFamily="50" charset="-128"/>
              </a:rPr>
              <a:t>Communication Protocol, Device Control, Rendering,</a:t>
            </a:r>
            <a:r>
              <a:rPr lang="en-US" altLang="ja-JP" sz="1200" b="0" baseline="0" dirty="0" smtClean="0">
                <a:solidFill>
                  <a:schemeClr val="bg1"/>
                </a:solidFill>
                <a:latin typeface="+mn-ea"/>
                <a:ea typeface="+mn-ea"/>
                <a:cs typeface="Meiryo UI" panose="020B0604030504040204" pitchFamily="50" charset="-128"/>
              </a:rPr>
              <a:t> Virtual Device Control, and Platform Process Management</a:t>
            </a:r>
            <a:r>
              <a:rPr lang="ja-JP" altLang="en-US" sz="1200" b="0" baseline="0" dirty="0" smtClean="0">
                <a:solidFill>
                  <a:schemeClr val="bg1"/>
                </a:solidFill>
                <a:latin typeface="+mn-ea"/>
                <a:ea typeface="+mn-ea"/>
                <a:cs typeface="Meiryo UI" panose="020B0604030504040204" pitchFamily="50" charset="-128"/>
              </a:rPr>
              <a:t>が</a:t>
            </a:r>
            <a:r>
              <a:rPr kumimoji="1" lang="ja-JP" altLang="en-US" sz="1200" b="0" baseline="0" dirty="0" smtClean="0">
                <a:solidFill>
                  <a:schemeClr val="bg1"/>
                </a:solidFill>
                <a:latin typeface="+mn-ea"/>
                <a:ea typeface="+mn-ea"/>
                <a:cs typeface="Meiryo UI" panose="020B0604030504040204" pitchFamily="50" charset="-128"/>
              </a:rPr>
              <a:t>含まれます。</a:t>
            </a:r>
            <a:endParaRPr kumimoji="1" lang="en-US" altLang="ja-JP" dirty="0" smtClean="0">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8</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latin typeface="+mn-ea"/>
                <a:ea typeface="+mn-ea"/>
              </a:rPr>
              <a:t>Platform Middleware Layer limits dependency of upper layers on OS,</a:t>
            </a:r>
            <a:r>
              <a:rPr kumimoji="1" lang="en-US" altLang="ja-JP" baseline="0" dirty="0" smtClean="0">
                <a:latin typeface="+mn-ea"/>
                <a:ea typeface="+mn-ea"/>
              </a:rPr>
              <a:t> and p</a:t>
            </a:r>
            <a:r>
              <a:rPr kumimoji="1" lang="en-US" altLang="ja-JP" dirty="0" smtClean="0">
                <a:latin typeface="+mn-ea"/>
                <a:ea typeface="+mn-ea"/>
              </a:rPr>
              <a:t>rovides the means to operate devices with standard support,</a:t>
            </a:r>
          </a:p>
          <a:p>
            <a:r>
              <a:rPr kumimoji="1" lang="en-US" altLang="ja-JP" dirty="0" smtClean="0">
                <a:latin typeface="+mn-ea"/>
                <a:ea typeface="+mn-ea"/>
              </a:rPr>
              <a:t>And manages and keeps the data necessary to realize functions</a:t>
            </a:r>
            <a:r>
              <a:rPr kumimoji="1" lang="en-US" altLang="ja-JP" baseline="0" dirty="0" smtClean="0">
                <a:latin typeface="+mn-ea"/>
                <a:ea typeface="+mn-ea"/>
              </a:rPr>
              <a:t> </a:t>
            </a:r>
            <a:r>
              <a:rPr kumimoji="1" lang="en-US" altLang="ja-JP" dirty="0" smtClean="0">
                <a:latin typeface="+mn-ea"/>
                <a:ea typeface="+mn-ea"/>
              </a:rPr>
              <a:t>of Product Line Platform, and provides the means to utilize data.</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b="0" baseline="0" dirty="0" smtClean="0">
              <a:solidFill>
                <a:schemeClr val="bg1"/>
              </a:solidFill>
              <a:latin typeface="+mn-ea"/>
              <a:ea typeface="+mn-ea"/>
              <a:cs typeface="Meiryo UI" panose="020B0604030504040204" pitchFamily="50"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b="0" dirty="0" smtClean="0">
                <a:latin typeface="+mn-ea"/>
                <a:ea typeface="+mn-ea"/>
              </a:rPr>
              <a:t>This layer includes</a:t>
            </a:r>
            <a:r>
              <a:rPr kumimoji="1" lang="en-US" altLang="ja-JP" b="0" baseline="0" dirty="0" smtClean="0">
                <a:latin typeface="+mn-ea"/>
                <a:ea typeface="+mn-ea"/>
              </a:rPr>
              <a:t> OS Library, Base Mechanism, Platform Entity, Database, Device Unit, Protocol Server, Rendering Unit, GICL, and Utility</a:t>
            </a:r>
            <a:r>
              <a:rPr lang="en-US" altLang="ja-JP" sz="1200" b="0" baseline="0" dirty="0" smtClean="0">
                <a:solidFill>
                  <a:schemeClr val="bg1"/>
                </a:solidFill>
                <a:latin typeface="+mn-ea"/>
                <a:ea typeface="+mn-ea"/>
                <a:cs typeface="Meiryo UI" panose="020B0604030504040204" pitchFamily="50" charset="-128"/>
              </a:rPr>
              <a:t>.</a:t>
            </a:r>
          </a:p>
          <a:p>
            <a:endParaRPr kumimoji="1" lang="en-US" altLang="ja-JP" dirty="0" smtClean="0">
              <a:latin typeface="+mn-ea"/>
              <a:ea typeface="+mn-ea"/>
            </a:endParaRPr>
          </a:p>
          <a:p>
            <a:endParaRPr kumimoji="1" lang="en-US" altLang="ja-JP" dirty="0" smtClean="0">
              <a:latin typeface="+mn-ea"/>
              <a:ea typeface="+mn-ea"/>
            </a:endParaRPr>
          </a:p>
          <a:p>
            <a:r>
              <a:rPr kumimoji="1" lang="en-US" altLang="ja-JP" dirty="0" smtClean="0">
                <a:latin typeface="+mn-ea"/>
                <a:ea typeface="+mn-ea"/>
              </a:rPr>
              <a:t>Platform Middleware</a:t>
            </a:r>
            <a:r>
              <a:rPr kumimoji="1" lang="ja-JP" altLang="en-US" dirty="0" smtClean="0">
                <a:latin typeface="+mn-ea"/>
                <a:ea typeface="+mn-ea"/>
              </a:rPr>
              <a:t>レイヤ</a:t>
            </a:r>
            <a:r>
              <a:rPr kumimoji="1" lang="ja-JP" altLang="en-US" sz="1200" kern="1200" dirty="0" smtClean="0">
                <a:solidFill>
                  <a:schemeClr val="tx1"/>
                </a:solidFill>
                <a:effectLst/>
                <a:latin typeface="+mn-ea"/>
                <a:ea typeface="+mn-ea"/>
                <a:cs typeface="+mn-cs"/>
              </a:rPr>
              <a:t>は、</a:t>
            </a:r>
            <a:r>
              <a:rPr kumimoji="1" lang="ja-JP" altLang="ja-JP" sz="1200" kern="1200" dirty="0" smtClean="0">
                <a:solidFill>
                  <a:schemeClr val="tx1"/>
                </a:solidFill>
                <a:effectLst/>
                <a:latin typeface="+mn-ea"/>
                <a:ea typeface="+mn-ea"/>
                <a:cs typeface="+mn-cs"/>
              </a:rPr>
              <a:t>上位層と</a:t>
            </a:r>
            <a:r>
              <a:rPr kumimoji="1" lang="en-US" altLang="ja-JP" sz="1200" kern="1200" dirty="0" smtClean="0">
                <a:solidFill>
                  <a:schemeClr val="tx1"/>
                </a:solidFill>
                <a:effectLst/>
                <a:latin typeface="+mn-ea"/>
                <a:ea typeface="+mn-ea"/>
                <a:cs typeface="+mn-cs"/>
              </a:rPr>
              <a:t>OS</a:t>
            </a:r>
            <a:r>
              <a:rPr kumimoji="1" lang="ja-JP" altLang="ja-JP" sz="1200" kern="1200" dirty="0" smtClean="0">
                <a:solidFill>
                  <a:schemeClr val="tx1"/>
                </a:solidFill>
                <a:effectLst/>
                <a:latin typeface="+mn-ea"/>
                <a:ea typeface="+mn-ea"/>
                <a:cs typeface="+mn-cs"/>
              </a:rPr>
              <a:t>との依存関係を分離</a:t>
            </a:r>
            <a:r>
              <a:rPr kumimoji="1" lang="ja-JP" altLang="en-US" sz="1200" kern="1200" dirty="0" smtClean="0">
                <a:solidFill>
                  <a:schemeClr val="tx1"/>
                </a:solidFill>
                <a:effectLst/>
                <a:latin typeface="+mn-ea"/>
                <a:ea typeface="+mn-ea"/>
                <a:cs typeface="+mn-cs"/>
              </a:rPr>
              <a:t>する、</a:t>
            </a:r>
            <a:r>
              <a:rPr kumimoji="1" lang="ja-JP" altLang="ja-JP" sz="1200" kern="1200" dirty="0" smtClean="0">
                <a:solidFill>
                  <a:schemeClr val="tx1"/>
                </a:solidFill>
                <a:effectLst/>
                <a:latin typeface="+mn-ea"/>
                <a:ea typeface="+mn-ea"/>
                <a:cs typeface="+mn-cs"/>
              </a:rPr>
              <a:t>標準サポートするデバイスを操作する手段を提供する</a:t>
            </a:r>
            <a:r>
              <a:rPr kumimoji="1" lang="ja-JP" altLang="en-US" sz="1200" kern="1200" dirty="0" smtClean="0">
                <a:solidFill>
                  <a:schemeClr val="tx1"/>
                </a:solidFill>
                <a:effectLst/>
                <a:latin typeface="+mn-ea"/>
                <a:ea typeface="+mn-ea"/>
                <a:cs typeface="+mn-cs"/>
              </a:rPr>
              <a:t>、</a:t>
            </a:r>
            <a:endParaRPr kumimoji="1" lang="ja-JP" altLang="ja-JP" sz="1200" kern="1200" dirty="0" smtClean="0">
              <a:solidFill>
                <a:schemeClr val="tx1"/>
              </a:solidFill>
              <a:effectLst/>
              <a:latin typeface="+mn-ea"/>
              <a:ea typeface="+mn-ea"/>
              <a:cs typeface="+mn-cs"/>
            </a:endParaRPr>
          </a:p>
          <a:p>
            <a:r>
              <a:rPr kumimoji="1" lang="ja-JP" altLang="ja-JP" sz="1200" kern="1200" dirty="0" smtClean="0">
                <a:solidFill>
                  <a:schemeClr val="tx1"/>
                </a:solidFill>
                <a:effectLst/>
                <a:latin typeface="+mn-ea"/>
                <a:ea typeface="+mn-ea"/>
                <a:cs typeface="+mn-cs"/>
              </a:rPr>
              <a:t>プロダクトラインプラットフォームの機能を実現するために必要なデータを管理・保持し、そのデータを操作する手段を提供する</a:t>
            </a:r>
            <a:r>
              <a:rPr kumimoji="1" lang="ja-JP" altLang="en-US" sz="1200" kern="1200" dirty="0" smtClean="0">
                <a:solidFill>
                  <a:schemeClr val="tx1"/>
                </a:solidFill>
                <a:effectLst/>
                <a:latin typeface="+mn-ea"/>
                <a:ea typeface="+mn-ea"/>
                <a:cs typeface="+mn-cs"/>
              </a:rPr>
              <a:t>ことを行います。</a:t>
            </a:r>
            <a:endParaRPr kumimoji="1" lang="en-US" altLang="ja-JP" dirty="0" smtClean="0">
              <a:latin typeface="+mn-ea"/>
              <a:ea typeface="+mn-ea"/>
            </a:endParaRPr>
          </a:p>
          <a:p>
            <a:endParaRPr kumimoji="1" lang="en-US" altLang="ja-JP" dirty="0" smtClean="0">
              <a:latin typeface="+mn-ea"/>
              <a:ea typeface="+mn-ea"/>
            </a:endParaRPr>
          </a:p>
          <a:p>
            <a:r>
              <a:rPr kumimoji="1" lang="ja-JP" altLang="en-US" dirty="0" smtClean="0">
                <a:latin typeface="+mn-ea"/>
                <a:ea typeface="+mn-ea"/>
              </a:rPr>
              <a:t>このレイヤには、</a:t>
            </a:r>
            <a:r>
              <a:rPr kumimoji="1" lang="en-US" altLang="ja-JP" b="0" baseline="0" dirty="0" smtClean="0">
                <a:latin typeface="+mn-ea"/>
                <a:ea typeface="+mn-ea"/>
              </a:rPr>
              <a:t>OS Library, Base Mechanism, Platform Entity, Database, Device Unit, Protocol Server, Rendering Unit, GICL, and Utility</a:t>
            </a:r>
            <a:r>
              <a:rPr kumimoji="1" lang="ja-JP" altLang="en-US" b="0" baseline="0" dirty="0" smtClean="0">
                <a:latin typeface="+mn-ea"/>
                <a:ea typeface="+mn-ea"/>
              </a:rPr>
              <a:t>パッケージを含んでいます。</a:t>
            </a:r>
            <a:endParaRPr kumimoji="1" lang="en-US" altLang="ja-JP" dirty="0" smtClean="0">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9</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dirty="0" smtClean="0">
                <a:latin typeface="+mn-ea"/>
                <a:ea typeface="+mn-ea"/>
              </a:rPr>
              <a:t>This is process configuration in WiseCore4S.</a:t>
            </a:r>
          </a:p>
          <a:p>
            <a:r>
              <a:rPr kumimoji="1" lang="en-US" altLang="ja-JP" dirty="0" smtClean="0">
                <a:latin typeface="+mn-ea"/>
                <a:ea typeface="+mn-ea"/>
              </a:rPr>
              <a:t>Processes in Standard Application are independent process for</a:t>
            </a:r>
            <a:r>
              <a:rPr kumimoji="1" lang="en-US" altLang="ja-JP" baseline="0" dirty="0" smtClean="0">
                <a:latin typeface="+mn-ea"/>
                <a:ea typeface="+mn-ea"/>
              </a:rPr>
              <a:t> each function.</a:t>
            </a:r>
            <a:r>
              <a:rPr kumimoji="1" lang="en-US" altLang="ja-JP" dirty="0" smtClean="0">
                <a:latin typeface="+mn-ea"/>
                <a:ea typeface="+mn-ea"/>
              </a:rPr>
              <a:t> </a:t>
            </a:r>
          </a:p>
          <a:p>
            <a:r>
              <a:rPr kumimoji="1" lang="en-US" altLang="ja-JP" dirty="0" smtClean="0">
                <a:latin typeface="+mn-ea"/>
                <a:ea typeface="+mn-ea"/>
              </a:rPr>
              <a:t>Process in</a:t>
            </a:r>
            <a:r>
              <a:rPr kumimoji="1" lang="en-US" altLang="ja-JP" baseline="0" dirty="0" smtClean="0">
                <a:latin typeface="+mn-ea"/>
                <a:ea typeface="+mn-ea"/>
              </a:rPr>
              <a:t> Product Line Platform is not changed from WiseCore3.</a:t>
            </a:r>
            <a:endParaRPr kumimoji="1" lang="en-US" altLang="ja-JP" dirty="0" smtClean="0">
              <a:latin typeface="+mn-ea"/>
              <a:ea typeface="+mn-ea"/>
            </a:endParaRPr>
          </a:p>
          <a:p>
            <a:r>
              <a:rPr kumimoji="1" lang="en-US" altLang="ja-JP" dirty="0" smtClean="0">
                <a:latin typeface="+mn-ea"/>
                <a:ea typeface="+mn-ea"/>
              </a:rPr>
              <a:t>Process in Extension Service Platform has two</a:t>
            </a:r>
            <a:r>
              <a:rPr kumimoji="1" lang="en-US" altLang="ja-JP" baseline="0" dirty="0" smtClean="0">
                <a:latin typeface="+mn-ea"/>
                <a:ea typeface="+mn-ea"/>
              </a:rPr>
              <a:t> processes</a:t>
            </a:r>
            <a:r>
              <a:rPr kumimoji="1" lang="ja-JP" altLang="en-US" baseline="0" dirty="0" smtClean="0">
                <a:latin typeface="+mn-ea"/>
                <a:ea typeface="+mn-ea"/>
              </a:rPr>
              <a:t> </a:t>
            </a:r>
            <a:r>
              <a:rPr kumimoji="1" lang="en-US" altLang="ja-JP" baseline="0" dirty="0" smtClean="0">
                <a:latin typeface="+mn-ea"/>
                <a:ea typeface="+mn-ea"/>
              </a:rPr>
              <a:t>as standard.</a:t>
            </a:r>
          </a:p>
          <a:p>
            <a:endParaRPr kumimoji="1" lang="en-US" altLang="ja-JP" dirty="0" smtClean="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dirty="0" smtClean="0">
                <a:solidFill>
                  <a:schemeClr val="tx1"/>
                </a:solidFill>
              </a:rPr>
              <a:t>Next</a:t>
            </a:r>
            <a:r>
              <a:rPr kumimoji="1" lang="en-US" altLang="ja-JP" baseline="0" dirty="0" smtClean="0">
                <a:solidFill>
                  <a:schemeClr val="tx1"/>
                </a:solidFill>
              </a:rPr>
              <a:t>, I explain about policy</a:t>
            </a:r>
            <a:r>
              <a:rPr kumimoji="1" lang="en-US" altLang="ja-JP" sz="1200" kern="1200" dirty="0" smtClean="0">
                <a:solidFill>
                  <a:schemeClr val="tx1"/>
                </a:solidFill>
                <a:latin typeface="+mn-lt"/>
                <a:ea typeface="+mn-ea"/>
                <a:cs typeface="+mn-cs"/>
              </a:rPr>
              <a:t> of how to divide processes.</a:t>
            </a:r>
            <a:endParaRPr kumimoji="1" lang="en-US" altLang="ja-JP" baseline="0" dirty="0" smtClean="0">
              <a:solidFill>
                <a:schemeClr val="tx1"/>
              </a:solidFill>
            </a:endParaRPr>
          </a:p>
          <a:p>
            <a:endParaRPr kumimoji="1" lang="en-US" altLang="ja-JP" dirty="0" smtClean="0">
              <a:latin typeface="+mn-ea"/>
              <a:ea typeface="+mn-ea"/>
            </a:endParaRPr>
          </a:p>
          <a:p>
            <a:endParaRPr kumimoji="1" lang="en-US" altLang="ja-JP" dirty="0" smtClean="0">
              <a:latin typeface="+mn-ea"/>
              <a:ea typeface="+mn-ea"/>
            </a:endParaRPr>
          </a:p>
          <a:p>
            <a:r>
              <a:rPr kumimoji="1" lang="ja-JP" altLang="en-US" dirty="0" smtClean="0">
                <a:latin typeface="+mn-ea"/>
                <a:ea typeface="+mn-ea"/>
              </a:rPr>
              <a:t>プロセス構成について説明します。</a:t>
            </a:r>
            <a:endParaRPr kumimoji="1" lang="en-US" altLang="ja-JP" dirty="0" smtClean="0">
              <a:latin typeface="+mn-ea"/>
              <a:ea typeface="+mn-ea"/>
            </a:endParaRPr>
          </a:p>
          <a:p>
            <a:r>
              <a:rPr kumimoji="1" lang="en-US" altLang="ja-JP" dirty="0" smtClean="0">
                <a:latin typeface="+mn-ea"/>
                <a:ea typeface="+mn-ea"/>
              </a:rPr>
              <a:t>Standard Applications</a:t>
            </a:r>
            <a:r>
              <a:rPr kumimoji="1" lang="ja-JP" altLang="en-US" dirty="0" smtClean="0">
                <a:latin typeface="+mn-ea"/>
                <a:ea typeface="+mn-ea"/>
              </a:rPr>
              <a:t>のプロセス構成は、機能毎に独立したプロセス構成となります。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Product Line Platform</a:t>
            </a:r>
            <a:r>
              <a:rPr kumimoji="1" lang="ja-JP" altLang="en-US" dirty="0" smtClean="0">
                <a:latin typeface="+mn-ea"/>
                <a:ea typeface="+mn-ea"/>
              </a:rPr>
              <a:t>のプロセス構成は、</a:t>
            </a:r>
            <a:r>
              <a:rPr kumimoji="1" lang="en-US" altLang="ja-JP" dirty="0" smtClean="0">
                <a:latin typeface="+mn-ea"/>
                <a:ea typeface="+mn-ea"/>
              </a:rPr>
              <a:t>WiseCore3</a:t>
            </a:r>
            <a:r>
              <a:rPr kumimoji="1" lang="ja-JP" altLang="en-US" dirty="0" smtClean="0">
                <a:latin typeface="+mn-ea"/>
                <a:ea typeface="+mn-ea"/>
              </a:rPr>
              <a:t>と変更はありません。</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Extension Service Platform</a:t>
            </a:r>
            <a:r>
              <a:rPr kumimoji="1" lang="ja-JP" altLang="en-US" dirty="0" smtClean="0">
                <a:latin typeface="+mn-ea"/>
                <a:ea typeface="+mn-ea"/>
              </a:rPr>
              <a:t>は、</a:t>
            </a:r>
            <a:r>
              <a:rPr kumimoji="1" lang="en-US" altLang="ja-JP" dirty="0" smtClean="0">
                <a:latin typeface="+mn-ea"/>
                <a:ea typeface="+mn-ea"/>
              </a:rPr>
              <a:t>2</a:t>
            </a:r>
            <a:r>
              <a:rPr kumimoji="1" lang="ja-JP" altLang="en-US" dirty="0" err="1" smtClean="0">
                <a:latin typeface="+mn-ea"/>
                <a:ea typeface="+mn-ea"/>
              </a:rPr>
              <a:t>つの</a:t>
            </a:r>
            <a:r>
              <a:rPr kumimoji="1" lang="ja-JP" altLang="en-US" dirty="0" smtClean="0">
                <a:latin typeface="+mn-ea"/>
                <a:ea typeface="+mn-ea"/>
              </a:rPr>
              <a:t>プロセスを標準で備えます。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r>
              <a:rPr kumimoji="1" lang="ja-JP" altLang="en-US" dirty="0" smtClean="0">
                <a:latin typeface="+mn-ea"/>
                <a:ea typeface="+mn-ea"/>
              </a:rPr>
              <a:t>次にプロセス分けの基準について説明します。</a:t>
            </a:r>
            <a:endParaRPr kumimoji="1" lang="en-US" altLang="ja-JP" dirty="0" smtClean="0">
              <a:latin typeface="+mn-ea"/>
              <a:ea typeface="+mn-ea"/>
            </a:endParaRPr>
          </a:p>
          <a:p>
            <a:pPr algn="l"/>
            <a:endParaRPr kumimoji="1" lang="ja-JP" altLang="en-US" sz="1000" b="0" i="0"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10</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baseline="0" dirty="0" smtClean="0">
                <a:solidFill>
                  <a:schemeClr val="tx1"/>
                </a:solidFill>
              </a:rPr>
              <a:t>This is policy</a:t>
            </a:r>
            <a:r>
              <a:rPr kumimoji="1" lang="en-US" altLang="ja-JP" sz="1200" kern="1200" dirty="0" smtClean="0">
                <a:solidFill>
                  <a:schemeClr val="tx1"/>
                </a:solidFill>
                <a:latin typeface="+mn-lt"/>
                <a:ea typeface="+mn-ea"/>
                <a:cs typeface="+mn-cs"/>
              </a:rPr>
              <a:t> of how to divide processes.</a:t>
            </a:r>
          </a:p>
          <a:p>
            <a:endParaRPr kumimoji="1" lang="en-US" altLang="ja-JP" sz="1200" b="0" kern="1200" dirty="0" smtClean="0">
              <a:solidFill>
                <a:schemeClr val="tx1"/>
              </a:solidFill>
              <a:latin typeface="+mn-lt"/>
              <a:ea typeface="+mn-ea"/>
              <a:cs typeface="+mn-cs"/>
            </a:endParaRPr>
          </a:p>
          <a:p>
            <a:r>
              <a:rPr kumimoji="1" lang="en-US" altLang="ja-JP" sz="1200" b="0" kern="1200" dirty="0" smtClean="0">
                <a:solidFill>
                  <a:schemeClr val="tx1"/>
                </a:solidFill>
                <a:latin typeface="+mn-lt"/>
                <a:ea typeface="+mn-ea"/>
                <a:cs typeface="+mn-cs"/>
              </a:rPr>
              <a:t>Policy includes Feature</a:t>
            </a:r>
            <a:r>
              <a:rPr kumimoji="1" lang="en-US" altLang="ja-JP" sz="1200" b="0" kern="1200" baseline="0" dirty="0" smtClean="0">
                <a:solidFill>
                  <a:schemeClr val="tx1"/>
                </a:solidFill>
                <a:latin typeface="+mn-lt"/>
                <a:ea typeface="+mn-ea"/>
                <a:cs typeface="+mn-cs"/>
              </a:rPr>
              <a:t> extensibility, Fault tolerance, Concurrency, Independency and Responsiveness.</a:t>
            </a:r>
            <a:endParaRPr kumimoji="1" lang="en-US" altLang="ja-JP" sz="1200" b="0" kern="1200" dirty="0" smtClean="0">
              <a:solidFill>
                <a:schemeClr val="tx1"/>
              </a:solidFill>
              <a:latin typeface="+mn-lt"/>
              <a:ea typeface="+mn-ea"/>
              <a:cs typeface="+mn-cs"/>
            </a:endParaRPr>
          </a:p>
          <a:p>
            <a:r>
              <a:rPr kumimoji="1" lang="en-US" altLang="ja-JP" sz="1200" b="0" kern="1200" dirty="0" smtClean="0">
                <a:solidFill>
                  <a:schemeClr val="tx1"/>
                </a:solidFill>
                <a:latin typeface="+mn-lt"/>
                <a:ea typeface="+mn-ea"/>
                <a:cs typeface="+mn-cs"/>
              </a:rPr>
              <a:t>These items have</a:t>
            </a:r>
            <a:r>
              <a:rPr kumimoji="1" lang="en-US" altLang="ja-JP" sz="1200" b="0" kern="1200" baseline="0" dirty="0" smtClean="0">
                <a:solidFill>
                  <a:schemeClr val="tx1"/>
                </a:solidFill>
                <a:latin typeface="+mn-lt"/>
                <a:ea typeface="+mn-ea"/>
                <a:cs typeface="+mn-cs"/>
              </a:rPr>
              <a:t> the priority</a:t>
            </a:r>
            <a:r>
              <a:rPr kumimoji="1" lang="ja-JP" altLang="en-US" sz="1200" b="0" kern="1200" baseline="0" dirty="0" smtClean="0">
                <a:solidFill>
                  <a:schemeClr val="tx1"/>
                </a:solidFill>
                <a:latin typeface="+mn-lt"/>
                <a:ea typeface="+mn-ea"/>
                <a:cs typeface="+mn-cs"/>
              </a:rPr>
              <a:t> </a:t>
            </a:r>
            <a:r>
              <a:rPr kumimoji="1" lang="en-US" altLang="ja-JP" sz="1200" b="0" kern="1200" baseline="0" dirty="0" smtClean="0">
                <a:solidFill>
                  <a:schemeClr val="tx1"/>
                </a:solidFill>
                <a:latin typeface="+mn-lt"/>
                <a:ea typeface="+mn-ea"/>
                <a:cs typeface="+mn-cs"/>
              </a:rPr>
              <a:t>and Feature extensibility has the highest priority.</a:t>
            </a:r>
          </a:p>
          <a:p>
            <a:endParaRPr kumimoji="1" lang="en-US" altLang="ja-JP" sz="1200" b="0" kern="1200" baseline="0" dirty="0" smtClean="0">
              <a:solidFill>
                <a:schemeClr val="tx1"/>
              </a:solidFill>
              <a:latin typeface="+mn-lt"/>
              <a:ea typeface="+mn-ea"/>
              <a:cs typeface="+mn-cs"/>
            </a:endParaRPr>
          </a:p>
          <a:p>
            <a:r>
              <a:rPr kumimoji="1" lang="ja-JP" altLang="en-US" sz="1200" b="0" kern="1200" baseline="0" dirty="0" smtClean="0">
                <a:solidFill>
                  <a:schemeClr val="tx1"/>
                </a:solidFill>
                <a:latin typeface="+mn-lt"/>
                <a:ea typeface="+mn-ea"/>
                <a:cs typeface="+mn-cs"/>
              </a:rPr>
              <a:t>これはプロセス分割のための基準です。基準は機能拡張性、耐障害性、並行性、独立性、応答性を含んでいます。</a:t>
            </a:r>
            <a:endParaRPr kumimoji="1" lang="en-US" altLang="ja-JP" sz="1200" b="0" kern="1200" baseline="0" dirty="0" smtClean="0">
              <a:solidFill>
                <a:schemeClr val="tx1"/>
              </a:solidFill>
              <a:latin typeface="+mn-lt"/>
              <a:ea typeface="+mn-ea"/>
              <a:cs typeface="+mn-cs"/>
            </a:endParaRPr>
          </a:p>
          <a:p>
            <a:r>
              <a:rPr kumimoji="1" lang="ja-JP" altLang="en-US" sz="1200" b="0" kern="1200" baseline="0" dirty="0" smtClean="0">
                <a:solidFill>
                  <a:schemeClr val="tx1"/>
                </a:solidFill>
                <a:latin typeface="+mn-lt"/>
                <a:ea typeface="+mn-ea"/>
                <a:cs typeface="+mn-cs"/>
              </a:rPr>
              <a:t>これらの項目は優先度を持っており、機能拡張性が最も優先度が高いです。</a:t>
            </a:r>
            <a:endParaRPr kumimoji="1" lang="en-US" altLang="ja-JP" sz="1200" b="0" kern="1200" dirty="0" smtClean="0">
              <a:solidFill>
                <a:schemeClr val="tx1"/>
              </a:solidFill>
              <a:latin typeface="+mn-lt"/>
              <a:ea typeface="+mn-ea"/>
              <a:cs typeface="+mn-cs"/>
            </a:endParaRPr>
          </a:p>
          <a:p>
            <a:endParaRPr kumimoji="1" lang="en-US" altLang="ja-JP" sz="1200" b="1" kern="1200" dirty="0" smtClean="0">
              <a:solidFill>
                <a:schemeClr val="tx1"/>
              </a:solidFill>
              <a:latin typeface="+mn-lt"/>
              <a:ea typeface="+mn-ea"/>
              <a:cs typeface="+mn-cs"/>
            </a:endParaRPr>
          </a:p>
          <a:p>
            <a:endParaRPr kumimoji="1" lang="en-US" altLang="ja-JP" sz="1200" b="1" kern="1200" dirty="0" smtClean="0">
              <a:solidFill>
                <a:schemeClr val="tx1"/>
              </a:solidFill>
              <a:latin typeface="+mn-lt"/>
              <a:ea typeface="+mn-ea"/>
              <a:cs typeface="+mn-cs"/>
            </a:endParaRPr>
          </a:p>
          <a:p>
            <a:endParaRPr kumimoji="1" lang="en-US" altLang="ja-JP" sz="1200" b="1" kern="1200" dirty="0" smtClean="0">
              <a:solidFill>
                <a:schemeClr val="tx1"/>
              </a:solidFill>
              <a:latin typeface="+mn-lt"/>
              <a:ea typeface="+mn-ea"/>
              <a:cs typeface="+mn-cs"/>
            </a:endParaRPr>
          </a:p>
          <a:p>
            <a:endParaRPr kumimoji="1" lang="en-US" altLang="ja-JP" sz="1200" b="1" kern="1200" dirty="0" smtClean="0">
              <a:solidFill>
                <a:schemeClr val="tx1"/>
              </a:solidFill>
              <a:latin typeface="+mn-lt"/>
              <a:ea typeface="+mn-ea"/>
              <a:cs typeface="+mn-cs"/>
            </a:endParaRPr>
          </a:p>
          <a:p>
            <a:r>
              <a:rPr kumimoji="1" lang="ja-JP" altLang="ja-JP" sz="1200" b="1" kern="1200" dirty="0" smtClean="0">
                <a:solidFill>
                  <a:schemeClr val="tx1"/>
                </a:solidFill>
                <a:latin typeface="+mn-lt"/>
                <a:ea typeface="+mn-ea"/>
                <a:cs typeface="+mn-cs"/>
              </a:rPr>
              <a:t>優先度</a:t>
            </a:r>
            <a:r>
              <a:rPr kumimoji="1" lang="en-US" altLang="ja-JP" sz="1200" b="1" kern="1200" baseline="0" dirty="0" smtClean="0">
                <a:solidFill>
                  <a:schemeClr val="tx1"/>
                </a:solidFill>
                <a:latin typeface="+mn-lt"/>
                <a:ea typeface="+mn-ea"/>
                <a:cs typeface="+mn-cs"/>
              </a:rPr>
              <a:t> </a:t>
            </a:r>
            <a:r>
              <a:rPr kumimoji="1" lang="ja-JP" altLang="ja-JP" sz="1200" b="1" kern="1200" dirty="0" smtClean="0">
                <a:solidFill>
                  <a:schemeClr val="tx1"/>
                </a:solidFill>
                <a:latin typeface="+mn-lt"/>
                <a:ea typeface="+mn-ea"/>
                <a:cs typeface="+mn-cs"/>
              </a:rPr>
              <a:t>項目</a:t>
            </a:r>
            <a:r>
              <a:rPr kumimoji="1" lang="en-US" altLang="ja-JP" sz="1200" b="1" kern="1200" baseline="0" dirty="0" smtClean="0">
                <a:solidFill>
                  <a:schemeClr val="tx1"/>
                </a:solidFill>
                <a:latin typeface="+mn-lt"/>
                <a:ea typeface="+mn-ea"/>
                <a:cs typeface="+mn-cs"/>
              </a:rPr>
              <a:t> </a:t>
            </a:r>
            <a:r>
              <a:rPr kumimoji="1" lang="ja-JP" altLang="ja-JP" sz="1200" b="1" kern="1200" dirty="0" smtClean="0">
                <a:solidFill>
                  <a:schemeClr val="tx1"/>
                </a:solidFill>
                <a:latin typeface="+mn-lt"/>
                <a:ea typeface="+mn-ea"/>
                <a:cs typeface="+mn-cs"/>
              </a:rPr>
              <a:t>内容</a:t>
            </a:r>
          </a:p>
          <a:p>
            <a:r>
              <a:rPr kumimoji="1" lang="en-US" altLang="ja-JP" sz="1200" kern="1200" dirty="0" smtClean="0">
                <a:solidFill>
                  <a:schemeClr val="tx1"/>
                </a:solidFill>
                <a:latin typeface="+mn-lt"/>
                <a:ea typeface="+mn-ea"/>
                <a:cs typeface="+mn-cs"/>
              </a:rPr>
              <a:t>1</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機能拡張性</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他のアプリケーションの影響を受けることなく、機能拡張可能なプロセス構成が必要です。</a:t>
            </a:r>
          </a:p>
          <a:p>
            <a:r>
              <a:rPr kumimoji="1" lang="en-US" altLang="ja-JP" sz="1200" kern="1200" dirty="0" smtClean="0">
                <a:solidFill>
                  <a:schemeClr val="tx1"/>
                </a:solidFill>
                <a:latin typeface="+mn-lt"/>
                <a:ea typeface="+mn-ea"/>
                <a:cs typeface="+mn-cs"/>
              </a:rPr>
              <a:t>2</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耐障害性</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障害発生時においても、エラー表示など、システムとして最低限の機能を提供するため、堅牢な管理プロセスが必要です。</a:t>
            </a:r>
          </a:p>
          <a:p>
            <a:r>
              <a:rPr kumimoji="1" lang="ja-JP" altLang="ja-JP" sz="1200" kern="1200" dirty="0" smtClean="0">
                <a:solidFill>
                  <a:schemeClr val="tx1"/>
                </a:solidFill>
                <a:latin typeface="+mn-lt"/>
                <a:ea typeface="+mn-ea"/>
                <a:cs typeface="+mn-cs"/>
              </a:rPr>
              <a:t>プロセスメカニズムのメモリ保護機能を利用して問題発生箇所を特定します。特に外部プログラムに関して、切分けを明確にする事が重要です。</a:t>
            </a:r>
          </a:p>
          <a:p>
            <a:r>
              <a:rPr kumimoji="1" lang="ja-JP" altLang="ja-JP" sz="1200" kern="1200" dirty="0" smtClean="0">
                <a:solidFill>
                  <a:schemeClr val="tx1"/>
                </a:solidFill>
                <a:latin typeface="+mn-lt"/>
                <a:ea typeface="+mn-ea"/>
                <a:cs typeface="+mn-cs"/>
              </a:rPr>
              <a:t>ある機能に障害が発生しても、その他の機能に影響を与えない構成にすることが重要です。</a:t>
            </a:r>
          </a:p>
          <a:p>
            <a:r>
              <a:rPr kumimoji="1" lang="en-US" altLang="ja-JP" sz="1200" kern="1200" dirty="0" smtClean="0">
                <a:solidFill>
                  <a:schemeClr val="tx1"/>
                </a:solidFill>
                <a:latin typeface="+mn-lt"/>
                <a:ea typeface="+mn-ea"/>
                <a:cs typeface="+mn-cs"/>
              </a:rPr>
              <a:t>3</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並行性</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役割別にプロセスを独立させることにより、複数プロセスの並行した処理を実現することが必要です。</a:t>
            </a:r>
          </a:p>
          <a:p>
            <a:r>
              <a:rPr kumimoji="1" lang="en-US" altLang="ja-JP" sz="1200" kern="1200" dirty="0" smtClean="0">
                <a:solidFill>
                  <a:schemeClr val="tx1"/>
                </a:solidFill>
                <a:latin typeface="+mn-lt"/>
                <a:ea typeface="+mn-ea"/>
                <a:cs typeface="+mn-cs"/>
              </a:rPr>
              <a:t>4</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独立性</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コンポーネント間の結合度を考慮し結合度の低い部分で分割する事によりプロセスの独立性を考慮します。</a:t>
            </a:r>
          </a:p>
          <a:p>
            <a:r>
              <a:rPr kumimoji="1" lang="en-US" altLang="ja-JP" sz="1200" kern="1200" dirty="0" smtClean="0">
                <a:solidFill>
                  <a:schemeClr val="tx1"/>
                </a:solidFill>
                <a:latin typeface="+mn-lt"/>
                <a:ea typeface="+mn-ea"/>
                <a:cs typeface="+mn-cs"/>
              </a:rPr>
              <a:t>5</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応答性</a:t>
            </a:r>
            <a:r>
              <a:rPr kumimoji="1" lang="en-US" altLang="ja-JP" sz="1200" kern="1200" baseline="0" dirty="0" smtClean="0">
                <a:solidFill>
                  <a:schemeClr val="tx1"/>
                </a:solidFill>
                <a:latin typeface="+mn-lt"/>
                <a:ea typeface="+mn-ea"/>
                <a:cs typeface="+mn-cs"/>
              </a:rPr>
              <a:t> </a:t>
            </a:r>
            <a:r>
              <a:rPr kumimoji="1" lang="en-US" altLang="ja-JP" sz="1200" kern="1200" dirty="0" smtClean="0">
                <a:solidFill>
                  <a:schemeClr val="tx1"/>
                </a:solidFill>
                <a:latin typeface="+mn-lt"/>
                <a:ea typeface="+mn-ea"/>
                <a:cs typeface="+mn-cs"/>
              </a:rPr>
              <a:t>(</a:t>
            </a:r>
            <a:r>
              <a:rPr kumimoji="1" lang="ja-JP" altLang="ja-JP" sz="1200" kern="1200" dirty="0" smtClean="0">
                <a:solidFill>
                  <a:schemeClr val="tx1"/>
                </a:solidFill>
                <a:latin typeface="+mn-lt"/>
                <a:ea typeface="+mn-ea"/>
                <a:cs typeface="+mn-cs"/>
              </a:rPr>
              <a:t>パフォーマンス</a:t>
            </a:r>
            <a:r>
              <a:rPr kumimoji="1" lang="en-US" altLang="ja-JP" sz="1200" kern="1200" dirty="0" smtClean="0">
                <a:solidFill>
                  <a:schemeClr val="tx1"/>
                </a:solidFill>
                <a:latin typeface="+mn-lt"/>
                <a:ea typeface="+mn-ea"/>
                <a:cs typeface="+mn-cs"/>
              </a:rPr>
              <a:t>)</a:t>
            </a:r>
            <a:r>
              <a:rPr kumimoji="1" lang="en-US" altLang="ja-JP" sz="1200" kern="1200" baseline="0" dirty="0" smtClean="0">
                <a:solidFill>
                  <a:schemeClr val="tx1"/>
                </a:solidFill>
                <a:latin typeface="+mn-lt"/>
                <a:ea typeface="+mn-ea"/>
                <a:cs typeface="+mn-cs"/>
              </a:rPr>
              <a:t> </a:t>
            </a:r>
            <a:r>
              <a:rPr kumimoji="1" lang="ja-JP" altLang="ja-JP" sz="1200" kern="1200" dirty="0" smtClean="0">
                <a:solidFill>
                  <a:schemeClr val="tx1"/>
                </a:solidFill>
                <a:latin typeface="+mn-lt"/>
                <a:ea typeface="+mn-ea"/>
                <a:cs typeface="+mn-cs"/>
              </a:rPr>
              <a:t>パフォーマンスが必要とされる部分は優先的に処理できるように別プロセスとします。</a:t>
            </a:r>
          </a:p>
          <a:p>
            <a:r>
              <a:rPr kumimoji="1" lang="ja-JP" altLang="ja-JP" sz="1200" kern="1200" dirty="0" smtClean="0">
                <a:solidFill>
                  <a:schemeClr val="tx1"/>
                </a:solidFill>
                <a:latin typeface="+mn-lt"/>
                <a:ea typeface="+mn-ea"/>
                <a:cs typeface="+mn-cs"/>
              </a:rPr>
              <a:t>パフォーマンスが要求されるメッセージは同一プロセス内で行います。</a:t>
            </a:r>
            <a:endParaRPr kumimoji="1" lang="en-US" altLang="ja-JP" dirty="0" smtClean="0">
              <a:latin typeface="+mn-ea"/>
              <a:ea typeface="+mn-ea"/>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11</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12</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13</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solidFill>
                  <a:schemeClr val="tx1"/>
                </a:solidFill>
                <a:latin typeface="+mn-ea"/>
                <a:ea typeface="+mn-ea"/>
              </a:rPr>
              <a:t>First,</a:t>
            </a:r>
            <a:r>
              <a:rPr kumimoji="1" lang="en-US" altLang="ja-JP" baseline="0" dirty="0" smtClean="0">
                <a:solidFill>
                  <a:schemeClr val="tx1"/>
                </a:solidFill>
                <a:latin typeface="+mn-ea"/>
                <a:ea typeface="+mn-ea"/>
              </a:rPr>
              <a:t> Basic functions applications category.</a:t>
            </a:r>
          </a:p>
          <a:p>
            <a:endParaRPr kumimoji="1" lang="en-US" altLang="ja-JP" baseline="0" dirty="0" smtClean="0">
              <a:solidFill>
                <a:schemeClr val="tx1"/>
              </a:solidFill>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Application in this category provides basic function for users.</a:t>
            </a: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This category includes Copy, Send, Box,</a:t>
            </a:r>
            <a:r>
              <a:rPr kumimoji="1" lang="en-US" altLang="ja-JP" sz="1200" b="0" i="0" u="none" strike="noStrike" cap="none" normalizeH="0" dirty="0" smtClean="0">
                <a:ln>
                  <a:noFill/>
                </a:ln>
                <a:solidFill>
                  <a:schemeClr val="tx1"/>
                </a:solidFill>
                <a:effectLst/>
                <a:latin typeface="+mn-ea"/>
                <a:ea typeface="+mn-ea"/>
                <a:cs typeface="Meiryo UI" panose="020B0604030504040204" pitchFamily="50" charset="-128"/>
              </a:rPr>
              <a:t> Fax,</a:t>
            </a:r>
            <a:r>
              <a:rPr lang="ja-JP" altLang="en-US" sz="1200" b="0" dirty="0" smtClean="0">
                <a:solidFill>
                  <a:schemeClr val="tx1"/>
                </a:solidFill>
                <a:latin typeface="+mn-ea"/>
                <a:ea typeface="+mn-ea"/>
                <a:cs typeface="Meiryo UI" panose="020B0604030504040204" pitchFamily="50" charset="-128"/>
              </a:rPr>
              <a:t> </a:t>
            </a:r>
            <a:r>
              <a:rPr kumimoji="1" lang="en-US" altLang="ja-JP" sz="1200" b="0" i="0" u="none" strike="noStrike" cap="none" normalizeH="0" dirty="0" smtClean="0">
                <a:ln>
                  <a:noFill/>
                </a:ln>
                <a:solidFill>
                  <a:schemeClr val="tx1"/>
                </a:solidFill>
                <a:effectLst/>
                <a:latin typeface="+mn-ea"/>
                <a:ea typeface="+mn-ea"/>
                <a:cs typeface="Meiryo UI" panose="020B0604030504040204" pitchFamily="50" charset="-128"/>
              </a:rPr>
              <a:t>Print, External Print, and</a:t>
            </a: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 </a:t>
            </a:r>
            <a:r>
              <a:rPr kumimoji="1" lang="en-US" altLang="ja-JP" sz="1200" b="0" i="0" u="none" strike="noStrike" cap="none" normalizeH="0" dirty="0" smtClean="0">
                <a:ln>
                  <a:noFill/>
                </a:ln>
                <a:solidFill>
                  <a:schemeClr val="tx1"/>
                </a:solidFill>
                <a:effectLst/>
                <a:latin typeface="+mn-ea"/>
                <a:ea typeface="+mn-ea"/>
                <a:cs typeface="Meiryo UI" panose="020B0604030504040204" pitchFamily="50" charset="-128"/>
              </a:rPr>
              <a:t>Maintenance Application.</a:t>
            </a:r>
            <a:endParaRPr kumimoji="1" lang="ja-JP" altLang="en-US" sz="1200" b="0" i="0" u="none" strike="noStrike" cap="none" normalizeH="0" baseline="0" dirty="0" smtClean="0">
              <a:ln>
                <a:noFill/>
              </a:ln>
              <a:solidFill>
                <a:schemeClr val="tx1"/>
              </a:solidFill>
              <a:effectLst/>
              <a:latin typeface="+mn-ea"/>
              <a:ea typeface="+mn-ea"/>
              <a:cs typeface="Meiryo UI" panose="020B0604030504040204" pitchFamily="50" charset="-128"/>
            </a:endParaRPr>
          </a:p>
          <a:p>
            <a:r>
              <a:rPr kumimoji="1" lang="en-US" altLang="ja-JP" sz="1200" kern="1200" dirty="0" smtClean="0">
                <a:solidFill>
                  <a:schemeClr val="tx1"/>
                </a:solidFill>
                <a:latin typeface="+mn-lt"/>
                <a:ea typeface="+mn-ea"/>
                <a:cs typeface="+mn-cs"/>
              </a:rPr>
              <a:t>Each packages can provide a function for user.</a:t>
            </a:r>
          </a:p>
          <a:p>
            <a:endParaRPr kumimoji="1" lang="en-US" altLang="ja-JP" b="0" baseline="0" dirty="0" smtClean="0">
              <a:solidFill>
                <a:schemeClr val="tx1"/>
              </a:solidFill>
              <a:latin typeface="+mn-ea"/>
              <a:ea typeface="+mn-ea"/>
            </a:endParaRPr>
          </a:p>
          <a:p>
            <a:r>
              <a:rPr kumimoji="1" lang="en-US" altLang="ja-JP" b="0" baseline="0" dirty="0" smtClean="0">
                <a:solidFill>
                  <a:schemeClr val="tx1"/>
                </a:solidFill>
                <a:latin typeface="+mn-ea"/>
                <a:ea typeface="+mn-ea"/>
              </a:rPr>
              <a:t>These package has Panel control, Service control, and Job control.</a:t>
            </a:r>
          </a:p>
          <a:p>
            <a:r>
              <a:rPr kumimoji="1" lang="en-US" altLang="ja-JP" dirty="0" smtClean="0">
                <a:solidFill>
                  <a:schemeClr val="tx1"/>
                </a:solidFill>
                <a:latin typeface="+mn-ea"/>
                <a:ea typeface="+mn-ea"/>
              </a:rPr>
              <a:t>These package</a:t>
            </a:r>
            <a:r>
              <a:rPr kumimoji="1" lang="en-US" altLang="ja-JP" baseline="0" dirty="0" smtClean="0">
                <a:solidFill>
                  <a:schemeClr val="tx1"/>
                </a:solidFill>
                <a:latin typeface="+mn-ea"/>
                <a:ea typeface="+mn-ea"/>
              </a:rPr>
              <a:t> have same component </a:t>
            </a:r>
            <a:r>
              <a:rPr kumimoji="1" lang="en-US" altLang="ja-JP" dirty="0" smtClean="0">
                <a:solidFill>
                  <a:schemeClr val="tx1"/>
                </a:solidFill>
                <a:latin typeface="+mn-ea"/>
                <a:ea typeface="+mn-ea"/>
              </a:rPr>
              <a:t>structure.</a:t>
            </a:r>
            <a:r>
              <a:rPr kumimoji="1" lang="en-US" altLang="ja-JP" baseline="0" dirty="0" smtClean="0">
                <a:solidFill>
                  <a:schemeClr val="tx1"/>
                </a:solidFill>
                <a:latin typeface="+mn-ea"/>
                <a:ea typeface="+mn-ea"/>
              </a:rPr>
              <a:t> And each component has same responsibility.</a:t>
            </a:r>
          </a:p>
          <a:p>
            <a:endParaRPr kumimoji="1" lang="en-US" altLang="ja-JP" baseline="0" dirty="0" smtClean="0">
              <a:solidFill>
                <a:schemeClr val="tx1"/>
              </a:solidFill>
              <a:latin typeface="+mn-ea"/>
              <a:ea typeface="+mn-ea"/>
            </a:endParaRPr>
          </a:p>
          <a:p>
            <a:r>
              <a:rPr kumimoji="1" lang="en-US" altLang="ja-JP" baseline="0" dirty="0" smtClean="0">
                <a:solidFill>
                  <a:schemeClr val="tx1"/>
                </a:solidFill>
                <a:latin typeface="+mn-ea"/>
                <a:ea typeface="+mn-ea"/>
              </a:rPr>
              <a:t>But these contents of each Application is different. </a:t>
            </a:r>
          </a:p>
          <a:p>
            <a:r>
              <a:rPr kumimoji="1" lang="en-US" altLang="ja-JP" dirty="0" smtClean="0">
                <a:solidFill>
                  <a:schemeClr val="tx1"/>
                </a:solidFill>
                <a:latin typeface="+mn-ea"/>
                <a:ea typeface="+mn-ea"/>
              </a:rPr>
              <a:t>For example,</a:t>
            </a:r>
            <a:r>
              <a:rPr kumimoji="1" lang="en-US" altLang="ja-JP" baseline="0" dirty="0" smtClean="0">
                <a:solidFill>
                  <a:schemeClr val="tx1"/>
                </a:solidFill>
                <a:latin typeface="+mn-ea"/>
                <a:ea typeface="+mn-ea"/>
              </a:rPr>
              <a:t> responsibility of </a:t>
            </a:r>
            <a:r>
              <a:rPr kumimoji="1" lang="en-US" altLang="ja-JP" baseline="0" dirty="0" err="1" smtClean="0">
                <a:solidFill>
                  <a:schemeClr val="tx1"/>
                </a:solidFill>
                <a:latin typeface="+mn-ea"/>
                <a:ea typeface="+mn-ea"/>
              </a:rPr>
              <a:t>cpyAPS</a:t>
            </a:r>
            <a:r>
              <a:rPr kumimoji="1" lang="en-US" altLang="ja-JP" baseline="0" dirty="0" smtClean="0">
                <a:solidFill>
                  <a:schemeClr val="tx1"/>
                </a:solidFill>
                <a:latin typeface="+mn-ea"/>
                <a:ea typeface="+mn-ea"/>
              </a:rPr>
              <a:t> is Service control for Copy function. And also responsibility of </a:t>
            </a:r>
            <a:r>
              <a:rPr kumimoji="1" lang="en-US" altLang="ja-JP" baseline="0" dirty="0" err="1" smtClean="0">
                <a:solidFill>
                  <a:schemeClr val="tx1"/>
                </a:solidFill>
                <a:latin typeface="+mn-ea"/>
                <a:ea typeface="+mn-ea"/>
              </a:rPr>
              <a:t>sndAPS</a:t>
            </a:r>
            <a:r>
              <a:rPr kumimoji="1" lang="en-US" altLang="ja-JP" baseline="0" dirty="0" smtClean="0">
                <a:solidFill>
                  <a:schemeClr val="tx1"/>
                </a:solidFill>
                <a:latin typeface="+mn-ea"/>
                <a:ea typeface="+mn-ea"/>
              </a:rPr>
              <a:t> is Service control for Send function.</a:t>
            </a:r>
            <a:endParaRPr kumimoji="1" lang="en-US" altLang="ja-JP" dirty="0" smtClean="0">
              <a:solidFill>
                <a:schemeClr val="tx1"/>
              </a:solidFill>
              <a:latin typeface="+mn-ea"/>
              <a:ea typeface="+mn-ea"/>
            </a:endParaRPr>
          </a:p>
          <a:p>
            <a:endParaRPr kumimoji="1" lang="en-US" altLang="ja-JP" dirty="0" smtClean="0"/>
          </a:p>
          <a:p>
            <a:endParaRPr kumimoji="1" lang="en-US" altLang="ja-JP" dirty="0" smtClean="0"/>
          </a:p>
          <a:p>
            <a:r>
              <a:rPr kumimoji="1" lang="ja-JP" altLang="en-US" dirty="0" smtClean="0"/>
              <a:t>基本機能アプリケーションです。</a:t>
            </a:r>
            <a:endParaRPr kumimoji="1" lang="en-US" altLang="ja-JP" dirty="0" smtClean="0"/>
          </a:p>
          <a:p>
            <a:endParaRPr kumimoji="1" lang="en-US" altLang="ja-JP" dirty="0" smtClean="0"/>
          </a:p>
          <a:p>
            <a:r>
              <a:rPr kumimoji="1" lang="ja-JP" altLang="ja-JP" sz="1200" kern="1200" dirty="0" smtClean="0">
                <a:solidFill>
                  <a:schemeClr val="tx1"/>
                </a:solidFill>
                <a:latin typeface="+mn-lt"/>
                <a:ea typeface="+mn-ea"/>
                <a:cs typeface="+mn-cs"/>
              </a:rPr>
              <a:t>このカテゴリのアプリケーションは、ユーザーに基本機能を提供します。</a:t>
            </a:r>
            <a:endParaRPr kumimoji="1" lang="en-US" altLang="ja-JP" sz="1200" kern="1200" dirty="0" smtClean="0">
              <a:solidFill>
                <a:schemeClr val="tx1"/>
              </a:solidFill>
              <a:latin typeface="+mn-lt"/>
              <a:ea typeface="+mn-ea"/>
              <a:cs typeface="+mn-cs"/>
            </a:endParaRPr>
          </a:p>
          <a:p>
            <a:r>
              <a:rPr kumimoji="1" lang="ja-JP" altLang="ja-JP" sz="1200" kern="1200" dirty="0" smtClean="0">
                <a:solidFill>
                  <a:schemeClr val="tx1"/>
                </a:solidFill>
                <a:latin typeface="+mn-lt"/>
                <a:ea typeface="+mn-ea"/>
                <a:cs typeface="+mn-cs"/>
              </a:rPr>
              <a:t>このカテゴリは</a:t>
            </a:r>
            <a:r>
              <a:rPr kumimoji="1" lang="en-US" altLang="ja-JP" sz="1200" kern="1200" dirty="0" smtClean="0">
                <a:solidFill>
                  <a:schemeClr val="tx1"/>
                </a:solidFill>
                <a:latin typeface="+mn-lt"/>
                <a:ea typeface="+mn-ea"/>
                <a:cs typeface="+mn-cs"/>
              </a:rPr>
              <a:t>Copy, Send, Box, Fax, Print, External Print, and Maintenance Application</a:t>
            </a:r>
            <a:r>
              <a:rPr kumimoji="1" lang="ja-JP" altLang="ja-JP" sz="1200" kern="1200" dirty="0" smtClean="0">
                <a:solidFill>
                  <a:schemeClr val="tx1"/>
                </a:solidFill>
                <a:latin typeface="+mn-lt"/>
                <a:ea typeface="+mn-ea"/>
                <a:cs typeface="+mn-cs"/>
              </a:rPr>
              <a:t>があります。</a:t>
            </a:r>
          </a:p>
          <a:p>
            <a:r>
              <a:rPr kumimoji="1" lang="ja-JP" altLang="en-US" dirty="0" smtClean="0"/>
              <a:t>それぞれのアプリケーションでユーザーに機能を提供することが可能です。</a:t>
            </a:r>
            <a:endParaRPr kumimoji="1" lang="en-US" altLang="ja-JP" dirty="0" smtClean="0"/>
          </a:p>
          <a:p>
            <a:endParaRPr kumimoji="1" lang="en-US" altLang="ja-JP" dirty="0" smtClean="0"/>
          </a:p>
          <a:p>
            <a:r>
              <a:rPr kumimoji="1" lang="ja-JP" altLang="en-US" dirty="0" smtClean="0"/>
              <a:t>これらのパッケージには、各機能を実現するための</a:t>
            </a:r>
            <a:r>
              <a:rPr kumimoji="1" lang="en-US" altLang="ja-JP" dirty="0" smtClean="0"/>
              <a:t>Panel</a:t>
            </a:r>
            <a:r>
              <a:rPr kumimoji="1" lang="ja-JP" altLang="en-US" dirty="0" smtClean="0"/>
              <a:t>制御、</a:t>
            </a:r>
            <a:r>
              <a:rPr kumimoji="1" lang="en-US" altLang="ja-JP" dirty="0" smtClean="0"/>
              <a:t>Service</a:t>
            </a:r>
            <a:r>
              <a:rPr kumimoji="1" lang="ja-JP" altLang="en-US" dirty="0" smtClean="0"/>
              <a:t>制御、</a:t>
            </a:r>
            <a:r>
              <a:rPr kumimoji="1" lang="en-US" altLang="ja-JP" dirty="0" smtClean="0"/>
              <a:t>Job</a:t>
            </a:r>
            <a:r>
              <a:rPr kumimoji="1" lang="ja-JP" altLang="en-US" dirty="0" smtClean="0"/>
              <a:t>制御を行うコンポーネントが含まれています。</a:t>
            </a:r>
            <a:endParaRPr kumimoji="1" lang="en-US" altLang="ja-JP" dirty="0" smtClean="0"/>
          </a:p>
          <a:p>
            <a:r>
              <a:rPr kumimoji="1" lang="ja-JP" altLang="en-US" dirty="0" smtClean="0"/>
              <a:t>基本機能のアプリケーションは、すべてこのようなコンポーネント構成になっています。そして、それぞれのコンポーネントの責務は同じになります。</a:t>
            </a:r>
            <a:endParaRPr kumimoji="1" lang="en-US" altLang="ja-JP" dirty="0" smtClean="0"/>
          </a:p>
          <a:p>
            <a:endParaRPr kumimoji="1" lang="en-US" altLang="ja-JP" dirty="0" smtClean="0"/>
          </a:p>
          <a:p>
            <a:r>
              <a:rPr kumimoji="1" lang="ja-JP" altLang="ja-JP" sz="1200" kern="1200" dirty="0" smtClean="0">
                <a:solidFill>
                  <a:schemeClr val="tx1"/>
                </a:solidFill>
                <a:latin typeface="+mn-lt"/>
                <a:ea typeface="+mn-ea"/>
                <a:cs typeface="+mn-cs"/>
              </a:rPr>
              <a:t>しかし、各アプリケーションのコンテンツは違っています。</a:t>
            </a:r>
            <a:endParaRPr kumimoji="1" lang="en-US" altLang="ja-JP" dirty="0" smtClean="0"/>
          </a:p>
          <a:p>
            <a:r>
              <a:rPr kumimoji="1" lang="ja-JP" altLang="en-US" dirty="0" smtClean="0"/>
              <a:t>たとえば、</a:t>
            </a:r>
            <a:r>
              <a:rPr kumimoji="1" lang="en-US" altLang="ja-JP" dirty="0" smtClean="0"/>
              <a:t>Copy</a:t>
            </a:r>
            <a:r>
              <a:rPr kumimoji="1" lang="ja-JP" altLang="en-US" dirty="0" smtClean="0"/>
              <a:t>アプリケーションの</a:t>
            </a:r>
            <a:r>
              <a:rPr kumimoji="1" lang="en-US" altLang="ja-JP" dirty="0" err="1" smtClean="0"/>
              <a:t>cpyAPS</a:t>
            </a:r>
            <a:r>
              <a:rPr kumimoji="1" lang="ja-JP" altLang="en-US" dirty="0" smtClean="0"/>
              <a:t>は、</a:t>
            </a:r>
            <a:r>
              <a:rPr kumimoji="1" lang="en-US" altLang="ja-JP" dirty="0" smtClean="0"/>
              <a:t>Copy</a:t>
            </a:r>
            <a:r>
              <a:rPr kumimoji="1" lang="ja-JP" altLang="en-US" dirty="0" smtClean="0"/>
              <a:t>機能を実現するための</a:t>
            </a:r>
            <a:r>
              <a:rPr kumimoji="1" lang="en-US" altLang="ja-JP" dirty="0" smtClean="0"/>
              <a:t>Service</a:t>
            </a:r>
            <a:r>
              <a:rPr kumimoji="1" lang="ja-JP" altLang="en-US" dirty="0" smtClean="0"/>
              <a:t>制御を行います。</a:t>
            </a:r>
            <a:endParaRPr kumimoji="1" lang="en-US" altLang="ja-JP" dirty="0" smtClean="0"/>
          </a:p>
          <a:p>
            <a:r>
              <a:rPr kumimoji="1" lang="ja-JP" altLang="en-US" dirty="0" smtClean="0"/>
              <a:t>同様に</a:t>
            </a:r>
            <a:r>
              <a:rPr kumimoji="1" lang="en-US" altLang="ja-JP" dirty="0" smtClean="0"/>
              <a:t>Send</a:t>
            </a:r>
            <a:r>
              <a:rPr kumimoji="1" lang="ja-JP" altLang="en-US" dirty="0" smtClean="0"/>
              <a:t>アプリケーションの</a:t>
            </a:r>
            <a:r>
              <a:rPr kumimoji="1" lang="en-US" altLang="ja-JP" dirty="0" err="1" smtClean="0"/>
              <a:t>sndAPS</a:t>
            </a:r>
            <a:r>
              <a:rPr kumimoji="1" lang="ja-JP" altLang="en-US" dirty="0" smtClean="0"/>
              <a:t>は、</a:t>
            </a:r>
            <a:r>
              <a:rPr kumimoji="1" lang="en-US" altLang="ja-JP" dirty="0" smtClean="0"/>
              <a:t>Send</a:t>
            </a:r>
            <a:r>
              <a:rPr kumimoji="1" lang="ja-JP" altLang="en-US" dirty="0" smtClean="0"/>
              <a:t>機能を実現するための</a:t>
            </a:r>
            <a:r>
              <a:rPr kumimoji="1" lang="en-US" altLang="ja-JP" dirty="0" smtClean="0"/>
              <a:t>Service</a:t>
            </a:r>
            <a:r>
              <a:rPr kumimoji="1" lang="ja-JP" altLang="en-US" dirty="0" smtClean="0"/>
              <a:t>制御を行います。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14</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solidFill>
                  <a:schemeClr val="tx1"/>
                </a:solidFill>
                <a:latin typeface="+mn-ea"/>
                <a:ea typeface="+mn-ea"/>
              </a:rPr>
              <a:t>Next is System applications category.</a:t>
            </a:r>
          </a:p>
          <a:p>
            <a:pPr marL="0" marR="0" indent="0" algn="l" defTabSz="914400" rtl="0" eaLnBrk="1" fontAlgn="base" latinLnBrk="0" hangingPunct="1">
              <a:lnSpc>
                <a:spcPct val="90000"/>
              </a:lnSpc>
              <a:spcBef>
                <a:spcPct val="50000"/>
              </a:spcBef>
              <a:spcAft>
                <a:spcPct val="0"/>
              </a:spcAft>
              <a:buClrTx/>
              <a:buSzTx/>
              <a:buFontTx/>
              <a:buNone/>
              <a:tabLst/>
              <a:defRPr/>
            </a:pPr>
            <a:r>
              <a:rPr lang="en-US" altLang="ja-JP" sz="1200" b="0" dirty="0" smtClean="0">
                <a:solidFill>
                  <a:schemeClr val="tx1"/>
                </a:solidFill>
                <a:latin typeface="+mn-ea"/>
                <a:ea typeface="+mn-ea"/>
                <a:cs typeface="Meiryo UI" panose="020B0604030504040204" pitchFamily="50" charset="-128"/>
              </a:rPr>
              <a:t>Application in this category provides system function for each applications.</a:t>
            </a:r>
          </a:p>
          <a:p>
            <a:pPr marL="0" marR="0" indent="0" algn="l" defTabSz="914400" rtl="0" eaLnBrk="1" fontAlgn="base" latinLnBrk="0" hangingPunct="1">
              <a:lnSpc>
                <a:spcPct val="90000"/>
              </a:lnSpc>
              <a:spcBef>
                <a:spcPct val="50000"/>
              </a:spcBef>
              <a:spcAft>
                <a:spcPct val="0"/>
              </a:spcAft>
              <a:buClrTx/>
              <a:buSzTx/>
              <a:buFontTx/>
              <a:buNone/>
              <a:tabLst/>
              <a:defRPr/>
            </a:pPr>
            <a:endParaRPr kumimoji="1" lang="ja-JP" altLang="en-US" sz="1200" b="0" i="0" u="none" strike="noStrike" cap="none" normalizeH="0" baseline="0" dirty="0" smtClean="0">
              <a:ln>
                <a:noFill/>
              </a:ln>
              <a:solidFill>
                <a:schemeClr val="tx1"/>
              </a:solidFill>
              <a:effectLst/>
              <a:latin typeface="+mn-ea"/>
              <a:ea typeface="+mn-ea"/>
              <a:cs typeface="Meiryo UI" panose="020B0604030504040204" pitchFamily="50" charset="-128"/>
            </a:endParaRP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dirty="0" err="1" smtClean="0">
                <a:solidFill>
                  <a:schemeClr val="tx1"/>
                </a:solidFill>
                <a:latin typeface="+mn-ea"/>
                <a:ea typeface="+mn-ea"/>
              </a:rPr>
              <a:t>symPRCM</a:t>
            </a:r>
            <a:r>
              <a:rPr kumimoji="1" lang="en-US" altLang="ja-JP" baseline="0" dirty="0" smtClean="0">
                <a:solidFill>
                  <a:schemeClr val="tx1"/>
                </a:solidFill>
                <a:latin typeface="+mn-ea"/>
                <a:ea typeface="+mn-ea"/>
              </a:rPr>
              <a:t>  manages processes in Application. </a:t>
            </a: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dirty="0" err="1" smtClean="0">
                <a:solidFill>
                  <a:schemeClr val="tx1"/>
                </a:solidFill>
                <a:latin typeface="+mn-ea"/>
                <a:ea typeface="+mn-ea"/>
              </a:rPr>
              <a:t>symESM</a:t>
            </a:r>
            <a:r>
              <a:rPr kumimoji="1" lang="en-US" altLang="ja-JP" dirty="0" smtClean="0">
                <a:solidFill>
                  <a:schemeClr val="tx1"/>
                </a:solidFill>
                <a:latin typeface="+mn-ea"/>
                <a:ea typeface="+mn-ea"/>
              </a:rPr>
              <a:t> is for energy saving in Application. </a:t>
            </a:r>
            <a:endParaRPr kumimoji="1" lang="en-US" altLang="ja-JP" baseline="0" dirty="0" smtClean="0">
              <a:solidFill>
                <a:schemeClr val="tx1"/>
              </a:solidFill>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baseline="0" dirty="0" err="1" smtClean="0">
                <a:solidFill>
                  <a:schemeClr val="tx1"/>
                </a:solidFill>
                <a:latin typeface="+mn-ea"/>
                <a:ea typeface="+mn-ea"/>
              </a:rPr>
              <a:t>sysSTM</a:t>
            </a:r>
            <a:r>
              <a:rPr kumimoji="1" lang="en-US" altLang="ja-JP" baseline="0" dirty="0" smtClean="0">
                <a:solidFill>
                  <a:schemeClr val="tx1"/>
                </a:solidFill>
                <a:latin typeface="+mn-ea"/>
                <a:ea typeface="+mn-ea"/>
              </a:rPr>
              <a:t> is for System Status in Application. </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err="1" smtClean="0">
                <a:solidFill>
                  <a:schemeClr val="tx1"/>
                </a:solidFill>
                <a:latin typeface="+mn-ea"/>
                <a:ea typeface="+mn-ea"/>
              </a:rPr>
              <a:t>symAPM</a:t>
            </a:r>
            <a:r>
              <a:rPr kumimoji="1" lang="en-US" altLang="ja-JP" dirty="0" smtClean="0">
                <a:solidFill>
                  <a:schemeClr val="tx1"/>
                </a:solidFill>
                <a:latin typeface="+mn-ea"/>
                <a:ea typeface="+mn-ea"/>
              </a:rPr>
              <a:t> is for</a:t>
            </a:r>
            <a:r>
              <a:rPr kumimoji="1" lang="en-US" altLang="ja-JP" baseline="0" dirty="0" smtClean="0">
                <a:solidFill>
                  <a:schemeClr val="tx1"/>
                </a:solidFill>
                <a:latin typeface="+mn-ea"/>
                <a:ea typeface="+mn-ea"/>
              </a:rPr>
              <a:t> managing applications. </a:t>
            </a:r>
          </a:p>
          <a:p>
            <a:endParaRPr kumimoji="1" lang="en-US" altLang="ja-JP" dirty="0" smtClean="0"/>
          </a:p>
          <a:p>
            <a:endParaRPr kumimoji="1" lang="en-US" altLang="ja-JP" dirty="0" smtClean="0"/>
          </a:p>
          <a:p>
            <a:r>
              <a:rPr kumimoji="1" lang="ja-JP" altLang="en-US" dirty="0" smtClean="0"/>
              <a:t>次に、システム系アプリケーションです。</a:t>
            </a:r>
            <a:endParaRPr kumimoji="1" lang="en-US" altLang="ja-JP" dirty="0" smtClean="0"/>
          </a:p>
          <a:p>
            <a:r>
              <a:rPr kumimoji="1" lang="ja-JP" altLang="ja-JP" sz="1200" kern="1200" dirty="0" smtClean="0">
                <a:solidFill>
                  <a:schemeClr val="tx1"/>
                </a:solidFill>
                <a:latin typeface="+mn-lt"/>
                <a:ea typeface="+mn-ea"/>
                <a:cs typeface="+mn-cs"/>
              </a:rPr>
              <a:t>このカテゴリのアプリケーションは、各アプリケーションにシステム機能を提供します。 </a:t>
            </a:r>
          </a:p>
          <a:p>
            <a:endParaRPr kumimoji="1" lang="en-US" altLang="ja-JP"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err="1" smtClean="0"/>
              <a:t>symPRCM</a:t>
            </a:r>
            <a:r>
              <a:rPr kumimoji="1" lang="ja-JP" altLang="en-US" dirty="0" smtClean="0"/>
              <a:t>は、アプリケーション側のプロセス管理を行うコンポーネントです。</a:t>
            </a:r>
            <a:endParaRPr kumimoji="1" lang="en-US" altLang="ja-JP" dirty="0" smtClean="0"/>
          </a:p>
          <a:p>
            <a:r>
              <a:rPr kumimoji="1" lang="en-US" altLang="ja-JP" dirty="0" err="1" smtClean="0"/>
              <a:t>symESM</a:t>
            </a:r>
            <a:r>
              <a:rPr kumimoji="1" lang="ja-JP" altLang="en-US" dirty="0" smtClean="0"/>
              <a:t>は省エネ状態管理を行うコンポーネントです。</a:t>
            </a:r>
            <a:endParaRPr kumimoji="1" lang="en-US" altLang="ja-JP"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err="1" smtClean="0"/>
              <a:t>symSTM</a:t>
            </a:r>
            <a:r>
              <a:rPr kumimoji="1" lang="ja-JP" altLang="en-US" dirty="0" smtClean="0"/>
              <a:t>は、システム状態管理を行うコンポーネントです。</a:t>
            </a:r>
            <a:endParaRPr kumimoji="1" lang="en-US" altLang="ja-JP" dirty="0" smtClean="0"/>
          </a:p>
          <a:p>
            <a:r>
              <a:rPr kumimoji="1" lang="en-US" altLang="ja-JP" dirty="0" err="1" smtClean="0"/>
              <a:t>symAPM</a:t>
            </a:r>
            <a:r>
              <a:rPr kumimoji="1" lang="ja-JP" altLang="en-US" dirty="0" smtClean="0"/>
              <a:t>は、アプリケーションの実行管理を行うコンポーネントです。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15</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smtClean="0">
                <a:solidFill>
                  <a:schemeClr val="tx1"/>
                </a:solidFill>
                <a:latin typeface="+mn-ea"/>
                <a:ea typeface="+mn-ea"/>
              </a:rPr>
              <a:t>aentASI</a:t>
            </a:r>
            <a:r>
              <a:rPr kumimoji="1" lang="en-US" altLang="ja-JP" dirty="0" smtClean="0">
                <a:solidFill>
                  <a:schemeClr val="tx1"/>
                </a:solidFill>
                <a:latin typeface="+mn-ea"/>
                <a:ea typeface="+mn-ea"/>
              </a:rPr>
              <a:t> provides</a:t>
            </a:r>
            <a:r>
              <a:rPr kumimoji="1" lang="en-US" altLang="ja-JP" baseline="0" dirty="0" smtClean="0">
                <a:solidFill>
                  <a:schemeClr val="tx1"/>
                </a:solidFill>
                <a:latin typeface="+mn-ea"/>
                <a:ea typeface="+mn-ea"/>
              </a:rPr>
              <a:t> interface for service information </a:t>
            </a:r>
            <a:r>
              <a:rPr kumimoji="1" lang="en-US" altLang="ja-JP" dirty="0" smtClean="0">
                <a:solidFill>
                  <a:schemeClr val="tx1"/>
                </a:solidFill>
                <a:latin typeface="+mn-ea"/>
                <a:ea typeface="+mn-ea"/>
              </a:rPr>
              <a:t>in Application. </a:t>
            </a:r>
          </a:p>
          <a:p>
            <a:r>
              <a:rPr kumimoji="1" lang="en-US" altLang="ja-JP" dirty="0" err="1" smtClean="0">
                <a:solidFill>
                  <a:schemeClr val="tx1"/>
                </a:solidFill>
                <a:latin typeface="+mn-ea"/>
                <a:ea typeface="+mn-ea"/>
              </a:rPr>
              <a:t>rptRPG</a:t>
            </a:r>
            <a:r>
              <a:rPr kumimoji="1" lang="en-US" altLang="ja-JP" dirty="0" smtClean="0">
                <a:solidFill>
                  <a:schemeClr val="tx1"/>
                </a:solidFill>
                <a:latin typeface="+mn-ea"/>
                <a:ea typeface="+mn-ea"/>
              </a:rPr>
              <a:t> is for </a:t>
            </a:r>
            <a:r>
              <a:rPr kumimoji="1" lang="en-US" altLang="ja-JP" dirty="0" err="1" smtClean="0">
                <a:solidFill>
                  <a:schemeClr val="tx1"/>
                </a:solidFill>
                <a:latin typeface="+mn-ea"/>
                <a:ea typeface="+mn-ea"/>
              </a:rPr>
              <a:t>outputing</a:t>
            </a:r>
            <a:r>
              <a:rPr kumimoji="1" lang="en-US" altLang="ja-JP" dirty="0" smtClean="0">
                <a:solidFill>
                  <a:schemeClr val="tx1"/>
                </a:solidFill>
                <a:latin typeface="+mn-ea"/>
                <a:ea typeface="+mn-ea"/>
              </a:rPr>
              <a:t> report. </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err="1" smtClean="0">
                <a:solidFill>
                  <a:schemeClr val="tx1"/>
                </a:solidFill>
                <a:latin typeface="+mn-ea"/>
                <a:ea typeface="+mn-ea"/>
              </a:rPr>
              <a:t>authPNL</a:t>
            </a:r>
            <a:r>
              <a:rPr kumimoji="1" lang="en-US" altLang="ja-JP" dirty="0" smtClean="0">
                <a:solidFill>
                  <a:schemeClr val="tx1"/>
                </a:solidFill>
                <a:latin typeface="+mn-ea"/>
                <a:ea typeface="+mn-ea"/>
              </a:rPr>
              <a:t> and </a:t>
            </a:r>
            <a:r>
              <a:rPr kumimoji="1" lang="en-US" altLang="ja-JP" dirty="0" err="1" smtClean="0">
                <a:solidFill>
                  <a:schemeClr val="tx1"/>
                </a:solidFill>
                <a:latin typeface="+mn-ea"/>
                <a:ea typeface="+mn-ea"/>
              </a:rPr>
              <a:t>authAGT</a:t>
            </a:r>
            <a:r>
              <a:rPr kumimoji="1" lang="en-US" altLang="ja-JP" dirty="0" smtClean="0">
                <a:solidFill>
                  <a:schemeClr val="tx1"/>
                </a:solidFill>
                <a:latin typeface="+mn-ea"/>
                <a:ea typeface="+mn-ea"/>
              </a:rPr>
              <a:t> are for Authentication. </a:t>
            </a:r>
          </a:p>
          <a:p>
            <a:endParaRPr kumimoji="1" lang="en-US" altLang="ja-JP" dirty="0" smtClean="0"/>
          </a:p>
          <a:p>
            <a:endParaRPr kumimoji="1" lang="en-US" altLang="ja-JP" dirty="0" smtClean="0"/>
          </a:p>
          <a:p>
            <a:r>
              <a:rPr kumimoji="1" lang="en-US" altLang="ja-JP" dirty="0" err="1" smtClean="0"/>
              <a:t>aentASI</a:t>
            </a:r>
            <a:r>
              <a:rPr kumimoji="1" lang="ja-JP" altLang="en-US" dirty="0" smtClean="0"/>
              <a:t>は、</a:t>
            </a:r>
            <a:r>
              <a:rPr kumimoji="1" lang="en-US" altLang="ja-JP" dirty="0" smtClean="0"/>
              <a:t>Application</a:t>
            </a:r>
            <a:r>
              <a:rPr kumimoji="1" lang="ja-JP" altLang="en-US" dirty="0" smtClean="0"/>
              <a:t>レイヤで</a:t>
            </a:r>
            <a:r>
              <a:rPr kumimoji="1" lang="en-US" altLang="ja-JP" dirty="0" smtClean="0"/>
              <a:t>Service</a:t>
            </a:r>
            <a:r>
              <a:rPr kumimoji="1" lang="ja-JP" altLang="en-US" dirty="0" smtClean="0"/>
              <a:t>情報のインタフェースを提供します。</a:t>
            </a:r>
            <a:endParaRPr kumimoji="1" lang="en-US" altLang="ja-JP" dirty="0" smtClean="0"/>
          </a:p>
          <a:p>
            <a:r>
              <a:rPr kumimoji="1" lang="en-US" altLang="ja-JP" dirty="0" err="1" smtClean="0"/>
              <a:t>rptRPG</a:t>
            </a:r>
            <a:r>
              <a:rPr kumimoji="1" lang="ja-JP" altLang="en-US" dirty="0" smtClean="0"/>
              <a:t>は、レポート出力を行うためのコンポーネントです。</a:t>
            </a:r>
            <a:endParaRPr kumimoji="1" lang="en-US" altLang="ja-JP" dirty="0" smtClean="0"/>
          </a:p>
          <a:p>
            <a:r>
              <a:rPr kumimoji="1" lang="en-US" altLang="ja-JP" dirty="0" err="1" smtClean="0"/>
              <a:t>authPNL</a:t>
            </a:r>
            <a:r>
              <a:rPr kumimoji="1" lang="ja-JP" altLang="en-US" dirty="0" smtClean="0"/>
              <a:t>と</a:t>
            </a:r>
            <a:r>
              <a:rPr kumimoji="1" lang="en-US" altLang="ja-JP" dirty="0" err="1" smtClean="0"/>
              <a:t>authAGT</a:t>
            </a:r>
            <a:r>
              <a:rPr kumimoji="1" lang="ja-JP" altLang="en-US" dirty="0" smtClean="0"/>
              <a:t>は、認証を行うためのコンポーネントです。</a:t>
            </a:r>
            <a:endParaRPr kumimoji="1" lang="en-US" altLang="ja-JP" baseline="0" dirty="0" smtClean="0"/>
          </a:p>
          <a:p>
            <a:endParaRPr kumimoji="1" lang="en-US" altLang="ja-JP" baseline="0"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16</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smtClean="0"/>
          </a:p>
          <a:p>
            <a:r>
              <a:rPr kumimoji="1" lang="en-US" altLang="ja-JP" dirty="0" smtClean="0"/>
              <a:t>This</a:t>
            </a:r>
            <a:r>
              <a:rPr kumimoji="1" lang="en-US" altLang="ja-JP" baseline="0" dirty="0" smtClean="0"/>
              <a:t> is Panel Control system.</a:t>
            </a:r>
          </a:p>
          <a:p>
            <a:r>
              <a:rPr kumimoji="1" lang="en-US" altLang="ja-JP" baseline="0" dirty="0" smtClean="0"/>
              <a:t>This package provide function to control panel in whole system. </a:t>
            </a:r>
          </a:p>
          <a:p>
            <a:endParaRPr kumimoji="1" lang="en-US" altLang="ja-JP"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dirty="0" err="1" smtClean="0"/>
              <a:t>pcsEPNL</a:t>
            </a:r>
            <a:r>
              <a:rPr kumimoji="1" lang="ja-JP" altLang="en-US" baseline="0" dirty="0" smtClean="0"/>
              <a:t> </a:t>
            </a:r>
            <a:r>
              <a:rPr kumimoji="1" lang="en-US" altLang="ja-JP" baseline="0" dirty="0" smtClean="0"/>
              <a:t>c</a:t>
            </a:r>
            <a:r>
              <a:rPr kumimoji="1" lang="en-US" altLang="ja-JP" sz="1200" kern="1200" dirty="0" smtClean="0">
                <a:solidFill>
                  <a:schemeClr val="tx1"/>
                </a:solidFill>
                <a:latin typeface="+mn-lt"/>
                <a:ea typeface="+mn-ea"/>
                <a:cs typeface="+mn-cs"/>
              </a:rPr>
              <a:t>hanges the screen displayed on device panel to correspond with the actual system status and keys pressed on the screen relevant to extended functions.</a:t>
            </a:r>
            <a:endParaRPr kumimoji="1" lang="ja-JP" altLang="ja-JP" sz="1200" kern="1200" dirty="0" smtClean="0">
              <a:solidFill>
                <a:schemeClr val="tx1"/>
              </a:solidFill>
              <a:latin typeface="+mn-lt"/>
              <a:ea typeface="+mn-ea"/>
              <a:cs typeface="+mn-cs"/>
            </a:endParaRPr>
          </a:p>
          <a:p>
            <a:endParaRPr kumimoji="1" lang="en-US" altLang="ja-JP" dirty="0" smtClean="0"/>
          </a:p>
          <a:p>
            <a:r>
              <a:rPr kumimoji="1" lang="en-US" altLang="ja-JP" dirty="0" smtClean="0"/>
              <a:t>Panel Control</a:t>
            </a:r>
            <a:r>
              <a:rPr kumimoji="1" lang="en-US" altLang="ja-JP" baseline="0" dirty="0" smtClean="0"/>
              <a:t> System</a:t>
            </a:r>
            <a:r>
              <a:rPr kumimoji="1" lang="ja-JP" altLang="en-US" baseline="0" dirty="0" smtClean="0"/>
              <a:t>です。</a:t>
            </a:r>
            <a:endParaRPr kumimoji="1" lang="en-US" altLang="ja-JP" baseline="0" dirty="0" smtClean="0"/>
          </a:p>
          <a:p>
            <a:r>
              <a:rPr kumimoji="1" lang="ja-JP" altLang="en-US" baseline="0" dirty="0" smtClean="0"/>
              <a:t>このパッケージは、各アプリケーションのパネルコンポーネントをコントロールするなど、システム全体としてのパネル制御を行います。</a:t>
            </a:r>
            <a:endParaRPr kumimoji="1" lang="en-US" altLang="ja-JP"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dirty="0" err="1" smtClean="0"/>
              <a:t>pcsEPNL</a:t>
            </a:r>
            <a:r>
              <a:rPr kumimoji="1" lang="ja-JP" altLang="en-US" dirty="0" smtClean="0"/>
              <a:t>は</a:t>
            </a:r>
            <a:r>
              <a:rPr kumimoji="1" lang="ja-JP" altLang="ja-JP" sz="1200" kern="1200" dirty="0" smtClean="0">
                <a:solidFill>
                  <a:schemeClr val="tx1"/>
                </a:solidFill>
                <a:latin typeface="+mn-lt"/>
                <a:ea typeface="+mn-ea"/>
                <a:cs typeface="+mn-cs"/>
              </a:rPr>
              <a:t>拡張機能に関する画面でのキー押下やシステム状態</a:t>
            </a:r>
            <a:r>
              <a:rPr kumimoji="1" lang="ja-JP" altLang="ja-JP" sz="1200" kern="1200" dirty="0" smtClean="0">
                <a:solidFill>
                  <a:srgbClr val="FF0000"/>
                </a:solidFill>
                <a:latin typeface="+mn-lt"/>
                <a:ea typeface="+mn-ea"/>
                <a:cs typeface="+mn-cs"/>
              </a:rPr>
              <a:t>に応じて、パネルデバイス画面を</a:t>
            </a:r>
            <a:r>
              <a:rPr kumimoji="1" lang="ja-JP" altLang="ja-JP" sz="1200" kern="1200" dirty="0" smtClean="0">
                <a:solidFill>
                  <a:schemeClr val="tx1"/>
                </a:solidFill>
                <a:latin typeface="+mn-lt"/>
                <a:ea typeface="+mn-ea"/>
                <a:cs typeface="+mn-cs"/>
              </a:rPr>
              <a:t>遷移させ</a:t>
            </a:r>
            <a:r>
              <a:rPr kumimoji="1" lang="ja-JP" altLang="en-US" sz="1200" kern="1200" dirty="0" smtClean="0">
                <a:solidFill>
                  <a:schemeClr val="tx1"/>
                </a:solidFill>
                <a:latin typeface="+mn-lt"/>
                <a:ea typeface="+mn-ea"/>
                <a:cs typeface="+mn-cs"/>
              </a:rPr>
              <a:t>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17</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solidFill>
                  <a:schemeClr val="tx1"/>
                </a:solidFill>
                <a:latin typeface="+mn-ea"/>
                <a:ea typeface="+mn-ea"/>
              </a:rPr>
              <a:t>Next is Operation </a:t>
            </a:r>
            <a:r>
              <a:rPr kumimoji="1" lang="en-US" altLang="ja-JP" baseline="0" dirty="0" smtClean="0">
                <a:solidFill>
                  <a:schemeClr val="tx1"/>
                </a:solidFill>
                <a:latin typeface="+mn-ea"/>
                <a:ea typeface="+mn-ea"/>
              </a:rPr>
              <a:t>application category.</a:t>
            </a: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This category includes</a:t>
            </a:r>
            <a:r>
              <a:rPr kumimoji="1" lang="ja-JP" altLang="en-US" sz="1200" b="0" i="0" u="none" strike="noStrike" cap="none" normalizeH="0" baseline="0" dirty="0" smtClean="0">
                <a:ln>
                  <a:noFill/>
                </a:ln>
                <a:solidFill>
                  <a:schemeClr val="tx1"/>
                </a:solidFill>
                <a:effectLst/>
                <a:latin typeface="+mn-ea"/>
                <a:ea typeface="+mn-ea"/>
                <a:cs typeface="Meiryo UI" panose="020B0604030504040204" pitchFamily="50" charset="-128"/>
              </a:rPr>
              <a:t> </a:t>
            </a: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Web page, Home, System Setting package.</a:t>
            </a:r>
          </a:p>
          <a:p>
            <a:pPr marL="0" marR="0" indent="0" algn="l" defTabSz="914400" rtl="0" eaLnBrk="1" fontAlgn="base" latinLnBrk="0" hangingPunct="1">
              <a:lnSpc>
                <a:spcPct val="90000"/>
              </a:lnSpc>
              <a:spcBef>
                <a:spcPct val="5000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endParaRP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Web Page Package provides CCRX function.</a:t>
            </a: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Home Application provides Home screen function.</a:t>
            </a:r>
            <a:endParaRPr kumimoji="1" lang="en-US" altLang="ja-JP" dirty="0" smtClean="0">
              <a:solidFill>
                <a:schemeClr val="tx1"/>
              </a:solidFill>
              <a:latin typeface="+mn-ea"/>
              <a:ea typeface="+mn-ea"/>
            </a:endParaRPr>
          </a:p>
          <a:p>
            <a:r>
              <a:rPr kumimoji="1" lang="en-US" altLang="ja-JP" dirty="0" smtClean="0"/>
              <a:t>System Setting Package</a:t>
            </a:r>
            <a:r>
              <a:rPr kumimoji="1" lang="ja-JP" altLang="en-US" baseline="0" dirty="0" smtClean="0"/>
              <a:t> </a:t>
            </a:r>
            <a:r>
              <a:rPr kumimoji="1" lang="en-US" altLang="ja-JP" baseline="0" dirty="0" smtClean="0"/>
              <a:t>provides </a:t>
            </a:r>
            <a:r>
              <a:rPr kumimoji="1" lang="en-US" altLang="ja-JP" dirty="0" smtClean="0"/>
              <a:t>System setting</a:t>
            </a:r>
            <a:r>
              <a:rPr kumimoji="1" lang="en-US" altLang="ja-JP" baseline="0" dirty="0" smtClean="0"/>
              <a:t> function.</a:t>
            </a:r>
            <a:endParaRPr kumimoji="1" lang="en-US" altLang="ja-JP" dirty="0" smtClean="0"/>
          </a:p>
          <a:p>
            <a:endParaRPr kumimoji="1" lang="en-US" altLang="ja-JP" dirty="0" smtClean="0"/>
          </a:p>
          <a:p>
            <a:r>
              <a:rPr kumimoji="1" lang="ja-JP" altLang="en-US" dirty="0" smtClean="0"/>
              <a:t>次に、</a:t>
            </a:r>
            <a:r>
              <a:rPr kumimoji="1" lang="en-US" altLang="ja-JP" dirty="0" smtClean="0">
                <a:solidFill>
                  <a:schemeClr val="tx1"/>
                </a:solidFill>
                <a:latin typeface="+mn-ea"/>
                <a:ea typeface="+mn-ea"/>
              </a:rPr>
              <a:t>Operation </a:t>
            </a:r>
            <a:r>
              <a:rPr kumimoji="1" lang="en-US" altLang="ja-JP" baseline="0" dirty="0" smtClean="0">
                <a:solidFill>
                  <a:schemeClr val="tx1"/>
                </a:solidFill>
                <a:latin typeface="+mn-ea"/>
                <a:ea typeface="+mn-ea"/>
              </a:rPr>
              <a:t>application category</a:t>
            </a:r>
            <a:r>
              <a:rPr kumimoji="1" lang="ja-JP" altLang="en-US" dirty="0" smtClean="0"/>
              <a:t>です。</a:t>
            </a:r>
            <a:endParaRPr kumimoji="1" lang="en-US" altLang="ja-JP" dirty="0" smtClean="0"/>
          </a:p>
          <a:p>
            <a:r>
              <a:rPr kumimoji="1" lang="ja-JP" altLang="en-US" dirty="0" smtClean="0"/>
              <a:t>このカテゴリには</a:t>
            </a:r>
            <a:r>
              <a:rPr kumimoji="1" lang="en-US" altLang="ja-JP" sz="1200" b="0" i="0" u="none" strike="noStrike" cap="none" normalizeH="0" baseline="0" dirty="0" smtClean="0">
                <a:ln>
                  <a:noFill/>
                </a:ln>
                <a:solidFill>
                  <a:schemeClr val="tx1"/>
                </a:solidFill>
                <a:effectLst/>
                <a:latin typeface="+mn-ea"/>
                <a:ea typeface="+mn-ea"/>
                <a:cs typeface="Meiryo UI" panose="020B0604030504040204" pitchFamily="50" charset="-128"/>
              </a:rPr>
              <a:t>Web page, Home, System Setting package</a:t>
            </a:r>
            <a:r>
              <a:rPr kumimoji="1" lang="ja-JP" altLang="en-US" sz="1200" b="0" i="0" u="none" strike="noStrike" cap="none" normalizeH="0" baseline="0" dirty="0" smtClean="0">
                <a:ln>
                  <a:noFill/>
                </a:ln>
                <a:solidFill>
                  <a:schemeClr val="tx1"/>
                </a:solidFill>
                <a:effectLst/>
                <a:latin typeface="+mn-ea"/>
                <a:ea typeface="+mn-ea"/>
                <a:cs typeface="Meiryo UI" panose="020B0604030504040204" pitchFamily="50" charset="-128"/>
              </a:rPr>
              <a:t>があります。</a:t>
            </a:r>
            <a:endParaRPr kumimoji="1" lang="en-US" altLang="ja-JP" dirty="0" smtClean="0"/>
          </a:p>
          <a:p>
            <a:endParaRPr kumimoji="1" lang="en-US" altLang="ja-JP" dirty="0" smtClean="0"/>
          </a:p>
          <a:p>
            <a:r>
              <a:rPr kumimoji="1" lang="en-US" altLang="ja-JP" dirty="0" smtClean="0"/>
              <a:t>Web Page Application</a:t>
            </a:r>
            <a:r>
              <a:rPr kumimoji="1" lang="ja-JP" altLang="en-US" dirty="0" smtClean="0"/>
              <a:t>は</a:t>
            </a:r>
            <a:r>
              <a:rPr kumimoji="1" lang="en-US" altLang="ja-JP" dirty="0" smtClean="0"/>
              <a:t>CCRX</a:t>
            </a:r>
            <a:r>
              <a:rPr kumimoji="1" lang="ja-JP" altLang="en-US" dirty="0" smtClean="0"/>
              <a:t>機能を提供します。</a:t>
            </a:r>
            <a:endParaRPr kumimoji="1" lang="en-US" altLang="ja-JP" dirty="0" smtClean="0"/>
          </a:p>
          <a:p>
            <a:r>
              <a:rPr kumimoji="1" lang="en-US" altLang="ja-JP" dirty="0" smtClean="0"/>
              <a:t>Home Application</a:t>
            </a:r>
            <a:r>
              <a:rPr kumimoji="1" lang="ja-JP" altLang="en-US" dirty="0" smtClean="0"/>
              <a:t>は</a:t>
            </a:r>
            <a:r>
              <a:rPr kumimoji="1" lang="en-US" altLang="ja-JP" dirty="0" smtClean="0"/>
              <a:t>Home</a:t>
            </a:r>
            <a:r>
              <a:rPr kumimoji="1" lang="ja-JP" altLang="en-US" dirty="0" smtClean="0"/>
              <a:t>画面機能を提供します。</a:t>
            </a:r>
            <a:endParaRPr kumimoji="1" lang="en-US" altLang="ja-JP" dirty="0" smtClean="0"/>
          </a:p>
          <a:p>
            <a:r>
              <a:rPr kumimoji="1" lang="en-US" altLang="ja-JP" dirty="0" smtClean="0"/>
              <a:t>System Setting Package</a:t>
            </a:r>
            <a:r>
              <a:rPr kumimoji="1" lang="ja-JP" altLang="en-US" dirty="0" smtClean="0"/>
              <a:t>は</a:t>
            </a:r>
            <a:r>
              <a:rPr kumimoji="1" lang="en-US" altLang="ja-JP" dirty="0" smtClean="0"/>
              <a:t>System</a:t>
            </a:r>
            <a:r>
              <a:rPr kumimoji="1" lang="ja-JP" altLang="en-US" dirty="0" smtClean="0"/>
              <a:t>設定機能を提供します。</a:t>
            </a:r>
            <a:endParaRPr kumimoji="1" lang="en-US" altLang="ja-JP" dirty="0" smtClean="0"/>
          </a:p>
          <a:p>
            <a:endParaRPr kumimoji="1" lang="ja-JP" altLang="en-US"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18</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solidFill>
                  <a:schemeClr val="tx1"/>
                </a:solidFill>
                <a:latin typeface="+mn-ea"/>
                <a:ea typeface="+mn-ea"/>
              </a:rPr>
              <a:t>Finally in Application layer,</a:t>
            </a:r>
            <a:r>
              <a:rPr kumimoji="1" lang="en-US" altLang="ja-JP" baseline="0" dirty="0" smtClean="0">
                <a:solidFill>
                  <a:schemeClr val="tx1"/>
                </a:solidFill>
                <a:latin typeface="+mn-ea"/>
                <a:ea typeface="+mn-ea"/>
              </a:rPr>
              <a:t> this is service cooperation application category.</a:t>
            </a:r>
            <a:endParaRPr kumimoji="1" lang="en-US" altLang="ja-JP" dirty="0" smtClean="0">
              <a:solidFill>
                <a:schemeClr val="tx1"/>
              </a:solidFill>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ja-JP" sz="1200" b="0" dirty="0" smtClean="0">
                <a:solidFill>
                  <a:schemeClr val="tx1"/>
                </a:solidFill>
                <a:latin typeface="+mn-ea"/>
                <a:ea typeface="+mn-ea"/>
                <a:cs typeface="Meiryo UI" panose="020B0604030504040204" pitchFamily="50" charset="-128"/>
              </a:rPr>
              <a:t>This application provides services that can be integrated with other services</a:t>
            </a:r>
            <a:r>
              <a:rPr lang="en-US" altLang="ja-JP" sz="1200" b="0" dirty="0" smtClean="0">
                <a:solidFill>
                  <a:schemeClr val="tx1"/>
                </a:solidFill>
                <a:latin typeface="+mn-ea"/>
                <a:ea typeface="+mn-ea"/>
              </a:rPr>
              <a:t>.</a:t>
            </a:r>
          </a:p>
          <a:p>
            <a:endParaRPr kumimoji="1" lang="en-US" altLang="ja-JP" dirty="0" smtClean="0">
              <a:solidFill>
                <a:schemeClr val="tx1"/>
              </a:solidFill>
              <a:latin typeface="+mn-ea"/>
              <a:ea typeface="+mn-ea"/>
            </a:endParaRPr>
          </a:p>
          <a:p>
            <a:r>
              <a:rPr kumimoji="1" lang="en-US" altLang="ja-JP" dirty="0" smtClean="0">
                <a:solidFill>
                  <a:schemeClr val="tx1"/>
                </a:solidFill>
                <a:latin typeface="+mn-ea"/>
                <a:ea typeface="+mn-ea"/>
              </a:rPr>
              <a:t>These component use function</a:t>
            </a:r>
            <a:r>
              <a:rPr kumimoji="1" lang="en-US" altLang="ja-JP" baseline="0" dirty="0" smtClean="0">
                <a:solidFill>
                  <a:schemeClr val="tx1"/>
                </a:solidFill>
                <a:latin typeface="+mn-ea"/>
                <a:ea typeface="+mn-ea"/>
              </a:rPr>
              <a:t> provided by </a:t>
            </a:r>
            <a:r>
              <a:rPr kumimoji="1" lang="en-US" altLang="ja-JP" dirty="0" smtClean="0">
                <a:solidFill>
                  <a:schemeClr val="tx1"/>
                </a:solidFill>
                <a:latin typeface="+mn-ea"/>
                <a:ea typeface="+mn-ea"/>
              </a:rPr>
              <a:t>basic function application, and provide as</a:t>
            </a:r>
            <a:r>
              <a:rPr kumimoji="1" lang="en-US" altLang="ja-JP" baseline="0" dirty="0" smtClean="0">
                <a:solidFill>
                  <a:schemeClr val="tx1"/>
                </a:solidFill>
                <a:latin typeface="+mn-ea"/>
                <a:ea typeface="+mn-ea"/>
              </a:rPr>
              <a:t> new function.</a:t>
            </a:r>
            <a:endParaRPr kumimoji="1" lang="en-US" altLang="ja-JP" dirty="0" smtClean="0">
              <a:solidFill>
                <a:schemeClr val="tx1"/>
              </a:solidFill>
              <a:latin typeface="+mn-ea"/>
              <a:ea typeface="+mn-ea"/>
            </a:endParaRPr>
          </a:p>
          <a:p>
            <a:endParaRPr kumimoji="1" lang="en-US" altLang="ja-JP" dirty="0" smtClean="0">
              <a:solidFill>
                <a:schemeClr val="tx1"/>
              </a:solidFill>
              <a:latin typeface="+mn-ea"/>
              <a:ea typeface="+mn-ea"/>
            </a:endParaRPr>
          </a:p>
          <a:p>
            <a:r>
              <a:rPr kumimoji="1" lang="en-US" altLang="ja-JP" dirty="0" smtClean="0">
                <a:solidFill>
                  <a:schemeClr val="tx1"/>
                </a:solidFill>
                <a:latin typeface="+mn-ea"/>
                <a:ea typeface="+mn-ea"/>
              </a:rPr>
              <a:t>Next I explain about Platform</a:t>
            </a:r>
            <a:r>
              <a:rPr kumimoji="1" lang="en-US" altLang="ja-JP" baseline="0" dirty="0" smtClean="0">
                <a:solidFill>
                  <a:schemeClr val="tx1"/>
                </a:solidFill>
                <a:latin typeface="+mn-ea"/>
                <a:ea typeface="+mn-ea"/>
              </a:rPr>
              <a:t> Service layer.</a:t>
            </a:r>
            <a:endParaRPr kumimoji="1" lang="en-US" altLang="ja-JP" dirty="0" smtClean="0">
              <a:solidFill>
                <a:schemeClr val="tx1"/>
              </a:solidFill>
              <a:latin typeface="+mn-ea"/>
              <a:ea typeface="+mn-ea"/>
            </a:endParaRPr>
          </a:p>
          <a:p>
            <a:endParaRPr kumimoji="1" lang="en-US" altLang="ja-JP" dirty="0" smtClean="0"/>
          </a:p>
          <a:p>
            <a:r>
              <a:rPr kumimoji="1" lang="ja-JP" altLang="en-US" dirty="0" smtClean="0"/>
              <a:t>最後に、サービス連携アプリケーションです。</a:t>
            </a:r>
            <a:endParaRPr kumimoji="1" lang="en-US" altLang="ja-JP" dirty="0" smtClean="0"/>
          </a:p>
          <a:p>
            <a:r>
              <a:rPr kumimoji="1" lang="ja-JP" altLang="en-US" dirty="0" smtClean="0"/>
              <a:t>このアプリケーションは、他のアプリケーションを連携することで機能を提供することができるアプリケーションです。</a:t>
            </a:r>
            <a:endParaRPr kumimoji="1" lang="en-US" altLang="ja-JP" dirty="0" smtClean="0"/>
          </a:p>
          <a:p>
            <a:endParaRPr kumimoji="1" lang="en-US" altLang="ja-JP" dirty="0" smtClean="0"/>
          </a:p>
          <a:p>
            <a:r>
              <a:rPr kumimoji="1" lang="ja-JP" altLang="en-US" dirty="0" smtClean="0"/>
              <a:t>これらのコンポーネントは基本機能アプリケーションによって提供される機能を使用し、新機能を提供します。</a:t>
            </a:r>
            <a:endParaRPr kumimoji="1" lang="en-US" altLang="ja-JP" dirty="0" smtClean="0"/>
          </a:p>
          <a:p>
            <a:endParaRPr kumimoji="1" lang="en-US" altLang="ja-JP" dirty="0" smtClean="0"/>
          </a:p>
          <a:p>
            <a:r>
              <a:rPr kumimoji="1" lang="ja-JP" altLang="en-US" dirty="0" smtClean="0"/>
              <a:t>次に、</a:t>
            </a:r>
            <a:r>
              <a:rPr kumimoji="1" lang="en-US" altLang="ja-JP" dirty="0" err="1" smtClean="0"/>
              <a:t>PlatformService</a:t>
            </a:r>
            <a:r>
              <a:rPr kumimoji="1" lang="ja-JP" altLang="en-US" dirty="0" smtClean="0"/>
              <a:t>レイヤについて説明します。</a:t>
            </a:r>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19</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latin typeface="+mn-ea"/>
                <a:ea typeface="+mn-ea"/>
              </a:rPr>
              <a:t>Image Processing package </a:t>
            </a:r>
            <a:r>
              <a:rPr lang="en-US" altLang="ja-JP" sz="1200" b="0" dirty="0" smtClean="0">
                <a:solidFill>
                  <a:schemeClr val="bg1"/>
                </a:solidFill>
                <a:latin typeface="+mn-ea"/>
                <a:ea typeface="+mn-ea"/>
                <a:cs typeface="Meiryo UI" panose="020B0604030504040204" pitchFamily="50" charset="-128"/>
              </a:rPr>
              <a:t>provides structure for Image Processing service. </a:t>
            </a:r>
          </a:p>
          <a:p>
            <a:r>
              <a:rPr kumimoji="1" lang="en-US" altLang="ja-JP" dirty="0" smtClean="0">
                <a:latin typeface="+mn-ea"/>
                <a:ea typeface="+mn-ea"/>
              </a:rPr>
              <a:t>This package</a:t>
            </a:r>
            <a:r>
              <a:rPr kumimoji="1" lang="en-US" altLang="ja-JP" baseline="0" dirty="0" smtClean="0">
                <a:latin typeface="+mn-ea"/>
                <a:ea typeface="+mn-ea"/>
              </a:rPr>
              <a:t> includes these components.</a:t>
            </a:r>
          </a:p>
          <a:p>
            <a:endParaRPr kumimoji="1" lang="en-US" altLang="ja-JP" dirty="0" smtClean="0">
              <a:latin typeface="+mn-ea"/>
              <a:ea typeface="+mn-ea"/>
            </a:endParaRPr>
          </a:p>
          <a:p>
            <a:r>
              <a:rPr kumimoji="1" lang="en-US" altLang="ja-JP" dirty="0" err="1" smtClean="0">
                <a:latin typeface="+mn-ea"/>
                <a:ea typeface="+mn-ea"/>
              </a:rPr>
              <a:t>impMSM</a:t>
            </a:r>
            <a:r>
              <a:rPr kumimoji="1" lang="en-US" altLang="ja-JP" dirty="0" smtClean="0">
                <a:latin typeface="+mn-ea"/>
                <a:ea typeface="+mn-ea"/>
              </a:rPr>
              <a:t> </a:t>
            </a:r>
            <a:r>
              <a:rPr kumimoji="1" lang="ja-JP" altLang="en-US" baseline="0" dirty="0" smtClean="0">
                <a:latin typeface="+mn-ea"/>
                <a:ea typeface="+mn-ea"/>
              </a:rPr>
              <a:t> </a:t>
            </a:r>
            <a:r>
              <a:rPr kumimoji="1" lang="en-US" altLang="ja-JP" baseline="0" dirty="0" smtClean="0">
                <a:latin typeface="+mn-ea"/>
                <a:ea typeface="+mn-ea"/>
              </a:rPr>
              <a:t>manages the </a:t>
            </a:r>
            <a:r>
              <a:rPr kumimoji="1" lang="en-US" altLang="ja-JP" dirty="0" smtClean="0">
                <a:latin typeface="+mn-ea"/>
                <a:ea typeface="+mn-ea"/>
              </a:rPr>
              <a:t>mission components. </a:t>
            </a:r>
          </a:p>
          <a:p>
            <a:r>
              <a:rPr kumimoji="1" lang="en-US" altLang="ja-JP" dirty="0" err="1" smtClean="0">
                <a:latin typeface="+mn-ea"/>
                <a:ea typeface="+mn-ea"/>
              </a:rPr>
              <a:t>impMSM</a:t>
            </a:r>
            <a:r>
              <a:rPr kumimoji="1" lang="en-US" altLang="ja-JP" dirty="0" smtClean="0">
                <a:latin typeface="+mn-ea"/>
                <a:ea typeface="+mn-ea"/>
              </a:rPr>
              <a:t>  </a:t>
            </a:r>
            <a:r>
              <a:rPr kumimoji="1" lang="en-US" altLang="ja-JP" sz="1200" kern="1200" dirty="0" smtClean="0">
                <a:solidFill>
                  <a:schemeClr val="tx1"/>
                </a:solidFill>
                <a:latin typeface="+mn-lt"/>
                <a:ea typeface="+mn-ea"/>
                <a:cs typeface="+mn-cs"/>
              </a:rPr>
              <a:t>manages the number of Input Mission, Edit Mission, and Output Mission started inside of the WiseCore4S controller system.</a:t>
            </a:r>
            <a:endParaRPr kumimoji="1" lang="ja-JP" altLang="ja-JP" sz="1200" kern="1200" dirty="0" smtClean="0">
              <a:solidFill>
                <a:schemeClr val="tx1"/>
              </a:solidFill>
              <a:latin typeface="+mn-lt"/>
              <a:ea typeface="+mn-ea"/>
              <a:cs typeface="+mn-cs"/>
            </a:endParaRPr>
          </a:p>
          <a:p>
            <a:r>
              <a:rPr kumimoji="1" lang="en-US" altLang="ja-JP" sz="1200" kern="1200" dirty="0" smtClean="0">
                <a:solidFill>
                  <a:schemeClr val="tx1"/>
                </a:solidFill>
                <a:latin typeface="+mn-lt"/>
                <a:ea typeface="+mn-ea"/>
                <a:cs typeface="+mn-cs"/>
              </a:rPr>
              <a:t>And </a:t>
            </a:r>
            <a:r>
              <a:rPr kumimoji="1" lang="en-US" altLang="ja-JP" dirty="0" err="1" smtClean="0">
                <a:latin typeface="+mn-ea"/>
                <a:ea typeface="+mn-ea"/>
              </a:rPr>
              <a:t>impMSM</a:t>
            </a:r>
            <a:r>
              <a:rPr kumimoji="1" lang="en-US" altLang="ja-JP" dirty="0" smtClean="0">
                <a:latin typeface="+mn-ea"/>
                <a:ea typeface="+mn-ea"/>
              </a:rPr>
              <a:t>  </a:t>
            </a:r>
            <a:r>
              <a:rPr kumimoji="1" lang="en-US" altLang="ja-JP" sz="1200" kern="1200" dirty="0" smtClean="0">
                <a:solidFill>
                  <a:schemeClr val="tx1"/>
                </a:solidFill>
                <a:latin typeface="+mn-lt"/>
                <a:ea typeface="+mn-ea"/>
                <a:cs typeface="+mn-cs"/>
              </a:rPr>
              <a:t>controls the processing order of each Mission.</a:t>
            </a:r>
            <a:endParaRPr kumimoji="1" lang="en-US" altLang="ja-JP" dirty="0" smtClean="0"/>
          </a:p>
          <a:p>
            <a:endParaRPr kumimoji="1" lang="en-US" altLang="ja-JP" dirty="0" smtClean="0"/>
          </a:p>
          <a:p>
            <a:r>
              <a:rPr kumimoji="1" lang="en-US" altLang="ja-JP" dirty="0" smtClean="0"/>
              <a:t>Image Processing</a:t>
            </a:r>
            <a:r>
              <a:rPr kumimoji="1" lang="ja-JP" altLang="en-US" dirty="0" smtClean="0"/>
              <a:t>パッケージは画像処理における仕組みを提供するパッケージです。</a:t>
            </a:r>
            <a:endParaRPr kumimoji="1" lang="en-US" altLang="ja-JP" dirty="0" smtClean="0"/>
          </a:p>
          <a:p>
            <a:r>
              <a:rPr kumimoji="1" lang="ja-JP" altLang="en-US" dirty="0" smtClean="0"/>
              <a:t>このパッケージには、これらのコンポーネントが含まれています。</a:t>
            </a:r>
            <a:endParaRPr kumimoji="1" lang="en-US" altLang="ja-JP" dirty="0" smtClean="0"/>
          </a:p>
          <a:p>
            <a:endParaRPr kumimoji="1" lang="en-US" altLang="ja-JP" dirty="0" smtClean="0"/>
          </a:p>
          <a:p>
            <a:r>
              <a:rPr kumimoji="1" lang="en-US" altLang="ja-JP" dirty="0" err="1" smtClean="0"/>
              <a:t>impMSM</a:t>
            </a:r>
            <a:r>
              <a:rPr kumimoji="1" lang="ja-JP" altLang="en-US" dirty="0" smtClean="0"/>
              <a:t>は</a:t>
            </a:r>
            <a:r>
              <a:rPr kumimoji="1" lang="en-US" altLang="ja-JP" dirty="0" smtClean="0"/>
              <a:t>Mission</a:t>
            </a:r>
            <a:r>
              <a:rPr kumimoji="1" lang="ja-JP" altLang="en-US" dirty="0" smtClean="0"/>
              <a:t>管理を行い、</a:t>
            </a:r>
            <a:r>
              <a:rPr kumimoji="1" lang="en-US" altLang="ja-JP" sz="1200" kern="1200" dirty="0" smtClean="0">
                <a:solidFill>
                  <a:schemeClr val="tx1"/>
                </a:solidFill>
                <a:latin typeface="+mn-lt"/>
                <a:ea typeface="+mn-ea"/>
                <a:cs typeface="+mn-cs"/>
              </a:rPr>
              <a:t>WiseCore4S</a:t>
            </a:r>
            <a:r>
              <a:rPr kumimoji="1" lang="ja-JP" altLang="ja-JP" sz="1200" kern="1200" dirty="0" smtClean="0">
                <a:solidFill>
                  <a:schemeClr val="tx1"/>
                </a:solidFill>
                <a:latin typeface="+mn-lt"/>
                <a:ea typeface="+mn-ea"/>
                <a:cs typeface="+mn-cs"/>
              </a:rPr>
              <a:t>コントローラシステム内部で起動している</a:t>
            </a:r>
            <a:r>
              <a:rPr kumimoji="1" lang="en-US" altLang="ja-JP" sz="1200" kern="1200" dirty="0" smtClean="0">
                <a:solidFill>
                  <a:schemeClr val="tx1"/>
                </a:solidFill>
                <a:latin typeface="+mn-lt"/>
                <a:ea typeface="+mn-ea"/>
                <a:cs typeface="+mn-cs"/>
              </a:rPr>
              <a:t>Input Mission</a:t>
            </a:r>
            <a:r>
              <a:rPr kumimoji="1" lang="ja-JP" altLang="ja-JP" sz="1200" kern="1200" dirty="0" err="1" smtClean="0">
                <a:solidFill>
                  <a:schemeClr val="tx1"/>
                </a:solidFill>
                <a:latin typeface="+mn-lt"/>
                <a:ea typeface="+mn-ea"/>
                <a:cs typeface="+mn-cs"/>
              </a:rPr>
              <a:t>、</a:t>
            </a:r>
            <a:r>
              <a:rPr kumimoji="1" lang="en-US" altLang="ja-JP" sz="1200" kern="1200" dirty="0" smtClean="0">
                <a:solidFill>
                  <a:schemeClr val="tx1"/>
                </a:solidFill>
                <a:latin typeface="+mn-lt"/>
                <a:ea typeface="+mn-ea"/>
                <a:cs typeface="+mn-cs"/>
              </a:rPr>
              <a:t>Edit Mission</a:t>
            </a:r>
            <a:r>
              <a:rPr kumimoji="1" lang="ja-JP" altLang="ja-JP" sz="1200" kern="1200" dirty="0" err="1" smtClean="0">
                <a:solidFill>
                  <a:schemeClr val="tx1"/>
                </a:solidFill>
                <a:latin typeface="+mn-lt"/>
                <a:ea typeface="+mn-ea"/>
                <a:cs typeface="+mn-cs"/>
              </a:rPr>
              <a:t>、</a:t>
            </a:r>
            <a:r>
              <a:rPr kumimoji="1" lang="en-US" altLang="ja-JP" sz="1200" kern="1200" dirty="0" smtClean="0">
                <a:solidFill>
                  <a:schemeClr val="tx1"/>
                </a:solidFill>
                <a:latin typeface="+mn-lt"/>
                <a:ea typeface="+mn-ea"/>
                <a:cs typeface="+mn-cs"/>
              </a:rPr>
              <a:t>Output Mission</a:t>
            </a:r>
            <a:r>
              <a:rPr kumimoji="1" lang="ja-JP" altLang="ja-JP" sz="1200" kern="1200" dirty="0" smtClean="0">
                <a:solidFill>
                  <a:schemeClr val="tx1"/>
                </a:solidFill>
                <a:latin typeface="+mn-lt"/>
                <a:ea typeface="+mn-ea"/>
                <a:cs typeface="+mn-cs"/>
              </a:rPr>
              <a:t>の起動数を管理</a:t>
            </a:r>
            <a:r>
              <a:rPr kumimoji="1" lang="ja-JP" altLang="en-US" sz="1200" kern="1200" dirty="0" smtClean="0">
                <a:solidFill>
                  <a:schemeClr val="tx1"/>
                </a:solidFill>
                <a:latin typeface="+mn-lt"/>
                <a:ea typeface="+mn-ea"/>
                <a:cs typeface="+mn-cs"/>
              </a:rPr>
              <a:t>します</a:t>
            </a:r>
            <a:r>
              <a:rPr kumimoji="1" lang="ja-JP" altLang="ja-JP" sz="1200" kern="1200" dirty="0" smtClean="0">
                <a:solidFill>
                  <a:schemeClr val="tx1"/>
                </a:solidFill>
                <a:latin typeface="+mn-lt"/>
                <a:ea typeface="+mn-ea"/>
                <a:cs typeface="+mn-cs"/>
              </a:rPr>
              <a:t>。</a:t>
            </a:r>
          </a:p>
          <a:p>
            <a:r>
              <a:rPr kumimoji="1" lang="ja-JP" altLang="en-US" sz="1200" kern="1200" dirty="0" smtClean="0">
                <a:solidFill>
                  <a:schemeClr val="tx1"/>
                </a:solidFill>
                <a:latin typeface="+mn-lt"/>
                <a:ea typeface="+mn-ea"/>
                <a:cs typeface="+mn-cs"/>
              </a:rPr>
              <a:t>また、</a:t>
            </a:r>
            <a:r>
              <a:rPr kumimoji="1" lang="ja-JP" altLang="ja-JP" sz="1200" kern="1200" dirty="0" smtClean="0">
                <a:solidFill>
                  <a:schemeClr val="tx1"/>
                </a:solidFill>
                <a:latin typeface="+mn-lt"/>
                <a:ea typeface="+mn-ea"/>
                <a:cs typeface="+mn-cs"/>
              </a:rPr>
              <a:t>各</a:t>
            </a:r>
            <a:r>
              <a:rPr kumimoji="1" lang="en-US" altLang="ja-JP" sz="1200" kern="1200" dirty="0" smtClean="0">
                <a:solidFill>
                  <a:schemeClr val="tx1"/>
                </a:solidFill>
                <a:latin typeface="+mn-lt"/>
                <a:ea typeface="+mn-ea"/>
                <a:cs typeface="+mn-cs"/>
              </a:rPr>
              <a:t>Mission</a:t>
            </a:r>
            <a:r>
              <a:rPr kumimoji="1" lang="ja-JP" altLang="ja-JP" sz="1200" kern="1200" dirty="0" smtClean="0">
                <a:solidFill>
                  <a:schemeClr val="tx1"/>
                </a:solidFill>
                <a:latin typeface="+mn-lt"/>
                <a:ea typeface="+mn-ea"/>
                <a:cs typeface="+mn-cs"/>
              </a:rPr>
              <a:t>の処理順序を制御</a:t>
            </a:r>
            <a:r>
              <a:rPr kumimoji="1" lang="ja-JP" altLang="en-US" sz="1200" kern="1200" dirty="0" smtClean="0">
                <a:solidFill>
                  <a:schemeClr val="tx1"/>
                </a:solidFill>
                <a:latin typeface="+mn-lt"/>
                <a:ea typeface="+mn-ea"/>
                <a:cs typeface="+mn-cs"/>
              </a:rPr>
              <a:t>します</a:t>
            </a:r>
            <a:r>
              <a:rPr kumimoji="1" lang="ja-JP" altLang="ja-JP" sz="1200" kern="1200" dirty="0" smtClean="0">
                <a:solidFill>
                  <a:schemeClr val="tx1"/>
                </a:solidFill>
                <a:latin typeface="+mn-lt"/>
                <a:ea typeface="+mn-ea"/>
                <a:cs typeface="+mn-cs"/>
              </a:rPr>
              <a:t>。</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20</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b="0" dirty="0" smtClean="0">
                <a:latin typeface="+mn-ea"/>
                <a:ea typeface="+mn-ea"/>
              </a:rPr>
              <a:t>Device</a:t>
            </a:r>
            <a:r>
              <a:rPr kumimoji="1" lang="en-US" altLang="ja-JP" b="0" baseline="0" dirty="0" smtClean="0">
                <a:latin typeface="+mn-ea"/>
                <a:ea typeface="+mn-ea"/>
              </a:rPr>
              <a:t> Operation package </a:t>
            </a:r>
            <a:r>
              <a:rPr lang="en-US" altLang="ja-JP" sz="1200" b="0" dirty="0" smtClean="0">
                <a:solidFill>
                  <a:schemeClr val="bg1"/>
                </a:solidFill>
                <a:latin typeface="+mn-ea"/>
                <a:ea typeface="+mn-ea"/>
                <a:cs typeface="Meiryo UI" panose="020B0604030504040204" pitchFamily="50" charset="-128"/>
              </a:rPr>
              <a:t>provides structure for </a:t>
            </a:r>
            <a:r>
              <a:rPr lang="en-US" altLang="ja-JP" sz="1200" b="0" dirty="0" smtClean="0">
                <a:latin typeface="+mn-ea"/>
                <a:ea typeface="+mn-ea"/>
                <a:cs typeface="Meiryo UI" panose="020B0604030504040204" pitchFamily="50" charset="-128"/>
              </a:rPr>
              <a:t>device operation and panel display</a:t>
            </a:r>
            <a:r>
              <a:rPr lang="en-US" altLang="ja-JP" sz="1200" b="0" dirty="0" smtClean="0">
                <a:solidFill>
                  <a:schemeClr val="bg1"/>
                </a:solidFill>
                <a:latin typeface="+mn-ea"/>
                <a:ea typeface="+mn-ea"/>
                <a:cs typeface="Meiryo UI" panose="020B0604030504040204" pitchFamily="50" charset="-128"/>
              </a:rPr>
              <a:t>. </a:t>
            </a:r>
          </a:p>
          <a:p>
            <a:r>
              <a:rPr kumimoji="1" lang="en-US" altLang="ja-JP" dirty="0" smtClean="0">
                <a:latin typeface="+mn-ea"/>
                <a:ea typeface="+mn-ea"/>
              </a:rPr>
              <a:t>This package provides interface for device</a:t>
            </a:r>
            <a:r>
              <a:rPr kumimoji="1" lang="en-US" altLang="ja-JP" baseline="0" dirty="0" smtClean="0">
                <a:latin typeface="+mn-ea"/>
                <a:ea typeface="+mn-ea"/>
              </a:rPr>
              <a:t> operation, </a:t>
            </a:r>
            <a:r>
              <a:rPr kumimoji="1" lang="en-US" altLang="ja-JP" dirty="0" smtClean="0">
                <a:latin typeface="+mn-ea"/>
                <a:ea typeface="+mn-ea"/>
              </a:rPr>
              <a:t>which is changed for using</a:t>
            </a:r>
            <a:r>
              <a:rPr kumimoji="1" lang="en-US" altLang="ja-JP" baseline="0" dirty="0" smtClean="0">
                <a:latin typeface="+mn-ea"/>
                <a:ea typeface="+mn-ea"/>
              </a:rPr>
              <a:t> easily in Application.</a:t>
            </a:r>
            <a:endParaRPr kumimoji="1" lang="en-US" altLang="ja-JP" dirty="0" smtClean="0">
              <a:latin typeface="+mn-ea"/>
              <a:ea typeface="+mn-ea"/>
            </a:endParaRPr>
          </a:p>
          <a:p>
            <a:endParaRPr kumimoji="1" lang="en-US" altLang="ja-JP" dirty="0" smtClean="0"/>
          </a:p>
          <a:p>
            <a:r>
              <a:rPr kumimoji="1" lang="en-US" altLang="ja-JP" dirty="0" smtClean="0"/>
              <a:t>Device Operation</a:t>
            </a:r>
            <a:r>
              <a:rPr kumimoji="1" lang="ja-JP" altLang="en-US" dirty="0" smtClean="0"/>
              <a:t>パッケージは、デバイス操作の仕組みを提供するパッケージです。</a:t>
            </a:r>
            <a:endParaRPr kumimoji="1" lang="en-US" altLang="ja-JP" dirty="0" smtClean="0"/>
          </a:p>
          <a:p>
            <a:r>
              <a:rPr kumimoji="1" lang="ja-JP" altLang="en-US" dirty="0" smtClean="0"/>
              <a:t>このパッケージは、主に</a:t>
            </a:r>
            <a:r>
              <a:rPr kumimoji="1" lang="en-US" altLang="ja-JP" dirty="0" smtClean="0"/>
              <a:t>Element</a:t>
            </a:r>
            <a:r>
              <a:rPr kumimoji="1" lang="ja-JP" altLang="en-US" dirty="0" smtClean="0"/>
              <a:t>層に配置される</a:t>
            </a:r>
            <a:r>
              <a:rPr kumimoji="1" lang="en-US" altLang="ja-JP" dirty="0" smtClean="0"/>
              <a:t>Device Control</a:t>
            </a:r>
            <a:r>
              <a:rPr kumimoji="1" lang="ja-JP" altLang="en-US" dirty="0" smtClean="0"/>
              <a:t>の操作の内、アプリケーション側で使用するインタフェースを公開しています。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21</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base">
              <a:lnSpc>
                <a:spcPct val="90000"/>
              </a:lnSpc>
              <a:spcBef>
                <a:spcPct val="50000"/>
              </a:spcBef>
            </a:pPr>
            <a:r>
              <a:rPr lang="en-US" altLang="ja-JP" sz="1200" b="0" dirty="0" smtClean="0">
                <a:solidFill>
                  <a:schemeClr val="tx1"/>
                </a:solidFill>
                <a:latin typeface="+mn-ea"/>
                <a:ea typeface="+mn-ea"/>
                <a:cs typeface="Meiryo UI" panose="020B0604030504040204" pitchFamily="50" charset="-128"/>
              </a:rPr>
              <a:t>Communication package provides application layer with structure for communication with MFP external systems.</a:t>
            </a:r>
          </a:p>
          <a:p>
            <a:r>
              <a:rPr kumimoji="1" lang="en-US" altLang="ja-JP" b="0" dirty="0" smtClean="0">
                <a:solidFill>
                  <a:schemeClr val="tx1"/>
                </a:solidFill>
                <a:latin typeface="+mn-ea"/>
                <a:ea typeface="+mn-ea"/>
              </a:rPr>
              <a:t>This Package has these components.</a:t>
            </a:r>
          </a:p>
          <a:p>
            <a:endParaRPr kumimoji="1" lang="en-US" altLang="ja-JP" dirty="0" smtClean="0">
              <a:solidFill>
                <a:schemeClr val="tx1"/>
              </a:solidFill>
              <a:latin typeface="+mn-ea"/>
              <a:ea typeface="+mn-ea"/>
            </a:endParaRPr>
          </a:p>
          <a:p>
            <a:r>
              <a:rPr kumimoji="1" lang="en-US" altLang="ja-JP" dirty="0" smtClean="0">
                <a:solidFill>
                  <a:schemeClr val="tx1"/>
                </a:solidFill>
                <a:latin typeface="+mn-ea"/>
                <a:ea typeface="+mn-ea"/>
              </a:rPr>
              <a:t>Communication</a:t>
            </a:r>
            <a:r>
              <a:rPr kumimoji="1" lang="ja-JP" altLang="en-US" dirty="0" smtClean="0">
                <a:solidFill>
                  <a:schemeClr val="tx1"/>
                </a:solidFill>
                <a:latin typeface="+mn-ea"/>
                <a:ea typeface="+mn-ea"/>
              </a:rPr>
              <a:t>パッケージは、</a:t>
            </a:r>
            <a:r>
              <a:rPr kumimoji="1" lang="en-US" altLang="ja-JP" dirty="0" smtClean="0">
                <a:solidFill>
                  <a:schemeClr val="tx1"/>
                </a:solidFill>
                <a:latin typeface="+mn-ea"/>
                <a:ea typeface="+mn-ea"/>
              </a:rPr>
              <a:t>MFP</a:t>
            </a:r>
            <a:r>
              <a:rPr kumimoji="1" lang="ja-JP" altLang="en-US" dirty="0" smtClean="0">
                <a:solidFill>
                  <a:schemeClr val="tx1"/>
                </a:solidFill>
                <a:latin typeface="+mn-ea"/>
                <a:ea typeface="+mn-ea"/>
              </a:rPr>
              <a:t>外部システムとの通信の仕組みを提供するパッケージです。</a:t>
            </a:r>
            <a:endParaRPr kumimoji="1" lang="en-US" altLang="ja-JP" dirty="0" smtClean="0">
              <a:solidFill>
                <a:schemeClr val="tx1"/>
              </a:solidFill>
              <a:latin typeface="+mn-ea"/>
              <a:ea typeface="+mn-ea"/>
            </a:endParaRPr>
          </a:p>
          <a:p>
            <a:r>
              <a:rPr kumimoji="1" lang="ja-JP" altLang="en-US" dirty="0" smtClean="0">
                <a:solidFill>
                  <a:schemeClr val="tx1"/>
                </a:solidFill>
                <a:latin typeface="+mn-ea"/>
                <a:ea typeface="+mn-ea"/>
              </a:rPr>
              <a:t>このパッケージには、これらのコンポーネントが含まれます。</a:t>
            </a:r>
            <a:endParaRPr kumimoji="1" lang="en-US" altLang="ja-JP" dirty="0" smtClean="0"/>
          </a:p>
          <a:p>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22</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Data Access package provides structure for Data operation/Reference/Setting.</a:t>
            </a: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This package provides</a:t>
            </a:r>
            <a:r>
              <a:rPr lang="en-US" altLang="ja-JP" sz="1200" b="0" baseline="0" dirty="0" smtClean="0">
                <a:solidFill>
                  <a:schemeClr val="tx1"/>
                </a:solidFill>
                <a:latin typeface="+mn-ea"/>
                <a:ea typeface="+mn-ea"/>
                <a:cs typeface="Meiryo UI" panose="020B0604030504040204" pitchFamily="50" charset="-128"/>
              </a:rPr>
              <a:t> interface to access each Entity</a:t>
            </a:r>
            <a:r>
              <a:rPr lang="ja-JP" altLang="en-US" sz="1200" b="0" baseline="0" dirty="0" smtClean="0">
                <a:solidFill>
                  <a:schemeClr val="tx1"/>
                </a:solidFill>
                <a:latin typeface="+mn-ea"/>
                <a:ea typeface="+mn-ea"/>
                <a:cs typeface="Meiryo UI" panose="020B0604030504040204" pitchFamily="50" charset="-128"/>
              </a:rPr>
              <a:t> </a:t>
            </a:r>
            <a:r>
              <a:rPr lang="en-US" altLang="ja-JP" sz="1200" b="0" baseline="0" dirty="0" smtClean="0">
                <a:solidFill>
                  <a:schemeClr val="tx1"/>
                </a:solidFill>
                <a:latin typeface="+mn-ea"/>
                <a:ea typeface="+mn-ea"/>
                <a:cs typeface="Meiryo UI" panose="020B0604030504040204" pitchFamily="50" charset="-128"/>
              </a:rPr>
              <a:t>for Application Layer.</a:t>
            </a:r>
          </a:p>
          <a:p>
            <a:endParaRPr kumimoji="1" lang="en-US" altLang="ja-JP" sz="1200" b="0" dirty="0" smtClean="0">
              <a:solidFill>
                <a:schemeClr val="tx1"/>
              </a:solidFill>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User Authentication provides structure for authentication and authorization.</a:t>
            </a:r>
          </a:p>
          <a:p>
            <a:endParaRPr kumimoji="1" lang="en-US" altLang="ja-JP" sz="1200" b="0" dirty="0" smtClean="0">
              <a:solidFill>
                <a:schemeClr val="tx1"/>
              </a:solidFill>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Platform System Management manages device and network states.</a:t>
            </a:r>
          </a:p>
          <a:p>
            <a:r>
              <a:rPr kumimoji="1" lang="en-US" altLang="ja-JP" sz="1200" b="0" dirty="0" smtClean="0">
                <a:solidFill>
                  <a:schemeClr val="tx1"/>
                </a:solidFill>
                <a:latin typeface="+mn-ea"/>
                <a:ea typeface="+mn-ea"/>
              </a:rPr>
              <a:t>This package</a:t>
            </a:r>
            <a:r>
              <a:rPr kumimoji="1" lang="en-US" altLang="ja-JP" sz="1200" b="0" baseline="0" dirty="0" smtClean="0">
                <a:solidFill>
                  <a:schemeClr val="tx1"/>
                </a:solidFill>
                <a:latin typeface="+mn-ea"/>
                <a:ea typeface="+mn-ea"/>
              </a:rPr>
              <a:t> has </a:t>
            </a:r>
            <a:r>
              <a:rPr kumimoji="1" lang="en-US" altLang="ja-JP" sz="1200" b="0" baseline="0" dirty="0" err="1" smtClean="0">
                <a:solidFill>
                  <a:schemeClr val="tx1"/>
                </a:solidFill>
                <a:latin typeface="+mn-ea"/>
                <a:ea typeface="+mn-ea"/>
              </a:rPr>
              <a:t>psmSYM</a:t>
            </a:r>
            <a:r>
              <a:rPr kumimoji="1" lang="en-US" altLang="ja-JP" sz="1200" b="0" baseline="0" dirty="0" smtClean="0">
                <a:solidFill>
                  <a:schemeClr val="tx1"/>
                </a:solidFill>
                <a:latin typeface="+mn-ea"/>
                <a:ea typeface="+mn-ea"/>
              </a:rPr>
              <a:t> which is for Energy saving and Event handling.</a:t>
            </a:r>
          </a:p>
          <a:p>
            <a:r>
              <a:rPr kumimoji="1" lang="en-US" altLang="ja-JP" sz="1200" b="0" baseline="0" dirty="0" smtClean="0">
                <a:solidFill>
                  <a:schemeClr val="tx1"/>
                </a:solidFill>
                <a:latin typeface="+mn-ea"/>
                <a:ea typeface="+mn-ea"/>
              </a:rPr>
              <a:t>This component communicate with </a:t>
            </a:r>
            <a:r>
              <a:rPr kumimoji="1" lang="en-US" altLang="ja-JP" sz="1200" b="0" baseline="0" dirty="0" err="1" smtClean="0">
                <a:solidFill>
                  <a:schemeClr val="tx1"/>
                </a:solidFill>
                <a:latin typeface="+mn-ea"/>
                <a:ea typeface="+mn-ea"/>
              </a:rPr>
              <a:t>symESM</a:t>
            </a:r>
            <a:r>
              <a:rPr kumimoji="1" lang="en-US" altLang="ja-JP" sz="1200" b="0" baseline="0" dirty="0" smtClean="0">
                <a:solidFill>
                  <a:schemeClr val="tx1"/>
                </a:solidFill>
                <a:latin typeface="+mn-ea"/>
                <a:ea typeface="+mn-ea"/>
              </a:rPr>
              <a:t>  and </a:t>
            </a:r>
            <a:r>
              <a:rPr kumimoji="1" lang="en-US" altLang="ja-JP" sz="1200" b="0" baseline="0" dirty="0" err="1" smtClean="0">
                <a:solidFill>
                  <a:schemeClr val="tx1"/>
                </a:solidFill>
                <a:latin typeface="+mn-ea"/>
                <a:ea typeface="+mn-ea"/>
              </a:rPr>
              <a:t>symSTM</a:t>
            </a:r>
            <a:r>
              <a:rPr kumimoji="1" lang="en-US" altLang="ja-JP" sz="1200" b="0" baseline="0" dirty="0" smtClean="0">
                <a:solidFill>
                  <a:schemeClr val="tx1"/>
                </a:solidFill>
                <a:latin typeface="+mn-ea"/>
                <a:ea typeface="+mn-ea"/>
              </a:rPr>
              <a:t> in Application side.</a:t>
            </a:r>
          </a:p>
          <a:p>
            <a:r>
              <a:rPr kumimoji="1" lang="en-US" altLang="ja-JP" sz="1200" b="0" dirty="0" smtClean="0">
                <a:solidFill>
                  <a:schemeClr val="tx1"/>
                </a:solidFill>
                <a:latin typeface="+mn-ea"/>
                <a:ea typeface="+mn-ea"/>
              </a:rPr>
              <a:t>And</a:t>
            </a:r>
            <a:r>
              <a:rPr kumimoji="1" lang="en-US" altLang="ja-JP" sz="1200" b="0" baseline="0" dirty="0" smtClean="0">
                <a:solidFill>
                  <a:schemeClr val="tx1"/>
                </a:solidFill>
                <a:latin typeface="+mn-ea"/>
                <a:ea typeface="+mn-ea"/>
              </a:rPr>
              <a:t> also this package has </a:t>
            </a:r>
            <a:r>
              <a:rPr kumimoji="1" lang="en-US" altLang="ja-JP" sz="1200" b="0" baseline="0" dirty="0" err="1" smtClean="0">
                <a:solidFill>
                  <a:schemeClr val="tx1"/>
                </a:solidFill>
                <a:latin typeface="+mn-ea"/>
                <a:ea typeface="+mn-ea"/>
              </a:rPr>
              <a:t>psmNWM</a:t>
            </a:r>
            <a:r>
              <a:rPr kumimoji="1" lang="en-US" altLang="ja-JP" sz="1200" b="0" baseline="0" dirty="0" smtClean="0">
                <a:solidFill>
                  <a:schemeClr val="tx1"/>
                </a:solidFill>
                <a:latin typeface="+mn-ea"/>
                <a:ea typeface="+mn-ea"/>
              </a:rPr>
              <a:t> which is for Network management</a:t>
            </a:r>
            <a:endParaRPr kumimoji="1" lang="en-US" altLang="ja-JP" sz="1200" b="0" dirty="0" smtClean="0">
              <a:solidFill>
                <a:schemeClr val="tx1"/>
              </a:solidFill>
              <a:latin typeface="+mn-ea"/>
              <a:ea typeface="+mn-ea"/>
            </a:endParaRPr>
          </a:p>
          <a:p>
            <a:endParaRPr kumimoji="1" lang="en-US" altLang="ja-JP" sz="1200" b="0" dirty="0" smtClean="0">
              <a:solidFill>
                <a:schemeClr val="tx1"/>
              </a:solidFill>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kumimoji="1" lang="en-US" altLang="ja-JP" sz="1200" kern="1200" dirty="0" smtClean="0">
                <a:solidFill>
                  <a:schemeClr val="tx1"/>
                </a:solidFill>
                <a:latin typeface="+mn-lt"/>
                <a:ea typeface="+mn-ea"/>
                <a:cs typeface="+mn-cs"/>
              </a:rPr>
              <a:t>Platform Utility provides application layer and product line platform with functions to be used in the platform and application in common.</a:t>
            </a: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This Package has </a:t>
            </a:r>
            <a:r>
              <a:rPr lang="en-US" altLang="ja-JP" sz="1200" b="0" dirty="0" err="1" smtClean="0">
                <a:solidFill>
                  <a:schemeClr val="tx1"/>
                </a:solidFill>
                <a:latin typeface="+mn-ea"/>
                <a:ea typeface="+mn-ea"/>
                <a:cs typeface="Meiryo UI" panose="020B0604030504040204" pitchFamily="50" charset="-128"/>
              </a:rPr>
              <a:t>putLIB</a:t>
            </a:r>
            <a:r>
              <a:rPr lang="en-US" altLang="ja-JP" sz="1200" b="0" baseline="0" dirty="0" smtClean="0">
                <a:solidFill>
                  <a:schemeClr val="tx1"/>
                </a:solidFill>
                <a:latin typeface="+mn-ea"/>
                <a:ea typeface="+mn-ea"/>
                <a:cs typeface="Meiryo UI" panose="020B0604030504040204" pitchFamily="50" charset="-128"/>
              </a:rPr>
              <a:t> and </a:t>
            </a:r>
            <a:r>
              <a:rPr lang="en-US" altLang="ja-JP" sz="1200" b="0" baseline="0" dirty="0" err="1" smtClean="0">
                <a:solidFill>
                  <a:schemeClr val="tx1"/>
                </a:solidFill>
                <a:latin typeface="+mn-ea"/>
                <a:ea typeface="+mn-ea"/>
                <a:cs typeface="Meiryo UI" panose="020B0604030504040204" pitchFamily="50" charset="-128"/>
              </a:rPr>
              <a:t>pu</a:t>
            </a:r>
            <a:r>
              <a:rPr lang="ja-JP" altLang="en-US" sz="1200" b="0" baseline="0" dirty="0" err="1" smtClean="0">
                <a:solidFill>
                  <a:schemeClr val="tx1"/>
                </a:solidFill>
                <a:latin typeface="+mn-ea"/>
                <a:ea typeface="+mn-ea"/>
                <a:cs typeface="Meiryo UI" panose="020B0604030504040204" pitchFamily="50" charset="-128"/>
              </a:rPr>
              <a:t>ｔ</a:t>
            </a:r>
            <a:r>
              <a:rPr lang="en-US" altLang="ja-JP" sz="1200" b="0" baseline="0" dirty="0" smtClean="0">
                <a:solidFill>
                  <a:schemeClr val="tx1"/>
                </a:solidFill>
                <a:latin typeface="+mn-ea"/>
                <a:ea typeface="+mn-ea"/>
                <a:cs typeface="Meiryo UI" panose="020B0604030504040204" pitchFamily="50" charset="-128"/>
              </a:rPr>
              <a:t>RULE component.</a:t>
            </a:r>
          </a:p>
          <a:p>
            <a:pPr marL="0" marR="0" indent="0" algn="l" defTabSz="914400" rtl="0" eaLnBrk="1" fontAlgn="base" latinLnBrk="0" hangingPunct="1">
              <a:lnSpc>
                <a:spcPct val="90000"/>
              </a:lnSpc>
              <a:spcBef>
                <a:spcPct val="50000"/>
              </a:spcBef>
              <a:spcAft>
                <a:spcPct val="0"/>
              </a:spcAft>
              <a:buClrTx/>
              <a:buSzTx/>
              <a:buFontTx/>
              <a:buNone/>
              <a:tabLst/>
            </a:pPr>
            <a:endParaRPr kumimoji="1" lang="en-US" altLang="ja-JP" sz="1200" dirty="0" smtClean="0">
              <a:solidFill>
                <a:schemeClr val="tx1"/>
              </a:solidFill>
              <a:latin typeface="+mn-ea"/>
              <a:ea typeface="+mn-ea"/>
            </a:endParaRPr>
          </a:p>
          <a:p>
            <a:r>
              <a:rPr kumimoji="1" lang="en-US" altLang="ja-JP" sz="1200" dirty="0" smtClean="0">
                <a:solidFill>
                  <a:schemeClr val="tx1"/>
                </a:solidFill>
                <a:latin typeface="+mn-ea"/>
                <a:ea typeface="+mn-ea"/>
              </a:rPr>
              <a:t>Next is Element Layer.</a:t>
            </a:r>
          </a:p>
          <a:p>
            <a:endParaRPr kumimoji="1" lang="en-US" altLang="ja-JP" dirty="0" smtClean="0"/>
          </a:p>
          <a:p>
            <a:r>
              <a:rPr kumimoji="1" lang="en-US" altLang="ja-JP" sz="1200" kern="1200" dirty="0" err="1" smtClean="0">
                <a:solidFill>
                  <a:schemeClr val="tx1"/>
                </a:solidFill>
                <a:latin typeface="+mn-lt"/>
                <a:ea typeface="+mn-ea"/>
                <a:cs typeface="+mn-cs"/>
              </a:rPr>
              <a:t>DataAccess</a:t>
            </a:r>
            <a:r>
              <a:rPr kumimoji="1" lang="ja-JP" altLang="ja-JP" sz="1200" kern="1200" dirty="0" smtClean="0">
                <a:solidFill>
                  <a:schemeClr val="tx1"/>
                </a:solidFill>
                <a:latin typeface="+mn-lt"/>
                <a:ea typeface="+mn-ea"/>
                <a:cs typeface="+mn-cs"/>
              </a:rPr>
              <a:t>パッケージは、データ操作、参照、設定の仕組みを提供するパッケージです。</a:t>
            </a:r>
            <a:endParaRPr kumimoji="1" lang="en-US" altLang="ja-JP" sz="1200" kern="1200" dirty="0" smtClean="0">
              <a:solidFill>
                <a:schemeClr val="tx1"/>
              </a:solidFill>
              <a:latin typeface="+mn-lt"/>
              <a:ea typeface="+mn-ea"/>
              <a:cs typeface="+mn-cs"/>
            </a:endParaRPr>
          </a:p>
          <a:p>
            <a:r>
              <a:rPr kumimoji="1" lang="ja-JP" altLang="ja-JP" sz="1200" kern="1200" dirty="0" smtClean="0">
                <a:solidFill>
                  <a:schemeClr val="tx1"/>
                </a:solidFill>
                <a:latin typeface="+mn-lt"/>
                <a:ea typeface="+mn-ea"/>
                <a:cs typeface="+mn-cs"/>
              </a:rPr>
              <a:t>このパッケージはアプリケーションレイヤーに各</a:t>
            </a:r>
            <a:r>
              <a:rPr kumimoji="1" lang="en-US" altLang="ja-JP" sz="1200" kern="1200" dirty="0" smtClean="0">
                <a:solidFill>
                  <a:schemeClr val="tx1"/>
                </a:solidFill>
                <a:latin typeface="+mn-lt"/>
                <a:ea typeface="+mn-ea"/>
                <a:cs typeface="+mn-cs"/>
              </a:rPr>
              <a:t>Entity</a:t>
            </a:r>
            <a:r>
              <a:rPr kumimoji="1" lang="ja-JP" altLang="ja-JP" sz="1200" kern="1200" dirty="0" smtClean="0">
                <a:solidFill>
                  <a:schemeClr val="tx1"/>
                </a:solidFill>
                <a:latin typeface="+mn-lt"/>
                <a:ea typeface="+mn-ea"/>
                <a:cs typeface="+mn-cs"/>
              </a:rPr>
              <a:t>にアクセスするための</a:t>
            </a:r>
            <a:r>
              <a:rPr kumimoji="1" lang="en-US" altLang="ja-JP" sz="1200" kern="1200" dirty="0" smtClean="0">
                <a:solidFill>
                  <a:schemeClr val="tx1"/>
                </a:solidFill>
                <a:latin typeface="+mn-lt"/>
                <a:ea typeface="+mn-ea"/>
                <a:cs typeface="+mn-cs"/>
              </a:rPr>
              <a:t>I/F</a:t>
            </a:r>
            <a:r>
              <a:rPr kumimoji="1" lang="ja-JP" altLang="ja-JP" sz="1200" kern="1200" dirty="0" err="1" smtClean="0">
                <a:solidFill>
                  <a:schemeClr val="tx1"/>
                </a:solidFill>
                <a:latin typeface="+mn-lt"/>
                <a:ea typeface="+mn-ea"/>
                <a:cs typeface="+mn-cs"/>
              </a:rPr>
              <a:t>を提</a:t>
            </a:r>
            <a:r>
              <a:rPr kumimoji="1" lang="ja-JP" altLang="ja-JP" sz="1200" kern="1200" dirty="0" smtClean="0">
                <a:solidFill>
                  <a:schemeClr val="tx1"/>
                </a:solidFill>
                <a:latin typeface="+mn-lt"/>
                <a:ea typeface="+mn-ea"/>
                <a:cs typeface="+mn-cs"/>
              </a:rPr>
              <a:t>供します。</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t>User Authentication</a:t>
            </a:r>
            <a:r>
              <a:rPr kumimoji="1" lang="ja-JP" altLang="en-US" dirty="0" smtClean="0"/>
              <a:t>パッケージは、認証認可における仕組みを提供するパッケージです。</a:t>
            </a:r>
            <a:endParaRPr kumimoji="1" lang="en-US" altLang="ja-JP" dirty="0" smtClean="0"/>
          </a:p>
          <a:p>
            <a:endParaRPr kumimoji="1" lang="en-US" altLang="ja-JP" dirty="0" smtClean="0"/>
          </a:p>
          <a:p>
            <a:r>
              <a:rPr kumimoji="1" lang="en-US" altLang="ja-JP" dirty="0" smtClean="0"/>
              <a:t>Platform System</a:t>
            </a:r>
            <a:r>
              <a:rPr kumimoji="1" lang="en-US" altLang="ja-JP" baseline="0" dirty="0" smtClean="0"/>
              <a:t> Management</a:t>
            </a:r>
            <a:r>
              <a:rPr kumimoji="1" lang="ja-JP" altLang="en-US" baseline="0" dirty="0" smtClean="0"/>
              <a:t>パッケージは、デバイス、ネットワークの状態を管理するパッケージです。</a:t>
            </a:r>
            <a:endParaRPr kumimoji="1" lang="en-US" altLang="ja-JP" baseline="0" dirty="0" smtClean="0"/>
          </a:p>
          <a:p>
            <a:r>
              <a:rPr kumimoji="1" lang="ja-JP" altLang="en-US" baseline="0" dirty="0" smtClean="0"/>
              <a:t>このパッケージは、</a:t>
            </a:r>
            <a:r>
              <a:rPr kumimoji="1" lang="en-US" altLang="ja-JP" baseline="0" dirty="0" err="1" smtClean="0"/>
              <a:t>psmSYM</a:t>
            </a:r>
            <a:r>
              <a:rPr kumimoji="1" lang="ja-JP" altLang="en-US" baseline="0" dirty="0" smtClean="0"/>
              <a:t>コンポーネントが所属します。このコンポーネントは、省エネ、イベント処理を行います。</a:t>
            </a:r>
            <a:endParaRPr kumimoji="1" lang="en-US" altLang="ja-JP" baseline="0" dirty="0" smtClean="0"/>
          </a:p>
          <a:p>
            <a:r>
              <a:rPr kumimoji="1" lang="ja-JP" altLang="ja-JP" sz="1200" kern="1200" dirty="0" smtClean="0">
                <a:solidFill>
                  <a:schemeClr val="tx1"/>
                </a:solidFill>
                <a:latin typeface="+mn-lt"/>
                <a:ea typeface="+mn-ea"/>
                <a:cs typeface="+mn-cs"/>
              </a:rPr>
              <a:t>このコンポーネントはアプリケーション側の</a:t>
            </a:r>
            <a:r>
              <a:rPr kumimoji="1" lang="en-US" altLang="ja-JP" sz="1200" kern="1200" dirty="0" err="1" smtClean="0">
                <a:solidFill>
                  <a:schemeClr val="tx1"/>
                </a:solidFill>
                <a:latin typeface="+mn-lt"/>
                <a:ea typeface="+mn-ea"/>
                <a:cs typeface="+mn-cs"/>
              </a:rPr>
              <a:t>symESM</a:t>
            </a:r>
            <a:r>
              <a:rPr kumimoji="1" lang="ja-JP" altLang="ja-JP" sz="1200" kern="1200" dirty="0" smtClean="0">
                <a:solidFill>
                  <a:schemeClr val="tx1"/>
                </a:solidFill>
                <a:latin typeface="+mn-lt"/>
                <a:ea typeface="+mn-ea"/>
                <a:cs typeface="+mn-cs"/>
              </a:rPr>
              <a:t>と</a:t>
            </a:r>
            <a:r>
              <a:rPr kumimoji="1" lang="en-US" altLang="ja-JP" sz="1200" kern="1200" dirty="0" err="1" smtClean="0">
                <a:solidFill>
                  <a:schemeClr val="tx1"/>
                </a:solidFill>
                <a:latin typeface="+mn-lt"/>
                <a:ea typeface="+mn-ea"/>
                <a:cs typeface="+mn-cs"/>
              </a:rPr>
              <a:t>symSTM</a:t>
            </a:r>
            <a:r>
              <a:rPr kumimoji="1" lang="ja-JP" altLang="ja-JP" sz="1200" kern="1200" dirty="0" smtClean="0">
                <a:solidFill>
                  <a:schemeClr val="tx1"/>
                </a:solidFill>
                <a:latin typeface="+mn-lt"/>
                <a:ea typeface="+mn-ea"/>
                <a:cs typeface="+mn-cs"/>
              </a:rPr>
              <a:t>と連携します。</a:t>
            </a:r>
            <a:endParaRPr kumimoji="1" lang="en-US" altLang="ja-JP" sz="1200" kern="1200" dirty="0" smtClean="0">
              <a:solidFill>
                <a:schemeClr val="tx1"/>
              </a:solidFill>
              <a:latin typeface="+mn-lt"/>
              <a:ea typeface="+mn-ea"/>
              <a:cs typeface="+mn-cs"/>
            </a:endParaRPr>
          </a:p>
          <a:p>
            <a:r>
              <a:rPr kumimoji="1" lang="ja-JP" altLang="ja-JP" sz="1200" kern="1200" dirty="0" smtClean="0">
                <a:solidFill>
                  <a:schemeClr val="tx1"/>
                </a:solidFill>
                <a:latin typeface="+mn-lt"/>
                <a:ea typeface="+mn-ea"/>
                <a:cs typeface="+mn-cs"/>
              </a:rPr>
              <a:t>そして、このパッケージにはネットワークを管理する</a:t>
            </a:r>
            <a:r>
              <a:rPr kumimoji="1" lang="en-US" altLang="ja-JP" sz="1200" kern="1200" dirty="0" err="1" smtClean="0">
                <a:solidFill>
                  <a:schemeClr val="tx1"/>
                </a:solidFill>
                <a:latin typeface="+mn-lt"/>
                <a:ea typeface="+mn-ea"/>
                <a:cs typeface="+mn-cs"/>
              </a:rPr>
              <a:t>psmNWM</a:t>
            </a:r>
            <a:r>
              <a:rPr kumimoji="1" lang="ja-JP" altLang="ja-JP" sz="1200" kern="1200" dirty="0" smtClean="0">
                <a:solidFill>
                  <a:schemeClr val="tx1"/>
                </a:solidFill>
                <a:latin typeface="+mn-lt"/>
                <a:ea typeface="+mn-ea"/>
                <a:cs typeface="+mn-cs"/>
              </a:rPr>
              <a:t>も含まれます。 </a:t>
            </a:r>
          </a:p>
          <a:p>
            <a:endParaRPr kumimoji="1" lang="en-US" altLang="ja-JP" baseline="0" dirty="0" smtClean="0"/>
          </a:p>
          <a:p>
            <a:r>
              <a:rPr kumimoji="1" lang="en-US" altLang="ja-JP" baseline="0" dirty="0" smtClean="0"/>
              <a:t>Platform Utility</a:t>
            </a:r>
            <a:r>
              <a:rPr kumimoji="1" lang="ja-JP" altLang="en-US" baseline="0" dirty="0" smtClean="0"/>
              <a:t>パッケージは、アプリケーションで使用するユーティリティ機能を提供するパッケージです。</a:t>
            </a:r>
            <a:endParaRPr kumimoji="1" lang="en-US" altLang="ja-JP" baseline="0" dirty="0" smtClean="0"/>
          </a:p>
          <a:p>
            <a:r>
              <a:rPr kumimoji="1" lang="ja-JP" altLang="en-US" baseline="0" dirty="0" smtClean="0"/>
              <a:t>このパッケージには、</a:t>
            </a:r>
            <a:r>
              <a:rPr kumimoji="1" lang="en-US" altLang="ja-JP" baseline="0" dirty="0" err="1" smtClean="0"/>
              <a:t>putLIB</a:t>
            </a:r>
            <a:r>
              <a:rPr kumimoji="1" lang="ja-JP" altLang="en-US" baseline="0" dirty="0" smtClean="0"/>
              <a:t>と</a:t>
            </a:r>
            <a:r>
              <a:rPr kumimoji="1" lang="en-US" altLang="ja-JP" baseline="0" dirty="0" err="1" smtClean="0"/>
              <a:t>putRULE</a:t>
            </a:r>
            <a:r>
              <a:rPr kumimoji="1" lang="ja-JP" altLang="en-US" baseline="0" dirty="0" smtClean="0"/>
              <a:t>コンポーネントがあります。</a:t>
            </a:r>
            <a:endParaRPr kumimoji="1" lang="en-US" altLang="ja-JP" baseline="0" dirty="0" smtClean="0"/>
          </a:p>
          <a:p>
            <a:endParaRPr kumimoji="1" lang="en-US" altLang="ja-JP" dirty="0" smtClean="0"/>
          </a:p>
          <a:p>
            <a:r>
              <a:rPr kumimoji="1" lang="ja-JP" altLang="en-US" dirty="0" smtClean="0"/>
              <a:t>次に、</a:t>
            </a:r>
            <a:r>
              <a:rPr kumimoji="1" lang="en-US" altLang="ja-JP" dirty="0" smtClean="0"/>
              <a:t>Element</a:t>
            </a:r>
            <a:r>
              <a:rPr kumimoji="1" lang="ja-JP" altLang="en-US" dirty="0" smtClean="0"/>
              <a:t>レイヤの説明を行います。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23</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C00000"/>
                </a:solidFill>
                <a:latin typeface="+mn-ea"/>
                <a:ea typeface="+mn-ea"/>
                <a:cs typeface="Meiryo UI" panose="020B0604030504040204" pitchFamily="50" charset="-128"/>
              </a:rPr>
              <a:t>Communication Protocol</a:t>
            </a:r>
            <a:r>
              <a:rPr lang="ja-JP" altLang="en-US" sz="1200" b="0" baseline="0" dirty="0" smtClean="0">
                <a:solidFill>
                  <a:srgbClr val="C00000"/>
                </a:solidFill>
                <a:latin typeface="+mn-ea"/>
                <a:ea typeface="+mn-ea"/>
                <a:cs typeface="Meiryo UI" panose="020B0604030504040204" pitchFamily="50" charset="-128"/>
              </a:rPr>
              <a:t> </a:t>
            </a:r>
            <a:r>
              <a:rPr lang="en-US" altLang="ja-JP" sz="1200" b="0" baseline="0" dirty="0" smtClean="0">
                <a:solidFill>
                  <a:srgbClr val="C00000"/>
                </a:solidFill>
                <a:latin typeface="+mn-ea"/>
                <a:ea typeface="+mn-ea"/>
                <a:cs typeface="Meiryo UI" panose="020B0604030504040204" pitchFamily="50" charset="-128"/>
              </a:rPr>
              <a:t>package p</a:t>
            </a:r>
            <a:r>
              <a:rPr lang="en-US" altLang="ja-JP" sz="1200" b="0" dirty="0" smtClean="0">
                <a:solidFill>
                  <a:schemeClr val="tx1"/>
                </a:solidFill>
                <a:latin typeface="+mn-ea"/>
                <a:ea typeface="+mn-ea"/>
                <a:cs typeface="Meiryo UI" panose="020B0604030504040204" pitchFamily="50" charset="-128"/>
              </a:rPr>
              <a:t>rovides necessary means to process communication.</a:t>
            </a:r>
            <a:endParaRPr kumimoji="1" lang="en-US" altLang="ja-JP" dirty="0" smtClean="0">
              <a:latin typeface="+mn-ea"/>
              <a:ea typeface="+mn-ea"/>
            </a:endParaRPr>
          </a:p>
          <a:p>
            <a:r>
              <a:rPr kumimoji="1" lang="en-US" altLang="ja-JP" dirty="0" smtClean="0">
                <a:latin typeface="+mn-ea"/>
                <a:ea typeface="+mn-ea"/>
              </a:rPr>
              <a:t>This Package</a:t>
            </a:r>
            <a:r>
              <a:rPr kumimoji="1" lang="en-US" altLang="ja-JP" baseline="0" dirty="0" smtClean="0">
                <a:latin typeface="+mn-ea"/>
                <a:ea typeface="+mn-ea"/>
              </a:rPr>
              <a:t> has some component for each network protocol.</a:t>
            </a:r>
            <a:endParaRPr kumimoji="1" lang="en-US" altLang="ja-JP" dirty="0" smtClean="0">
              <a:latin typeface="+mn-ea"/>
              <a:ea typeface="+mn-ea"/>
            </a:endParaRPr>
          </a:p>
          <a:p>
            <a:endParaRPr kumimoji="1" lang="en-US" altLang="ja-JP" dirty="0" smtClean="0">
              <a:latin typeface="+mn-ea"/>
              <a:ea typeface="+mn-ea"/>
            </a:endParaRPr>
          </a:p>
          <a:p>
            <a:r>
              <a:rPr kumimoji="1" lang="en-US" altLang="ja-JP" dirty="0" smtClean="0">
                <a:latin typeface="+mn-ea"/>
                <a:ea typeface="+mn-ea"/>
              </a:rPr>
              <a:t>Communication Protocol</a:t>
            </a:r>
            <a:r>
              <a:rPr kumimoji="1" lang="ja-JP" altLang="en-US" dirty="0" smtClean="0">
                <a:latin typeface="+mn-ea"/>
                <a:ea typeface="+mn-ea"/>
              </a:rPr>
              <a:t>パッケージは、通信処理のために必要な手段を提供します。</a:t>
            </a:r>
            <a:endParaRPr kumimoji="1" lang="en-US" altLang="ja-JP" dirty="0" smtClean="0">
              <a:latin typeface="+mn-ea"/>
              <a:ea typeface="+mn-ea"/>
            </a:endParaRPr>
          </a:p>
          <a:p>
            <a:r>
              <a:rPr kumimoji="1" lang="ja-JP" altLang="en-US" dirty="0" smtClean="0">
                <a:latin typeface="+mn-ea"/>
                <a:ea typeface="+mn-ea"/>
              </a:rPr>
              <a:t>ネットワークプロトコル毎にコンポーネントが定義されています。</a:t>
            </a:r>
            <a:endParaRPr kumimoji="1" lang="en-US" altLang="ja-JP" dirty="0" smtClean="0">
              <a:latin typeface="+mn-ea"/>
              <a:ea typeface="+mn-ea"/>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24</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C00000"/>
                </a:solidFill>
                <a:latin typeface="+mn-ea"/>
                <a:ea typeface="+mn-ea"/>
                <a:cs typeface="Meiryo UI" panose="020B0604030504040204" pitchFamily="50" charset="-128"/>
              </a:rPr>
              <a:t>Device Control package p</a:t>
            </a:r>
            <a:r>
              <a:rPr lang="en-US" altLang="ja-JP" sz="1200" b="0" dirty="0" smtClean="0">
                <a:solidFill>
                  <a:schemeClr val="tx1"/>
                </a:solidFill>
                <a:latin typeface="+mn-ea"/>
                <a:ea typeface="+mn-ea"/>
                <a:cs typeface="Meiryo UI" panose="020B0604030504040204" pitchFamily="50" charset="-128"/>
              </a:rPr>
              <a:t>rovides operation based on the control specification of each device,</a:t>
            </a:r>
            <a:r>
              <a:rPr lang="ja-JP" altLang="en-US" sz="1200" b="0" dirty="0" smtClean="0">
                <a:solidFill>
                  <a:schemeClr val="tx1"/>
                </a:solidFill>
                <a:latin typeface="+mn-ea"/>
                <a:ea typeface="+mn-ea"/>
                <a:cs typeface="Meiryo UI" panose="020B0604030504040204" pitchFamily="50" charset="-128"/>
              </a:rPr>
              <a:t>　</a:t>
            </a:r>
            <a:r>
              <a:rPr lang="en-US" altLang="ja-JP" sz="1200" b="0" dirty="0" smtClean="0">
                <a:solidFill>
                  <a:schemeClr val="tx1"/>
                </a:solidFill>
                <a:latin typeface="+mn-ea"/>
                <a:ea typeface="+mn-ea"/>
                <a:cs typeface="Meiryo UI" panose="020B0604030504040204" pitchFamily="50" charset="-128"/>
              </a:rPr>
              <a:t>and controls the devices logically.</a:t>
            </a:r>
          </a:p>
          <a:p>
            <a:r>
              <a:rPr kumimoji="1" lang="en-US" altLang="ja-JP" dirty="0" smtClean="0">
                <a:latin typeface="+mn-ea"/>
                <a:ea typeface="+mn-ea"/>
              </a:rPr>
              <a:t>This Package</a:t>
            </a:r>
            <a:r>
              <a:rPr kumimoji="1" lang="en-US" altLang="ja-JP" baseline="0" dirty="0" smtClean="0">
                <a:latin typeface="+mn-ea"/>
                <a:ea typeface="+mn-ea"/>
              </a:rPr>
              <a:t> has some components for each device, Scanner, Panel, Account Device, Print Engine, Stream, and External Video Input Device.</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Device Control</a:t>
            </a:r>
            <a:r>
              <a:rPr kumimoji="1" lang="ja-JP" altLang="en-US" dirty="0" smtClean="0">
                <a:latin typeface="+mn-ea"/>
                <a:ea typeface="+mn-ea"/>
              </a:rPr>
              <a:t>パッケージは、機器の制御仕様に基づき、機器を操作する手段を提供します。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Scanner</a:t>
            </a:r>
            <a:r>
              <a:rPr kumimoji="1" lang="ja-JP" altLang="en-US" dirty="0" err="1" smtClean="0">
                <a:latin typeface="+mn-ea"/>
                <a:ea typeface="+mn-ea"/>
              </a:rPr>
              <a:t>、</a:t>
            </a:r>
            <a:r>
              <a:rPr kumimoji="1" lang="en-US" altLang="ja-JP" dirty="0" err="1" smtClean="0">
                <a:latin typeface="+mn-ea"/>
                <a:ea typeface="+mn-ea"/>
              </a:rPr>
              <a:t>PrintEngine</a:t>
            </a:r>
            <a:r>
              <a:rPr kumimoji="1" lang="ja-JP" altLang="en-US" dirty="0" err="1" smtClean="0">
                <a:latin typeface="+mn-ea"/>
                <a:ea typeface="+mn-ea"/>
              </a:rPr>
              <a:t>、</a:t>
            </a:r>
            <a:r>
              <a:rPr kumimoji="1" lang="en-US" altLang="ja-JP" dirty="0" smtClean="0">
                <a:latin typeface="+mn-ea"/>
                <a:ea typeface="+mn-ea"/>
              </a:rPr>
              <a:t>Fax</a:t>
            </a:r>
            <a:r>
              <a:rPr kumimoji="1" lang="ja-JP" altLang="en-US" dirty="0" err="1" smtClean="0">
                <a:latin typeface="+mn-ea"/>
                <a:ea typeface="+mn-ea"/>
              </a:rPr>
              <a:t>、</a:t>
            </a:r>
            <a:r>
              <a:rPr kumimoji="1" lang="en-US" altLang="ja-JP" dirty="0" smtClean="0">
                <a:latin typeface="+mn-ea"/>
                <a:ea typeface="+mn-ea"/>
              </a:rPr>
              <a:t>Stream</a:t>
            </a:r>
            <a:r>
              <a:rPr kumimoji="1" lang="ja-JP" altLang="en-US" dirty="0" err="1" smtClean="0">
                <a:latin typeface="+mn-ea"/>
                <a:ea typeface="+mn-ea"/>
              </a:rPr>
              <a:t>、</a:t>
            </a:r>
            <a:r>
              <a:rPr kumimoji="1" lang="en-US" altLang="ja-JP" dirty="0" err="1" smtClean="0">
                <a:latin typeface="+mn-ea"/>
                <a:ea typeface="+mn-ea"/>
              </a:rPr>
              <a:t>AccountDevice</a:t>
            </a:r>
            <a:r>
              <a:rPr kumimoji="1" lang="ja-JP" altLang="en-US" dirty="0" err="1" smtClean="0">
                <a:latin typeface="+mn-ea"/>
                <a:ea typeface="+mn-ea"/>
              </a:rPr>
              <a:t>、</a:t>
            </a:r>
            <a:r>
              <a:rPr kumimoji="1" lang="en-US" altLang="ja-JP" dirty="0" smtClean="0">
                <a:latin typeface="+mn-ea"/>
                <a:ea typeface="+mn-ea"/>
              </a:rPr>
              <a:t>Panel</a:t>
            </a:r>
            <a:r>
              <a:rPr kumimoji="1" lang="ja-JP" altLang="en-US" dirty="0" smtClean="0">
                <a:latin typeface="+mn-ea"/>
                <a:ea typeface="+mn-ea"/>
              </a:rPr>
              <a:t>のコンポーネントが定義されています。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25</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C00000"/>
                </a:solidFill>
                <a:latin typeface="+mn-ea"/>
                <a:ea typeface="+mn-ea"/>
                <a:cs typeface="Meiryo UI" panose="020B0604030504040204" pitchFamily="50" charset="-128"/>
              </a:rPr>
              <a:t>Rendering</a:t>
            </a:r>
            <a:r>
              <a:rPr lang="ja-JP" altLang="en-US" sz="1200" b="0" baseline="0" dirty="0" smtClean="0">
                <a:solidFill>
                  <a:srgbClr val="C00000"/>
                </a:solidFill>
                <a:latin typeface="+mn-ea"/>
                <a:ea typeface="+mn-ea"/>
                <a:cs typeface="Meiryo UI" panose="020B0604030504040204" pitchFamily="50" charset="-128"/>
              </a:rPr>
              <a:t> </a:t>
            </a:r>
            <a:r>
              <a:rPr lang="en-US" altLang="ja-JP" sz="1200" b="0" baseline="0" dirty="0" smtClean="0">
                <a:solidFill>
                  <a:srgbClr val="C00000"/>
                </a:solidFill>
                <a:latin typeface="+mn-ea"/>
                <a:ea typeface="+mn-ea"/>
                <a:cs typeface="Meiryo UI" panose="020B0604030504040204" pitchFamily="50" charset="-128"/>
              </a:rPr>
              <a:t>package p</a:t>
            </a:r>
            <a:r>
              <a:rPr lang="en-US" altLang="ja-JP" sz="1200" b="0" dirty="0" smtClean="0">
                <a:solidFill>
                  <a:schemeClr val="tx1"/>
                </a:solidFill>
                <a:latin typeface="+mn-ea"/>
                <a:ea typeface="+mn-ea"/>
                <a:cs typeface="Meiryo UI" panose="020B0604030504040204" pitchFamily="50" charset="-128"/>
              </a:rPr>
              <a:t>rovides necessary means to process images. (compression, decompression, rotation, and so on.)</a:t>
            </a:r>
            <a:endParaRPr kumimoji="1" lang="en-US" altLang="ja-JP" dirty="0" smtClean="0">
              <a:latin typeface="+mn-ea"/>
              <a:ea typeface="+mn-ea"/>
            </a:endParaRPr>
          </a:p>
          <a:p>
            <a:r>
              <a:rPr kumimoji="1" lang="en-US" altLang="ja-JP" dirty="0" smtClean="0">
                <a:latin typeface="+mn-ea"/>
                <a:ea typeface="+mn-ea"/>
              </a:rPr>
              <a:t>This Package</a:t>
            </a:r>
            <a:r>
              <a:rPr kumimoji="1" lang="en-US" altLang="ja-JP" baseline="0" dirty="0" smtClean="0">
                <a:latin typeface="+mn-ea"/>
                <a:ea typeface="+mn-ea"/>
              </a:rPr>
              <a:t> has some component for each image processing, PDL Interpreter, Image Format Converter, Edit Page Creator, and so on.</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Rendering</a:t>
            </a:r>
            <a:r>
              <a:rPr kumimoji="1" lang="ja-JP" altLang="en-US" dirty="0" smtClean="0">
                <a:latin typeface="+mn-ea"/>
                <a:ea typeface="+mn-ea"/>
              </a:rPr>
              <a:t>パッケージは、イメージ処理のために必要となる手段を提供します。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PDL Interpreter</a:t>
            </a:r>
            <a:r>
              <a:rPr kumimoji="1" lang="ja-JP" altLang="en-US" dirty="0" smtClean="0">
                <a:latin typeface="+mn-ea"/>
                <a:ea typeface="+mn-ea"/>
              </a:rPr>
              <a:t>（</a:t>
            </a:r>
            <a:r>
              <a:rPr kumimoji="1" lang="en-US" altLang="ja-JP" dirty="0" err="1" smtClean="0">
                <a:latin typeface="+mn-ea"/>
                <a:ea typeface="+mn-ea"/>
              </a:rPr>
              <a:t>renINT</a:t>
            </a:r>
            <a:r>
              <a:rPr kumimoji="1" lang="ja-JP" altLang="en-US" dirty="0" smtClean="0">
                <a:latin typeface="+mn-ea"/>
                <a:ea typeface="+mn-ea"/>
              </a:rPr>
              <a:t>）、</a:t>
            </a:r>
            <a:r>
              <a:rPr kumimoji="1" lang="en-US" altLang="ja-JP" dirty="0" smtClean="0">
                <a:latin typeface="+mn-ea"/>
                <a:ea typeface="+mn-ea"/>
              </a:rPr>
              <a:t>Image Format Converter(</a:t>
            </a:r>
            <a:r>
              <a:rPr kumimoji="1" lang="en-US" altLang="ja-JP" dirty="0" err="1" smtClean="0">
                <a:latin typeface="+mn-ea"/>
                <a:ea typeface="+mn-ea"/>
              </a:rPr>
              <a:t>renIFC</a:t>
            </a:r>
            <a:r>
              <a:rPr kumimoji="1" lang="ja-JP" altLang="en-US" dirty="0" smtClean="0">
                <a:latin typeface="+mn-ea"/>
                <a:ea typeface="+mn-ea"/>
              </a:rPr>
              <a:t>）、</a:t>
            </a:r>
            <a:r>
              <a:rPr kumimoji="1" lang="en-US" altLang="ja-JP" dirty="0" smtClean="0">
                <a:latin typeface="+mn-ea"/>
                <a:ea typeface="+mn-ea"/>
              </a:rPr>
              <a:t> Edit</a:t>
            </a:r>
            <a:r>
              <a:rPr kumimoji="1" lang="en-US" altLang="ja-JP" baseline="0" dirty="0" smtClean="0">
                <a:latin typeface="+mn-ea"/>
                <a:ea typeface="+mn-ea"/>
              </a:rPr>
              <a:t> Page Creator(</a:t>
            </a:r>
            <a:r>
              <a:rPr kumimoji="1" lang="en-US" altLang="ja-JP" baseline="0" dirty="0" err="1" smtClean="0">
                <a:latin typeface="+mn-ea"/>
                <a:ea typeface="+mn-ea"/>
              </a:rPr>
              <a:t>renEPC</a:t>
            </a:r>
            <a:r>
              <a:rPr kumimoji="1" lang="en-US" altLang="ja-JP" baseline="0" dirty="0" smtClean="0">
                <a:latin typeface="+mn-ea"/>
                <a:ea typeface="+mn-ea"/>
              </a:rPr>
              <a:t>)</a:t>
            </a:r>
            <a:r>
              <a:rPr kumimoji="1" lang="ja-JP" altLang="en-US" baseline="0" dirty="0" smtClean="0">
                <a:latin typeface="+mn-ea"/>
                <a:ea typeface="+mn-ea"/>
              </a:rPr>
              <a:t>などのコンポーネントが定義されています。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26</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C00000"/>
                </a:solidFill>
                <a:latin typeface="+mn-ea"/>
                <a:ea typeface="+mn-ea"/>
                <a:cs typeface="Meiryo UI" panose="020B0604030504040204" pitchFamily="50" charset="-128"/>
              </a:rPr>
              <a:t>Virtual Device Control package p</a:t>
            </a:r>
            <a:r>
              <a:rPr lang="en-US" altLang="ja-JP" sz="1200" b="0" dirty="0" smtClean="0">
                <a:solidFill>
                  <a:schemeClr val="tx1"/>
                </a:solidFill>
                <a:latin typeface="+mn-ea"/>
                <a:ea typeface="+mn-ea"/>
                <a:cs typeface="Meiryo UI" panose="020B0604030504040204" pitchFamily="50" charset="-128"/>
              </a:rPr>
              <a:t>rovides the framework and the means to operate virtual devices.</a:t>
            </a:r>
            <a:endParaRPr kumimoji="1" lang="en-US" altLang="ja-JP" b="0"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b="0" dirty="0" smtClean="0">
                <a:latin typeface="+mn-ea"/>
                <a:ea typeface="+mn-ea"/>
              </a:rPr>
              <a:t>Virtual</a:t>
            </a:r>
            <a:r>
              <a:rPr kumimoji="1" lang="en-US" altLang="ja-JP" b="0" baseline="0" dirty="0" smtClean="0">
                <a:latin typeface="+mn-ea"/>
                <a:ea typeface="+mn-ea"/>
              </a:rPr>
              <a:t> Device means profile like an Bluetooth profile, which is not for particular device.</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b="0" dirty="0" smtClean="0">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C00000"/>
                </a:solidFill>
                <a:latin typeface="+mn-ea"/>
                <a:ea typeface="+mn-ea"/>
                <a:cs typeface="Meiryo UI" panose="020B0604030504040204" pitchFamily="50" charset="-128"/>
              </a:rPr>
              <a:t>Platform Process Management</a:t>
            </a:r>
            <a:r>
              <a:rPr lang="ja-JP" altLang="en-US" sz="1200" b="0" baseline="0" dirty="0" smtClean="0">
                <a:solidFill>
                  <a:srgbClr val="C00000"/>
                </a:solidFill>
                <a:latin typeface="+mn-ea"/>
                <a:ea typeface="+mn-ea"/>
                <a:cs typeface="Meiryo UI" panose="020B0604030504040204" pitchFamily="50" charset="-128"/>
              </a:rPr>
              <a:t> </a:t>
            </a:r>
            <a:r>
              <a:rPr lang="en-US" altLang="ja-JP" sz="1200" b="0" baseline="0" dirty="0" smtClean="0">
                <a:solidFill>
                  <a:srgbClr val="C00000"/>
                </a:solidFill>
                <a:latin typeface="+mn-ea"/>
                <a:ea typeface="+mn-ea"/>
                <a:cs typeface="Meiryo UI" panose="020B0604030504040204" pitchFamily="50" charset="-128"/>
              </a:rPr>
              <a:t>package m</a:t>
            </a:r>
            <a:r>
              <a:rPr lang="en-US" altLang="ja-JP" sz="1200" b="0" dirty="0" smtClean="0">
                <a:solidFill>
                  <a:schemeClr val="tx1"/>
                </a:solidFill>
                <a:latin typeface="+mn-ea"/>
                <a:ea typeface="+mn-ea"/>
                <a:cs typeface="Meiryo UI" panose="020B0604030504040204" pitchFamily="50" charset="-128"/>
              </a:rPr>
              <a:t>anages platform process.</a:t>
            </a:r>
            <a:r>
              <a:rPr lang="en-US" altLang="ja-JP" sz="1200" b="0" dirty="0" smtClean="0">
                <a:latin typeface="+mn-ea"/>
                <a:ea typeface="+mn-ea"/>
              </a:rPr>
              <a:t>.</a:t>
            </a:r>
            <a:endParaRPr kumimoji="1" lang="en-US" altLang="ja-JP" b="0"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b="0" dirty="0" smtClean="0">
                <a:latin typeface="+mn-ea"/>
                <a:ea typeface="+mn-ea"/>
              </a:rPr>
              <a:t>This package has </a:t>
            </a:r>
            <a:r>
              <a:rPr kumimoji="1" lang="en-US" altLang="ja-JP" b="0" dirty="0" err="1" smtClean="0">
                <a:latin typeface="+mn-ea"/>
                <a:ea typeface="+mn-ea"/>
              </a:rPr>
              <a:t>ppmPRCM</a:t>
            </a:r>
            <a:r>
              <a:rPr kumimoji="1" lang="en-US" altLang="ja-JP" b="0" dirty="0" smtClean="0">
                <a:latin typeface="+mn-ea"/>
                <a:ea typeface="+mn-ea"/>
              </a:rPr>
              <a:t>.</a:t>
            </a:r>
            <a:r>
              <a:rPr kumimoji="1" lang="en-US" altLang="ja-JP" b="0" baseline="0" dirty="0" smtClean="0">
                <a:latin typeface="+mn-ea"/>
                <a:ea typeface="+mn-ea"/>
              </a:rPr>
              <a:t> </a:t>
            </a:r>
            <a:r>
              <a:rPr kumimoji="1" lang="en-US" altLang="ja-JP" b="0" dirty="0" err="1" smtClean="0">
                <a:latin typeface="+mn-ea"/>
                <a:ea typeface="+mn-ea"/>
              </a:rPr>
              <a:t>ppmPRCM</a:t>
            </a:r>
            <a:r>
              <a:rPr kumimoji="1" lang="en-US" altLang="ja-JP" b="0" dirty="0" smtClean="0">
                <a:latin typeface="+mn-ea"/>
                <a:ea typeface="+mn-ea"/>
              </a:rPr>
              <a:t>.</a:t>
            </a:r>
            <a:r>
              <a:rPr kumimoji="1" lang="ja-JP" altLang="en-US" b="0" baseline="0" dirty="0" smtClean="0">
                <a:latin typeface="+mn-ea"/>
                <a:ea typeface="+mn-ea"/>
              </a:rPr>
              <a:t> </a:t>
            </a:r>
            <a:r>
              <a:rPr kumimoji="1" lang="en-US" altLang="ja-JP" dirty="0" smtClean="0">
                <a:latin typeface="+mn-ea"/>
                <a:ea typeface="+mn-ea"/>
              </a:rPr>
              <a:t>is for Platform side.</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Next I explain about Middleware</a:t>
            </a:r>
            <a:r>
              <a:rPr kumimoji="1" lang="en-US" altLang="ja-JP" baseline="0" dirty="0" smtClean="0">
                <a:latin typeface="+mn-ea"/>
                <a:ea typeface="+mn-ea"/>
              </a:rPr>
              <a:t> layer.</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err="1" smtClean="0">
                <a:latin typeface="+mn-ea"/>
                <a:ea typeface="+mn-ea"/>
              </a:rPr>
              <a:t>Virtural</a:t>
            </a:r>
            <a:r>
              <a:rPr kumimoji="1" lang="en-US" altLang="ja-JP" dirty="0" smtClean="0">
                <a:latin typeface="+mn-ea"/>
                <a:ea typeface="+mn-ea"/>
              </a:rPr>
              <a:t> Device Control</a:t>
            </a:r>
            <a:r>
              <a:rPr kumimoji="1" lang="ja-JP" altLang="en-US" dirty="0" smtClean="0">
                <a:latin typeface="+mn-ea"/>
                <a:ea typeface="+mn-ea"/>
              </a:rPr>
              <a:t>パッケージは、仮想デバイスを操作する仕組みを提供します。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smtClean="0">
                <a:latin typeface="+mn-ea"/>
                <a:ea typeface="+mn-ea"/>
              </a:rPr>
              <a:t>仮想デバイスは、特定のデバイスを制御するものではなく、そのデバイスが使用する制御規格を示します。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smtClean="0">
                <a:latin typeface="+mn-ea"/>
                <a:ea typeface="+mn-ea"/>
              </a:rPr>
              <a:t>その一例として、</a:t>
            </a:r>
            <a:r>
              <a:rPr kumimoji="1" lang="en-US" altLang="ja-JP" dirty="0" smtClean="0">
                <a:latin typeface="+mn-ea"/>
                <a:ea typeface="+mn-ea"/>
              </a:rPr>
              <a:t>Bluetooth</a:t>
            </a:r>
            <a:r>
              <a:rPr kumimoji="1" lang="ja-JP" altLang="en-US" dirty="0" smtClean="0">
                <a:latin typeface="+mn-ea"/>
                <a:ea typeface="+mn-ea"/>
              </a:rPr>
              <a:t>の</a:t>
            </a:r>
            <a:r>
              <a:rPr kumimoji="1" lang="en-US" altLang="ja-JP" dirty="0" smtClean="0">
                <a:latin typeface="+mn-ea"/>
                <a:ea typeface="+mn-ea"/>
              </a:rPr>
              <a:t>Profile</a:t>
            </a:r>
            <a:r>
              <a:rPr kumimoji="1" lang="ja-JP" altLang="en-US" dirty="0" smtClean="0">
                <a:latin typeface="+mn-ea"/>
                <a:ea typeface="+mn-ea"/>
              </a:rPr>
              <a:t>があります。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Platform Process Management</a:t>
            </a:r>
            <a:r>
              <a:rPr kumimoji="1" lang="ja-JP" altLang="en-US" dirty="0" smtClean="0">
                <a:latin typeface="+mn-ea"/>
                <a:ea typeface="+mn-ea"/>
              </a:rPr>
              <a:t>パッケージは、プラットフォームのプロセスを管理します。</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smtClean="0">
              <a:latin typeface="+mn-ea"/>
              <a:ea typeface="+mn-ea"/>
            </a:endParaRPr>
          </a:p>
          <a:p>
            <a:r>
              <a:rPr kumimoji="1" lang="ja-JP" altLang="en-US" dirty="0" smtClean="0">
                <a:latin typeface="+mn-ea"/>
                <a:ea typeface="+mn-ea"/>
              </a:rPr>
              <a:t>次に、</a:t>
            </a:r>
            <a:r>
              <a:rPr kumimoji="1" lang="en-US" altLang="ja-JP" dirty="0" smtClean="0">
                <a:latin typeface="+mn-ea"/>
                <a:ea typeface="+mn-ea"/>
              </a:rPr>
              <a:t>Middleware</a:t>
            </a:r>
            <a:r>
              <a:rPr kumimoji="1" lang="ja-JP" altLang="en-US" dirty="0" smtClean="0">
                <a:latin typeface="+mn-ea"/>
                <a:ea typeface="+mn-ea"/>
              </a:rPr>
              <a:t>レイヤについて説明します。</a:t>
            </a:r>
            <a:endParaRPr kumimoji="1" lang="en-US" altLang="ja-JP" dirty="0" smtClean="0">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27</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0070C0"/>
                </a:solidFill>
                <a:latin typeface="+mn-ea"/>
                <a:ea typeface="+mn-ea"/>
                <a:cs typeface="Meiryo UI" panose="020B0604030504040204" pitchFamily="50" charset="-128"/>
              </a:rPr>
              <a:t>OS Library</a:t>
            </a:r>
            <a:r>
              <a:rPr lang="ja-JP" altLang="en-US" sz="1200" b="0" baseline="0" dirty="0" smtClean="0">
                <a:solidFill>
                  <a:srgbClr val="0070C0"/>
                </a:solidFill>
                <a:latin typeface="+mn-ea"/>
                <a:ea typeface="+mn-ea"/>
                <a:cs typeface="Meiryo UI" panose="020B0604030504040204" pitchFamily="50" charset="-128"/>
              </a:rPr>
              <a:t> </a:t>
            </a:r>
            <a:r>
              <a:rPr lang="en-US" altLang="ja-JP" sz="1200" b="0" baseline="0" dirty="0" smtClean="0">
                <a:solidFill>
                  <a:srgbClr val="0070C0"/>
                </a:solidFill>
                <a:latin typeface="+mn-ea"/>
                <a:ea typeface="+mn-ea"/>
                <a:cs typeface="Meiryo UI" panose="020B0604030504040204" pitchFamily="50" charset="-128"/>
              </a:rPr>
              <a:t>package p</a:t>
            </a:r>
            <a:r>
              <a:rPr lang="en-US" altLang="ja-JP" sz="1200" dirty="0" smtClean="0">
                <a:solidFill>
                  <a:schemeClr val="tx1"/>
                </a:solidFill>
                <a:latin typeface="+mn-ea"/>
                <a:ea typeface="+mn-ea"/>
                <a:cs typeface="Meiryo UI" panose="020B0604030504040204" pitchFamily="50" charset="-128"/>
              </a:rPr>
              <a:t>rovides the operational means in order to use the technological elements that are directly connected to OS base element.</a:t>
            </a:r>
            <a:endParaRPr kumimoji="1" lang="en-US" altLang="ja-JP" sz="1200" dirty="0" smtClean="0">
              <a:latin typeface="+mn-ea"/>
              <a:ea typeface="+mn-ea"/>
            </a:endParaRPr>
          </a:p>
          <a:p>
            <a:endParaRPr kumimoji="1" lang="en-US" altLang="ja-JP" sz="1200" dirty="0" smtClean="0">
              <a:latin typeface="+mn-ea"/>
              <a:ea typeface="+mn-ea"/>
            </a:endParaRPr>
          </a:p>
          <a:p>
            <a:r>
              <a:rPr kumimoji="1" lang="en-US" altLang="ja-JP" sz="1200" baseline="0" dirty="0" err="1" smtClean="0">
                <a:latin typeface="+mn-ea"/>
                <a:ea typeface="+mn-ea"/>
              </a:rPr>
              <a:t>oslSDL</a:t>
            </a:r>
            <a:r>
              <a:rPr kumimoji="1" lang="en-US" altLang="ja-JP" sz="1200" baseline="0" dirty="0" smtClean="0">
                <a:latin typeface="+mn-ea"/>
                <a:ea typeface="+mn-ea"/>
              </a:rPr>
              <a:t> provides </a:t>
            </a:r>
            <a:r>
              <a:rPr kumimoji="1" lang="en-US" altLang="ja-JP" sz="1200" dirty="0" smtClean="0">
                <a:latin typeface="+mn-ea"/>
                <a:ea typeface="+mn-ea"/>
              </a:rPr>
              <a:t>System Device Logic. These</a:t>
            </a:r>
            <a:r>
              <a:rPr kumimoji="1" lang="en-US" altLang="ja-JP" sz="1200" baseline="0" dirty="0" smtClean="0">
                <a:latin typeface="+mn-ea"/>
                <a:ea typeface="+mn-ea"/>
              </a:rPr>
              <a:t> are </a:t>
            </a:r>
            <a:r>
              <a:rPr kumimoji="1" lang="en-US" altLang="ja-JP" sz="1200" dirty="0" smtClean="0">
                <a:latin typeface="+mn-ea"/>
                <a:ea typeface="+mn-ea"/>
              </a:rPr>
              <a:t>firmware</a:t>
            </a:r>
            <a:r>
              <a:rPr kumimoji="1" lang="en-US" altLang="ja-JP" sz="1200" baseline="0" dirty="0" smtClean="0">
                <a:latin typeface="+mn-ea"/>
                <a:ea typeface="+mn-ea"/>
              </a:rPr>
              <a:t> update, time-zone setting, and so on.</a:t>
            </a:r>
          </a:p>
          <a:p>
            <a:r>
              <a:rPr kumimoji="1" lang="en-US" altLang="ja-JP" sz="1200" baseline="0" dirty="0" err="1" smtClean="0">
                <a:latin typeface="+mn-ea"/>
                <a:ea typeface="+mn-ea"/>
              </a:rPr>
              <a:t>oslSCR</a:t>
            </a:r>
            <a:r>
              <a:rPr kumimoji="1" lang="en-US" altLang="ja-JP" sz="1200" baseline="0" dirty="0" smtClean="0">
                <a:latin typeface="+mn-ea"/>
                <a:ea typeface="+mn-ea"/>
              </a:rPr>
              <a:t> provides </a:t>
            </a:r>
            <a:r>
              <a:rPr kumimoji="1" lang="en-US" altLang="ja-JP" sz="1200" dirty="0" smtClean="0">
                <a:latin typeface="+mn-ea"/>
                <a:ea typeface="+mn-ea"/>
              </a:rPr>
              <a:t>Security logic.</a:t>
            </a:r>
            <a:r>
              <a:rPr kumimoji="1" lang="en-US" altLang="ja-JP" sz="1200" baseline="0" dirty="0" smtClean="0">
                <a:latin typeface="+mn-ea"/>
                <a:ea typeface="+mn-ea"/>
              </a:rPr>
              <a:t> These are </a:t>
            </a:r>
            <a:r>
              <a:rPr kumimoji="1" lang="en-US" altLang="ja-JP" sz="1200" dirty="0" smtClean="0">
                <a:latin typeface="+mn-ea"/>
                <a:ea typeface="+mn-ea"/>
              </a:rPr>
              <a:t>security kit,</a:t>
            </a:r>
            <a:r>
              <a:rPr kumimoji="1" lang="ja-JP" altLang="en-US" sz="1200" baseline="0" dirty="0" smtClean="0">
                <a:latin typeface="+mn-ea"/>
                <a:ea typeface="+mn-ea"/>
              </a:rPr>
              <a:t> </a:t>
            </a:r>
            <a:r>
              <a:rPr kumimoji="1" lang="en-US" altLang="ja-JP" sz="1200" dirty="0" smtClean="0">
                <a:latin typeface="+mn-ea"/>
                <a:ea typeface="+mn-ea"/>
              </a:rPr>
              <a:t>activation,</a:t>
            </a:r>
            <a:r>
              <a:rPr kumimoji="1" lang="en-US" altLang="ja-JP" sz="1200" baseline="0" dirty="0" smtClean="0">
                <a:latin typeface="+mn-ea"/>
                <a:ea typeface="+mn-ea"/>
              </a:rPr>
              <a:t> encryption logic and so on</a:t>
            </a:r>
          </a:p>
          <a:p>
            <a:r>
              <a:rPr lang="en-US" altLang="ja-JP" sz="1200" b="0" dirty="0" smtClean="0">
                <a:solidFill>
                  <a:srgbClr val="0070C0"/>
                </a:solidFill>
                <a:latin typeface="+mn-ea"/>
                <a:ea typeface="+mn-ea"/>
                <a:cs typeface="Meiryo UI" panose="020B0604030504040204" pitchFamily="50" charset="-128"/>
              </a:rPr>
              <a:t>Base Mechanism package p</a:t>
            </a:r>
            <a:r>
              <a:rPr lang="en-US" altLang="ja-JP" sz="1200" dirty="0" smtClean="0">
                <a:solidFill>
                  <a:schemeClr val="tx1"/>
                </a:solidFill>
                <a:latin typeface="+mn-ea"/>
                <a:ea typeface="+mn-ea"/>
                <a:cs typeface="Meiryo UI" panose="020B0604030504040204" pitchFamily="50" charset="-128"/>
              </a:rPr>
              <a:t>rovides the basic structure and mechanism element as architectural mechanism to the whole system.</a:t>
            </a:r>
            <a:endParaRPr lang="en-US" altLang="ja-JP" sz="1200" b="1" dirty="0" smtClean="0">
              <a:solidFill>
                <a:schemeClr val="tx1"/>
              </a:solidFill>
              <a:latin typeface="+mn-ea"/>
              <a:ea typeface="+mn-ea"/>
              <a:cs typeface="Meiryo UI" panose="020B0604030504040204" pitchFamily="50" charset="-128"/>
            </a:endParaRPr>
          </a:p>
          <a:p>
            <a:endParaRPr kumimoji="1" lang="en-US" altLang="ja-JP" sz="1200" dirty="0" smtClean="0">
              <a:latin typeface="+mn-ea"/>
              <a:ea typeface="+mn-ea"/>
            </a:endParaRPr>
          </a:p>
          <a:p>
            <a:endParaRPr kumimoji="1" lang="en-US" altLang="ja-JP" sz="1200" dirty="0" smtClean="0">
              <a:latin typeface="+mn-ea"/>
              <a:ea typeface="+mn-ea"/>
            </a:endParaRPr>
          </a:p>
          <a:p>
            <a:r>
              <a:rPr kumimoji="1" lang="en-US" altLang="ja-JP" sz="1200" dirty="0" smtClean="0">
                <a:latin typeface="+mn-ea"/>
                <a:ea typeface="+mn-ea"/>
              </a:rPr>
              <a:t>OS Library</a:t>
            </a:r>
            <a:r>
              <a:rPr kumimoji="1" lang="ja-JP" altLang="en-US" sz="1200" dirty="0" smtClean="0">
                <a:latin typeface="+mn-ea"/>
                <a:ea typeface="+mn-ea"/>
              </a:rPr>
              <a:t>パッケージは、</a:t>
            </a:r>
            <a:r>
              <a:rPr kumimoji="1" lang="en-US" altLang="ja-JP" sz="1200" dirty="0" smtClean="0">
                <a:latin typeface="+mn-ea"/>
                <a:ea typeface="+mn-ea"/>
              </a:rPr>
              <a:t>OS</a:t>
            </a:r>
            <a:r>
              <a:rPr kumimoji="1" lang="ja-JP" altLang="en-US" sz="1200" dirty="0" smtClean="0">
                <a:latin typeface="+mn-ea"/>
                <a:ea typeface="+mn-ea"/>
              </a:rPr>
              <a:t>基盤要素に直結した技術要素を利用するための操作手段を提供します。</a:t>
            </a:r>
            <a:endParaRPr kumimoji="1" lang="en-US" altLang="ja-JP" sz="1200" dirty="0" smtClean="0">
              <a:latin typeface="+mn-ea"/>
              <a:ea typeface="+mn-ea"/>
            </a:endParaRPr>
          </a:p>
          <a:p>
            <a:endParaRPr kumimoji="1" lang="en-US" altLang="ja-JP" sz="1200" dirty="0" smtClean="0">
              <a:latin typeface="+mn-ea"/>
              <a:ea typeface="+mn-ea"/>
            </a:endParaRPr>
          </a:p>
          <a:p>
            <a:r>
              <a:rPr kumimoji="1" lang="en-US" altLang="ja-JP" sz="1200" kern="1200" dirty="0" err="1" smtClean="0">
                <a:solidFill>
                  <a:schemeClr val="tx1"/>
                </a:solidFill>
                <a:latin typeface="+mn-lt"/>
                <a:ea typeface="+mn-ea"/>
                <a:cs typeface="+mn-cs"/>
              </a:rPr>
              <a:t>olsSDL</a:t>
            </a:r>
            <a:r>
              <a:rPr kumimoji="1" lang="ja-JP" altLang="ja-JP" sz="1200" kern="1200" dirty="0" smtClean="0">
                <a:solidFill>
                  <a:schemeClr val="tx1"/>
                </a:solidFill>
                <a:latin typeface="+mn-lt"/>
                <a:ea typeface="+mn-ea"/>
                <a:cs typeface="+mn-cs"/>
              </a:rPr>
              <a:t>は、</a:t>
            </a:r>
            <a:r>
              <a:rPr kumimoji="1" lang="en-US" altLang="ja-JP" sz="1200" kern="1200" dirty="0" smtClean="0">
                <a:solidFill>
                  <a:schemeClr val="tx1"/>
                </a:solidFill>
                <a:latin typeface="+mn-lt"/>
                <a:ea typeface="+mn-ea"/>
                <a:cs typeface="+mn-cs"/>
              </a:rPr>
              <a:t>FW-Update</a:t>
            </a:r>
            <a:r>
              <a:rPr kumimoji="1" lang="ja-JP" altLang="ja-JP" sz="1200" kern="1200" dirty="0" err="1" smtClean="0">
                <a:solidFill>
                  <a:schemeClr val="tx1"/>
                </a:solidFill>
                <a:latin typeface="+mn-lt"/>
                <a:ea typeface="+mn-ea"/>
                <a:cs typeface="+mn-cs"/>
              </a:rPr>
              <a:t>、</a:t>
            </a:r>
            <a:r>
              <a:rPr kumimoji="1" lang="ja-JP" altLang="ja-JP" sz="1200" kern="1200" dirty="0" smtClean="0">
                <a:solidFill>
                  <a:schemeClr val="tx1"/>
                </a:solidFill>
                <a:latin typeface="+mn-lt"/>
                <a:ea typeface="+mn-ea"/>
                <a:cs typeface="+mn-cs"/>
              </a:rPr>
              <a:t>タイムゾーン設定インタフェースなど、システムロジック制御処理を提供します。</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err="1" smtClean="0">
                <a:solidFill>
                  <a:schemeClr val="tx1"/>
                </a:solidFill>
                <a:latin typeface="+mn-lt"/>
                <a:ea typeface="+mn-ea"/>
                <a:cs typeface="+mn-cs"/>
              </a:rPr>
              <a:t>oslSCR</a:t>
            </a:r>
            <a:r>
              <a:rPr kumimoji="1" lang="ja-JP" altLang="ja-JP" sz="1200" kern="1200" dirty="0" smtClean="0">
                <a:solidFill>
                  <a:schemeClr val="tx1"/>
                </a:solidFill>
                <a:latin typeface="+mn-lt"/>
                <a:ea typeface="+mn-ea"/>
                <a:cs typeface="+mn-cs"/>
              </a:rPr>
              <a:t>は、</a:t>
            </a:r>
            <a:r>
              <a:rPr kumimoji="1" lang="en-US" altLang="ja-JP" sz="1200" kern="1200" dirty="0" err="1" smtClean="0">
                <a:solidFill>
                  <a:schemeClr val="tx1"/>
                </a:solidFill>
                <a:latin typeface="+mn-lt"/>
                <a:ea typeface="+mn-ea"/>
                <a:cs typeface="+mn-cs"/>
              </a:rPr>
              <a:t>securitykit</a:t>
            </a:r>
            <a:r>
              <a:rPr kumimoji="1" lang="ja-JP" altLang="ja-JP" sz="1200" kern="1200" dirty="0" err="1" smtClean="0">
                <a:solidFill>
                  <a:schemeClr val="tx1"/>
                </a:solidFill>
                <a:latin typeface="+mn-lt"/>
                <a:ea typeface="+mn-ea"/>
                <a:cs typeface="+mn-cs"/>
              </a:rPr>
              <a:t>、</a:t>
            </a:r>
            <a:r>
              <a:rPr kumimoji="1" lang="en-US" altLang="ja-JP" sz="1200" kern="1200" dirty="0" smtClean="0">
                <a:solidFill>
                  <a:schemeClr val="tx1"/>
                </a:solidFill>
                <a:latin typeface="+mn-lt"/>
                <a:ea typeface="+mn-ea"/>
                <a:cs typeface="+mn-cs"/>
              </a:rPr>
              <a:t>activation</a:t>
            </a:r>
            <a:r>
              <a:rPr kumimoji="1" lang="ja-JP" altLang="ja-JP" sz="1200" kern="1200" dirty="0" err="1" smtClean="0">
                <a:solidFill>
                  <a:schemeClr val="tx1"/>
                </a:solidFill>
                <a:latin typeface="+mn-lt"/>
                <a:ea typeface="+mn-ea"/>
                <a:cs typeface="+mn-cs"/>
              </a:rPr>
              <a:t>、</a:t>
            </a:r>
            <a:r>
              <a:rPr kumimoji="1" lang="ja-JP" altLang="ja-JP" sz="1200" kern="1200" dirty="0" smtClean="0">
                <a:solidFill>
                  <a:schemeClr val="tx1"/>
                </a:solidFill>
                <a:latin typeface="+mn-lt"/>
                <a:ea typeface="+mn-ea"/>
                <a:cs typeface="+mn-cs"/>
              </a:rPr>
              <a:t>暗号化など、セキュリティロジックを提供します。</a:t>
            </a:r>
          </a:p>
          <a:p>
            <a:endParaRPr kumimoji="1" lang="en-US" altLang="ja-JP" sz="1200" dirty="0" smtClean="0">
              <a:latin typeface="+mn-ea"/>
              <a:ea typeface="+mn-ea"/>
            </a:endParaRPr>
          </a:p>
          <a:p>
            <a:r>
              <a:rPr kumimoji="1" lang="en-US" altLang="ja-JP" sz="1200" dirty="0" smtClean="0">
                <a:latin typeface="+mn-ea"/>
                <a:ea typeface="+mn-ea"/>
              </a:rPr>
              <a:t>Base </a:t>
            </a:r>
            <a:r>
              <a:rPr kumimoji="1" lang="en-US" altLang="ja-JP" sz="1200" dirty="0" err="1" smtClean="0">
                <a:latin typeface="+mn-ea"/>
                <a:ea typeface="+mn-ea"/>
              </a:rPr>
              <a:t>Mechanisim</a:t>
            </a:r>
            <a:r>
              <a:rPr kumimoji="1" lang="ja-JP" altLang="en-US" sz="1200" dirty="0" smtClean="0">
                <a:latin typeface="+mn-ea"/>
                <a:ea typeface="+mn-ea"/>
              </a:rPr>
              <a:t>パッケージは、アーキテクチャーメカニズムとしての基本的な仕組みや、仕掛けのメカニズム要素をシステム全体に提供します。</a:t>
            </a:r>
            <a:endParaRPr kumimoji="1" lang="en-US" altLang="ja-JP" sz="1200" dirty="0" smtClean="0">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28</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0070C0"/>
                </a:solidFill>
                <a:latin typeface="+mn-ea"/>
                <a:ea typeface="+mn-ea"/>
                <a:cs typeface="Meiryo UI" panose="020B0604030504040204" pitchFamily="50" charset="-128"/>
              </a:rPr>
              <a:t>Platform Entity package m</a:t>
            </a:r>
            <a:r>
              <a:rPr lang="en-US" altLang="ja-JP" sz="1200" dirty="0" smtClean="0">
                <a:solidFill>
                  <a:schemeClr val="tx1"/>
                </a:solidFill>
                <a:latin typeface="+mn-ea"/>
                <a:ea typeface="+mn-ea"/>
                <a:cs typeface="Meiryo UI" panose="020B0604030504040204" pitchFamily="50" charset="-128"/>
              </a:rPr>
              <a:t>anages and holds the data related to platform, provides data operation.</a:t>
            </a:r>
            <a:endParaRPr kumimoji="1" lang="en-US" altLang="ja-JP" sz="1200" dirty="0" smtClean="0">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0070C0"/>
                </a:solidFill>
                <a:latin typeface="+mn-ea"/>
                <a:ea typeface="+mn-ea"/>
                <a:cs typeface="Meiryo UI" panose="020B0604030504040204" pitchFamily="50" charset="-128"/>
              </a:rPr>
              <a:t>Database package p</a:t>
            </a:r>
            <a:r>
              <a:rPr lang="en-US" altLang="ja-JP" sz="1200" b="0" dirty="0" smtClean="0">
                <a:solidFill>
                  <a:schemeClr val="tx1"/>
                </a:solidFill>
                <a:latin typeface="+mn-ea"/>
                <a:ea typeface="+mn-ea"/>
                <a:cs typeface="Meiryo UI" panose="020B0604030504040204" pitchFamily="50" charset="-128"/>
              </a:rPr>
              <a:t>rovides the means to manage data.</a:t>
            </a:r>
          </a:p>
          <a:p>
            <a:endParaRPr kumimoji="1" lang="en-US" altLang="ja-JP" sz="1200" dirty="0" smtClean="0">
              <a:latin typeface="+mn-ea"/>
              <a:ea typeface="+mn-ea"/>
            </a:endParaRPr>
          </a:p>
          <a:p>
            <a:r>
              <a:rPr kumimoji="1" lang="en-US" altLang="ja-JP" sz="1200" dirty="0" err="1" smtClean="0">
                <a:latin typeface="+mn-ea"/>
                <a:ea typeface="+mn-ea"/>
              </a:rPr>
              <a:t>Plafform</a:t>
            </a:r>
            <a:r>
              <a:rPr kumimoji="1" lang="en-US" altLang="ja-JP" sz="1200" dirty="0" smtClean="0">
                <a:latin typeface="+mn-ea"/>
                <a:ea typeface="+mn-ea"/>
              </a:rPr>
              <a:t> Entity</a:t>
            </a:r>
            <a:r>
              <a:rPr kumimoji="1" lang="ja-JP" altLang="en-US" sz="1200" dirty="0" smtClean="0">
                <a:latin typeface="+mn-ea"/>
                <a:ea typeface="+mn-ea"/>
              </a:rPr>
              <a:t>パッケージは、プラットフォームに関連するデータ管理、保持、そしてそのデータ操作を提供するパッケージです。</a:t>
            </a:r>
            <a:endParaRPr kumimoji="1" lang="en-US" altLang="ja-JP" sz="1200" dirty="0" smtClean="0">
              <a:latin typeface="+mn-ea"/>
              <a:ea typeface="+mn-ea"/>
            </a:endParaRPr>
          </a:p>
          <a:p>
            <a:r>
              <a:rPr kumimoji="1" lang="en-US" altLang="ja-JP" sz="1200" dirty="0" smtClean="0">
                <a:latin typeface="+mn-ea"/>
                <a:ea typeface="+mn-ea"/>
              </a:rPr>
              <a:t>Database</a:t>
            </a:r>
            <a:r>
              <a:rPr kumimoji="1" lang="ja-JP" altLang="en-US" sz="1200" dirty="0" smtClean="0">
                <a:latin typeface="+mn-ea"/>
                <a:ea typeface="+mn-ea"/>
              </a:rPr>
              <a:t>パッケージは、</a:t>
            </a:r>
            <a:r>
              <a:rPr kumimoji="1" lang="en-US" altLang="ja-JP" sz="1200" dirty="0" smtClean="0">
                <a:latin typeface="+mn-ea"/>
                <a:ea typeface="+mn-ea"/>
              </a:rPr>
              <a:t>Entity</a:t>
            </a:r>
            <a:r>
              <a:rPr kumimoji="1" lang="ja-JP" altLang="en-US" sz="1200" dirty="0" smtClean="0">
                <a:latin typeface="+mn-ea"/>
                <a:ea typeface="+mn-ea"/>
              </a:rPr>
              <a:t>で扱うデータの管理手段を提供しています。</a:t>
            </a:r>
            <a:endParaRPr kumimoji="1" lang="en-US" altLang="ja-JP" sz="1200" dirty="0" smtClean="0">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29</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rgbClr val="0070C0"/>
                </a:solidFill>
                <a:latin typeface="+mn-ea"/>
                <a:ea typeface="+mn-ea"/>
                <a:cs typeface="Meiryo UI" panose="020B0604030504040204" pitchFamily="50" charset="-128"/>
              </a:rPr>
              <a:t>Device Unit package p</a:t>
            </a:r>
            <a:r>
              <a:rPr lang="en-US" altLang="ja-JP" sz="1200" b="0" dirty="0" smtClean="0">
                <a:solidFill>
                  <a:schemeClr val="tx1"/>
                </a:solidFill>
                <a:latin typeface="+mn-ea"/>
                <a:ea typeface="+mn-ea"/>
                <a:cs typeface="Meiryo UI" panose="020B0604030504040204" pitchFamily="50" charset="-128"/>
              </a:rPr>
              <a:t>rovides concrete means to operate devices.</a:t>
            </a:r>
            <a:endParaRPr kumimoji="1" lang="en-US" altLang="ja-JP" dirty="0" smtClean="0">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smtClean="0">
                <a:latin typeface="+mn-ea"/>
                <a:ea typeface="+mn-ea"/>
              </a:rPr>
              <a:t>This Package</a:t>
            </a:r>
            <a:r>
              <a:rPr kumimoji="1" lang="en-US" altLang="ja-JP" baseline="0" dirty="0" smtClean="0">
                <a:latin typeface="+mn-ea"/>
                <a:ea typeface="+mn-ea"/>
              </a:rPr>
              <a:t> has components for each device, Scanner, Panel, Account Device, Print Engine, Stream, and so on.</a:t>
            </a:r>
          </a:p>
          <a:p>
            <a:endParaRPr kumimoji="1" lang="en-US" altLang="ja-JP" dirty="0" smtClean="0">
              <a:latin typeface="+mn-ea"/>
              <a:ea typeface="+mn-ea"/>
            </a:endParaRPr>
          </a:p>
          <a:p>
            <a:r>
              <a:rPr kumimoji="1" lang="en-US" altLang="ja-JP" dirty="0" smtClean="0">
                <a:latin typeface="+mn-ea"/>
                <a:ea typeface="+mn-ea"/>
              </a:rPr>
              <a:t>Device Unit</a:t>
            </a:r>
            <a:r>
              <a:rPr kumimoji="1" lang="ja-JP" altLang="en-US" dirty="0" smtClean="0">
                <a:latin typeface="+mn-ea"/>
                <a:ea typeface="+mn-ea"/>
              </a:rPr>
              <a:t>パッケージは、デバイスを操作する具体的な手段を提供するパッケージです。</a:t>
            </a:r>
            <a:endParaRPr kumimoji="1" lang="en-US" altLang="ja-JP" dirty="0" smtClean="0">
              <a:latin typeface="+mn-ea"/>
              <a:ea typeface="+mn-ea"/>
            </a:endParaRPr>
          </a:p>
          <a:p>
            <a:r>
              <a:rPr kumimoji="1" lang="en-US" altLang="ja-JP" dirty="0" smtClean="0">
                <a:latin typeface="+mn-ea"/>
                <a:ea typeface="+mn-ea"/>
              </a:rPr>
              <a:t>Scanner</a:t>
            </a:r>
            <a:r>
              <a:rPr kumimoji="1" lang="ja-JP" altLang="en-US" dirty="0" err="1" smtClean="0">
                <a:latin typeface="+mn-ea"/>
                <a:ea typeface="+mn-ea"/>
              </a:rPr>
              <a:t>、</a:t>
            </a:r>
            <a:r>
              <a:rPr kumimoji="1" lang="en-US" altLang="ja-JP" dirty="0" smtClean="0">
                <a:latin typeface="+mn-ea"/>
                <a:ea typeface="+mn-ea"/>
              </a:rPr>
              <a:t>Print</a:t>
            </a:r>
            <a:r>
              <a:rPr kumimoji="1" lang="ja-JP" altLang="en-US" dirty="0" smtClean="0">
                <a:latin typeface="+mn-ea"/>
                <a:ea typeface="+mn-ea"/>
              </a:rPr>
              <a:t>　</a:t>
            </a:r>
            <a:r>
              <a:rPr kumimoji="1" lang="en-US" altLang="ja-JP" dirty="0" smtClean="0">
                <a:latin typeface="+mn-ea"/>
                <a:ea typeface="+mn-ea"/>
              </a:rPr>
              <a:t>Engine</a:t>
            </a:r>
            <a:r>
              <a:rPr kumimoji="1" lang="ja-JP" altLang="en-US" dirty="0" err="1" smtClean="0">
                <a:latin typeface="+mn-ea"/>
                <a:ea typeface="+mn-ea"/>
              </a:rPr>
              <a:t>、</a:t>
            </a:r>
            <a:r>
              <a:rPr kumimoji="1" lang="en-US" altLang="ja-JP" dirty="0" smtClean="0">
                <a:latin typeface="+mn-ea"/>
                <a:ea typeface="+mn-ea"/>
              </a:rPr>
              <a:t>Fax</a:t>
            </a:r>
            <a:r>
              <a:rPr kumimoji="1" lang="ja-JP" altLang="en-US" dirty="0" err="1" smtClean="0">
                <a:latin typeface="+mn-ea"/>
                <a:ea typeface="+mn-ea"/>
              </a:rPr>
              <a:t>、</a:t>
            </a:r>
            <a:r>
              <a:rPr kumimoji="1" lang="en-US" altLang="ja-JP" dirty="0" smtClean="0">
                <a:latin typeface="+mn-ea"/>
                <a:ea typeface="+mn-ea"/>
              </a:rPr>
              <a:t>Panel</a:t>
            </a:r>
            <a:r>
              <a:rPr kumimoji="1" lang="ja-JP" altLang="en-US" dirty="0" smtClean="0">
                <a:latin typeface="+mn-ea"/>
                <a:ea typeface="+mn-ea"/>
              </a:rPr>
              <a:t>など、デバイス毎のコンポーネントが配置されます。</a:t>
            </a:r>
            <a:endParaRPr kumimoji="1" lang="en-US" altLang="ja-JP" dirty="0" smtClean="0">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30</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Rendering Unit package provides means to operate the device necessary for processing images.</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200" b="0" i="0" u="none" strike="noStrike" kern="0" cap="none" spc="0" normalizeH="0" baseline="0" noProof="0" dirty="0" err="1"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Gicl</a:t>
            </a:r>
            <a:r>
              <a:rPr kumimoji="0" lang="en-US" altLang="ja-JP" sz="120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 provides controlling means for hardware logic that is related to image processing and means for operating software logic.</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endParaRPr kumimoji="1" lang="en-US" altLang="ja-JP" sz="1200" dirty="0" smtClean="0">
              <a:solidFill>
                <a:schemeClr val="tx1"/>
              </a:solidFill>
              <a:latin typeface="+mn-ea"/>
              <a:ea typeface="+mn-ea"/>
            </a:endParaRPr>
          </a:p>
          <a:p>
            <a:r>
              <a:rPr kumimoji="1" lang="en-US" altLang="ja-JP" sz="1200" dirty="0" smtClean="0">
                <a:solidFill>
                  <a:schemeClr val="tx1"/>
                </a:solidFill>
                <a:latin typeface="+mn-ea"/>
                <a:ea typeface="+mn-ea"/>
              </a:rPr>
              <a:t>Rendering Unit</a:t>
            </a:r>
            <a:r>
              <a:rPr kumimoji="1" lang="ja-JP" altLang="en-US" sz="1200" dirty="0" smtClean="0">
                <a:solidFill>
                  <a:schemeClr val="tx1"/>
                </a:solidFill>
                <a:latin typeface="+mn-ea"/>
                <a:ea typeface="+mn-ea"/>
              </a:rPr>
              <a:t>パッケージは、イメージ処理のために必要となるデバイスを操作する手段を提供します。</a:t>
            </a:r>
            <a:endParaRPr kumimoji="1" lang="en-US" altLang="ja-JP" sz="1200" dirty="0" smtClean="0">
              <a:solidFill>
                <a:schemeClr val="tx1"/>
              </a:solidFill>
              <a:latin typeface="+mn-ea"/>
              <a:ea typeface="+mn-ea"/>
            </a:endParaRPr>
          </a:p>
          <a:p>
            <a:r>
              <a:rPr kumimoji="1" lang="en-US" altLang="ja-JP" sz="1200" dirty="0" err="1" smtClean="0">
                <a:solidFill>
                  <a:schemeClr val="tx1"/>
                </a:solidFill>
                <a:latin typeface="+mn-ea"/>
                <a:ea typeface="+mn-ea"/>
              </a:rPr>
              <a:t>Gicl</a:t>
            </a:r>
            <a:r>
              <a:rPr kumimoji="1" lang="ja-JP" altLang="en-US" sz="1200" dirty="0" smtClean="0">
                <a:solidFill>
                  <a:schemeClr val="tx1"/>
                </a:solidFill>
                <a:latin typeface="+mn-ea"/>
                <a:ea typeface="+mn-ea"/>
              </a:rPr>
              <a:t>は画像処理に関連する</a:t>
            </a:r>
            <a:r>
              <a:rPr kumimoji="1" lang="en-US" altLang="ja-JP" sz="1200" dirty="0" smtClean="0">
                <a:solidFill>
                  <a:schemeClr val="tx1"/>
                </a:solidFill>
                <a:latin typeface="+mn-ea"/>
                <a:ea typeface="+mn-ea"/>
              </a:rPr>
              <a:t>HW</a:t>
            </a:r>
            <a:r>
              <a:rPr kumimoji="1" lang="ja-JP" altLang="en-US" sz="1200" dirty="0" smtClean="0">
                <a:solidFill>
                  <a:schemeClr val="tx1"/>
                </a:solidFill>
                <a:latin typeface="+mn-ea"/>
                <a:ea typeface="+mn-ea"/>
              </a:rPr>
              <a:t>ロジックとソフトウェアロジックを処理するための制御手段を提供します。</a:t>
            </a:r>
            <a:endParaRPr kumimoji="1" lang="en-US" altLang="ja-JP" sz="1200" dirty="0" smtClean="0">
              <a:solidFill>
                <a:schemeClr val="tx1"/>
              </a:solidFill>
              <a:latin typeface="+mn-ea"/>
              <a:ea typeface="+mn-ea"/>
            </a:endParaRPr>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31</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Protocol Server provides server operational means that supports network protocol.</a:t>
            </a:r>
          </a:p>
          <a:p>
            <a:endParaRPr kumimoji="1" lang="en-US" altLang="ja-JP" sz="1200" dirty="0" smtClean="0">
              <a:solidFill>
                <a:schemeClr val="tx1"/>
              </a:solidFill>
              <a:latin typeface="+mn-ea"/>
              <a:ea typeface="+mn-ea"/>
            </a:endParaRP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dirty="0" smtClean="0">
                <a:solidFill>
                  <a:schemeClr val="tx1"/>
                </a:solidFill>
                <a:latin typeface="+mn-ea"/>
                <a:ea typeface="+mn-ea"/>
                <a:cs typeface="Meiryo UI" panose="020B0604030504040204" pitchFamily="50" charset="-128"/>
              </a:rPr>
              <a:t>Utility package provides useful functions to be used in the platform in common.</a:t>
            </a: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200" b="0" baseline="0" dirty="0" smtClean="0">
                <a:solidFill>
                  <a:schemeClr val="tx1"/>
                </a:solidFill>
                <a:latin typeface="+mn-ea"/>
                <a:ea typeface="+mn-ea"/>
                <a:cs typeface="Meiryo UI" panose="020B0604030504040204" pitchFamily="50" charset="-128"/>
              </a:rPr>
              <a:t>Library which is used by Application side is placed in </a:t>
            </a:r>
            <a:r>
              <a:rPr lang="en-US" altLang="ja-JP" sz="1200" b="0" baseline="0" dirty="0" err="1" smtClean="0">
                <a:solidFill>
                  <a:schemeClr val="tx1"/>
                </a:solidFill>
                <a:latin typeface="+mn-ea"/>
                <a:ea typeface="+mn-ea"/>
                <a:cs typeface="Meiryo UI" panose="020B0604030504040204" pitchFamily="50" charset="-128"/>
              </a:rPr>
              <a:t>putLIB</a:t>
            </a:r>
            <a:r>
              <a:rPr lang="en-US" altLang="ja-JP" sz="1200" b="0" baseline="0" dirty="0" smtClean="0">
                <a:solidFill>
                  <a:schemeClr val="tx1"/>
                </a:solidFill>
                <a:latin typeface="+mn-ea"/>
                <a:ea typeface="+mn-ea"/>
                <a:cs typeface="Meiryo UI" panose="020B0604030504040204" pitchFamily="50" charset="-128"/>
              </a:rPr>
              <a:t> and </a:t>
            </a:r>
            <a:r>
              <a:rPr lang="en-US" altLang="ja-JP" sz="1200" b="0" baseline="0" dirty="0" err="1" smtClean="0">
                <a:solidFill>
                  <a:schemeClr val="tx1"/>
                </a:solidFill>
                <a:latin typeface="+mn-ea"/>
                <a:ea typeface="+mn-ea"/>
                <a:cs typeface="Meiryo UI" panose="020B0604030504040204" pitchFamily="50" charset="-128"/>
              </a:rPr>
              <a:t>putRULE</a:t>
            </a:r>
            <a:r>
              <a:rPr lang="en-US" altLang="ja-JP" sz="1200" b="0" baseline="0" dirty="0" smtClean="0">
                <a:solidFill>
                  <a:schemeClr val="tx1"/>
                </a:solidFill>
                <a:latin typeface="+mn-ea"/>
                <a:ea typeface="+mn-ea"/>
                <a:cs typeface="Meiryo UI" panose="020B0604030504040204" pitchFamily="50" charset="-128"/>
              </a:rPr>
              <a:t> in Platform Service Layer.</a:t>
            </a:r>
            <a:endParaRPr lang="en-US" altLang="ja-JP" sz="1200" b="0" dirty="0" smtClean="0">
              <a:solidFill>
                <a:schemeClr val="tx1"/>
              </a:solidFill>
              <a:latin typeface="+mn-ea"/>
              <a:ea typeface="+mn-ea"/>
              <a:cs typeface="Meiryo UI" panose="020B0604030504040204" pitchFamily="50" charset="-128"/>
            </a:endParaRPr>
          </a:p>
          <a:p>
            <a:endParaRPr kumimoji="1" lang="en-US" altLang="ja-JP" sz="1200" dirty="0" smtClean="0">
              <a:solidFill>
                <a:schemeClr val="tx1"/>
              </a:solidFill>
              <a:latin typeface="+mn-ea"/>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dirty="0" smtClean="0">
                <a:solidFill>
                  <a:schemeClr val="tx1"/>
                </a:solidFill>
                <a:latin typeface="+mn-ea"/>
                <a:ea typeface="+mn-ea"/>
              </a:rPr>
              <a:t>Next I explain about Process configuration</a:t>
            </a:r>
            <a:r>
              <a:rPr kumimoji="1" lang="en-US" altLang="ja-JP" sz="1200" baseline="0" dirty="0" smtClean="0">
                <a:solidFill>
                  <a:schemeClr val="tx1"/>
                </a:solidFill>
                <a:latin typeface="+mn-ea"/>
                <a:ea typeface="+mn-ea"/>
              </a:rPr>
              <a:t>.</a:t>
            </a:r>
            <a:endParaRPr kumimoji="1" lang="en-US" altLang="ja-JP" sz="1200" dirty="0" smtClean="0">
              <a:solidFill>
                <a:schemeClr val="tx1"/>
              </a:solidFill>
              <a:latin typeface="+mn-ea"/>
              <a:ea typeface="+mn-ea"/>
            </a:endParaRPr>
          </a:p>
          <a:p>
            <a:endParaRPr kumimoji="1" lang="en-US" altLang="ja-JP" sz="1200" dirty="0" smtClean="0">
              <a:solidFill>
                <a:schemeClr val="tx1"/>
              </a:solidFill>
              <a:latin typeface="+mn-ea"/>
              <a:ea typeface="+mn-ea"/>
            </a:endParaRPr>
          </a:p>
          <a:p>
            <a:endParaRPr kumimoji="1" lang="en-US" altLang="ja-JP" sz="1200" dirty="0" smtClean="0">
              <a:solidFill>
                <a:schemeClr val="tx1"/>
              </a:solidFill>
              <a:latin typeface="+mn-ea"/>
              <a:ea typeface="+mn-ea"/>
            </a:endParaRPr>
          </a:p>
          <a:p>
            <a:r>
              <a:rPr kumimoji="1" lang="en-US" altLang="ja-JP" sz="1200" dirty="0" smtClean="0">
                <a:solidFill>
                  <a:schemeClr val="tx1"/>
                </a:solidFill>
                <a:latin typeface="+mn-ea"/>
                <a:ea typeface="+mn-ea"/>
              </a:rPr>
              <a:t>Protocol Server</a:t>
            </a:r>
            <a:r>
              <a:rPr kumimoji="1" lang="ja-JP" altLang="en-US" sz="1200" dirty="0" smtClean="0">
                <a:solidFill>
                  <a:schemeClr val="tx1"/>
                </a:solidFill>
                <a:latin typeface="+mn-ea"/>
                <a:ea typeface="+mn-ea"/>
              </a:rPr>
              <a:t>パッケージは、ネットワークプロトコルに対応したサーバー操作手段を提供します。</a:t>
            </a:r>
            <a:endParaRPr kumimoji="1" lang="en-US" altLang="ja-JP" sz="1200" dirty="0" smtClean="0">
              <a:solidFill>
                <a:schemeClr val="tx1"/>
              </a:solidFill>
              <a:latin typeface="+mn-ea"/>
              <a:ea typeface="+mn-ea"/>
            </a:endParaRPr>
          </a:p>
          <a:p>
            <a:endParaRPr kumimoji="1" lang="en-US" altLang="ja-JP" sz="1200" dirty="0" smtClean="0">
              <a:solidFill>
                <a:schemeClr val="tx1"/>
              </a:solidFill>
              <a:latin typeface="+mn-ea"/>
              <a:ea typeface="+mn-ea"/>
            </a:endParaRPr>
          </a:p>
          <a:p>
            <a:r>
              <a:rPr kumimoji="1" lang="en-US" altLang="ja-JP" sz="1200" dirty="0" smtClean="0">
                <a:solidFill>
                  <a:schemeClr val="tx1"/>
                </a:solidFill>
                <a:latin typeface="+mn-ea"/>
                <a:ea typeface="+mn-ea"/>
              </a:rPr>
              <a:t>Utility</a:t>
            </a:r>
            <a:r>
              <a:rPr kumimoji="1" lang="ja-JP" altLang="en-US" sz="1200" dirty="0" smtClean="0">
                <a:solidFill>
                  <a:schemeClr val="tx1"/>
                </a:solidFill>
                <a:latin typeface="+mn-ea"/>
                <a:ea typeface="+mn-ea"/>
              </a:rPr>
              <a:t>パッケージは、プラットフォーム内で使用される便利な機能を提供するパッケージです。</a:t>
            </a:r>
            <a:endParaRPr kumimoji="1" lang="en-US" altLang="ja-JP" sz="1200" dirty="0" smtClean="0">
              <a:solidFill>
                <a:schemeClr val="tx1"/>
              </a:solidFill>
              <a:latin typeface="+mn-ea"/>
              <a:ea typeface="+mn-ea"/>
            </a:endParaRPr>
          </a:p>
          <a:p>
            <a:r>
              <a:rPr kumimoji="1" lang="ja-JP" altLang="en-US" sz="1200" dirty="0" smtClean="0">
                <a:solidFill>
                  <a:schemeClr val="tx1"/>
                </a:solidFill>
                <a:latin typeface="+mn-ea"/>
                <a:ea typeface="+mn-ea"/>
              </a:rPr>
              <a:t>アプリケーション側でも使用される</a:t>
            </a:r>
            <a:r>
              <a:rPr kumimoji="1" lang="en-US" altLang="ja-JP" sz="1200" dirty="0" smtClean="0">
                <a:solidFill>
                  <a:schemeClr val="tx1"/>
                </a:solidFill>
                <a:latin typeface="+mn-ea"/>
                <a:ea typeface="+mn-ea"/>
              </a:rPr>
              <a:t>Utility</a:t>
            </a:r>
            <a:r>
              <a:rPr kumimoji="1" lang="ja-JP" altLang="en-US" sz="1200" dirty="0" smtClean="0">
                <a:solidFill>
                  <a:schemeClr val="tx1"/>
                </a:solidFill>
                <a:latin typeface="+mn-ea"/>
                <a:ea typeface="+mn-ea"/>
              </a:rPr>
              <a:t>は、</a:t>
            </a:r>
            <a:r>
              <a:rPr kumimoji="1" lang="en-US" altLang="ja-JP" sz="1200" dirty="0" smtClean="0">
                <a:solidFill>
                  <a:schemeClr val="tx1"/>
                </a:solidFill>
                <a:latin typeface="+mn-ea"/>
                <a:ea typeface="+mn-ea"/>
              </a:rPr>
              <a:t>Platform Utility</a:t>
            </a:r>
            <a:r>
              <a:rPr kumimoji="1" lang="ja-JP" altLang="en-US" sz="1200" dirty="0" smtClean="0">
                <a:solidFill>
                  <a:schemeClr val="tx1"/>
                </a:solidFill>
                <a:latin typeface="+mn-ea"/>
                <a:ea typeface="+mn-ea"/>
              </a:rPr>
              <a:t>パッケージに配置される</a:t>
            </a:r>
            <a:r>
              <a:rPr kumimoji="1" lang="en-US" altLang="ja-JP" sz="1200" dirty="0" err="1" smtClean="0">
                <a:solidFill>
                  <a:schemeClr val="tx1"/>
                </a:solidFill>
                <a:latin typeface="+mn-ea"/>
                <a:ea typeface="+mn-ea"/>
              </a:rPr>
              <a:t>putLIB</a:t>
            </a:r>
            <a:r>
              <a:rPr kumimoji="1" lang="ja-JP" altLang="en-US" sz="1200" dirty="0" err="1" smtClean="0">
                <a:solidFill>
                  <a:schemeClr val="tx1"/>
                </a:solidFill>
                <a:latin typeface="+mn-ea"/>
                <a:ea typeface="+mn-ea"/>
              </a:rPr>
              <a:t>、</a:t>
            </a:r>
            <a:r>
              <a:rPr kumimoji="1" lang="en-US" altLang="ja-JP" sz="1200" dirty="0" err="1" smtClean="0">
                <a:solidFill>
                  <a:schemeClr val="tx1"/>
                </a:solidFill>
                <a:latin typeface="+mn-ea"/>
                <a:ea typeface="+mn-ea"/>
              </a:rPr>
              <a:t>putRULE</a:t>
            </a:r>
            <a:r>
              <a:rPr kumimoji="1" lang="ja-JP" altLang="en-US" sz="1200" dirty="0" err="1" smtClean="0">
                <a:solidFill>
                  <a:schemeClr val="tx1"/>
                </a:solidFill>
                <a:latin typeface="+mn-ea"/>
                <a:ea typeface="+mn-ea"/>
              </a:rPr>
              <a:t>が提</a:t>
            </a:r>
            <a:r>
              <a:rPr kumimoji="1" lang="ja-JP" altLang="en-US" sz="1200" dirty="0" smtClean="0">
                <a:solidFill>
                  <a:schemeClr val="tx1"/>
                </a:solidFill>
                <a:latin typeface="+mn-ea"/>
                <a:ea typeface="+mn-ea"/>
              </a:rPr>
              <a:t>供します。</a:t>
            </a:r>
            <a:endParaRPr kumimoji="1" lang="en-US" altLang="ja-JP" sz="1200" dirty="0" smtClean="0">
              <a:solidFill>
                <a:schemeClr val="tx1"/>
              </a:solidFill>
              <a:latin typeface="+mn-ea"/>
              <a:ea typeface="+mn-ea"/>
            </a:endParaRPr>
          </a:p>
          <a:p>
            <a:endParaRPr kumimoji="1" lang="en-US" altLang="ja-JP" sz="1200" dirty="0" smtClean="0">
              <a:solidFill>
                <a:schemeClr val="tx1"/>
              </a:solidFill>
              <a:latin typeface="+mn-ea"/>
              <a:ea typeface="+mn-ea"/>
            </a:endParaRPr>
          </a:p>
          <a:p>
            <a:r>
              <a:rPr kumimoji="1" lang="ja-JP" altLang="en-US" sz="1200" dirty="0" smtClean="0">
                <a:solidFill>
                  <a:schemeClr val="tx1"/>
                </a:solidFill>
                <a:latin typeface="+mn-ea"/>
                <a:ea typeface="+mn-ea"/>
              </a:rPr>
              <a:t>次に、プロセス構成について説明します。</a:t>
            </a:r>
            <a:endParaRPr kumimoji="1" lang="en-US" altLang="ja-JP" sz="1200" dirty="0" smtClean="0">
              <a:solidFill>
                <a:schemeClr val="tx1"/>
              </a:solidFill>
              <a:latin typeface="+mn-ea"/>
              <a:ea typeface="+mn-ea"/>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5EA8FAAC-3553-4DF2-8750-213545726E68}" type="slidenum">
              <a:rPr kumimoji="1" lang="ja-JP" altLang="en-US" smtClean="0"/>
              <a:pPr/>
              <a:t>32</a:t>
            </a:fld>
            <a:endParaRPr kumimoji="1" lang="ja-JP" altLang="en-US"/>
          </a:p>
        </p:txBody>
      </p:sp>
    </p:spTree>
    <p:extLst>
      <p:ext uri="{BB962C8B-B14F-4D97-AF65-F5344CB8AC3E}">
        <p14:creationId xmlns:p14="http://schemas.microsoft.com/office/powerpoint/2010/main" val="8393783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11" name="タイトル 1"/>
          <p:cNvSpPr>
            <a:spLocks noGrp="1"/>
          </p:cNvSpPr>
          <p:nvPr>
            <p:ph type="ctrTitle"/>
          </p:nvPr>
        </p:nvSpPr>
        <p:spPr>
          <a:xfrm>
            <a:off x="258812" y="5386663"/>
            <a:ext cx="8496944" cy="792088"/>
          </a:xfrm>
          <a:prstGeom prst="rect">
            <a:avLst/>
          </a:prstGeom>
        </p:spPr>
        <p:txBody>
          <a:bodyPr tIns="180000" anchor="ctr">
            <a:noAutofit/>
          </a:bodyPr>
          <a:lstStyle>
            <a:lvl1pPr algn="l">
              <a:defRPr sz="2400" b="1">
                <a:solidFill>
                  <a:srgbClr val="0070C0"/>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dirty="0" smtClean="0"/>
              <a:t>マスター タイトルの書式設定</a:t>
            </a:r>
            <a:endParaRPr kumimoji="1" lang="ja-JP" altLang="en-US" dirty="0"/>
          </a:p>
        </p:txBody>
      </p:sp>
      <p:sp>
        <p:nvSpPr>
          <p:cNvPr id="12" name="サブタイトル 2"/>
          <p:cNvSpPr>
            <a:spLocks noGrp="1"/>
          </p:cNvSpPr>
          <p:nvPr>
            <p:ph type="subTitle" idx="1"/>
          </p:nvPr>
        </p:nvSpPr>
        <p:spPr>
          <a:xfrm>
            <a:off x="258812" y="6178751"/>
            <a:ext cx="8489652" cy="360040"/>
          </a:xfrm>
        </p:spPr>
        <p:txBody>
          <a:bodyPr tIns="108000" anchor="ctr">
            <a:noAutofit/>
          </a:bodyPr>
          <a:lstStyle>
            <a:lvl1pPr marL="0" indent="0" algn="l">
              <a:buNone/>
              <a:defRPr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dirty="0" smtClean="0"/>
              <a:t>マスター サブタイトルの書式設定</a:t>
            </a:r>
            <a:endParaRPr kumimoji="1" lang="ja-JP" altLang="en-US" dirty="0"/>
          </a:p>
        </p:txBody>
      </p:sp>
      <p:sp>
        <p:nvSpPr>
          <p:cNvPr id="6" name="フッター プレースホルダー 4"/>
          <p:cNvSpPr>
            <a:spLocks noGrp="1"/>
          </p:cNvSpPr>
          <p:nvPr>
            <p:ph type="ftr" sz="quarter" idx="11"/>
          </p:nvPr>
        </p:nvSpPr>
        <p:spPr>
          <a:xfrm>
            <a:off x="3124200" y="6520259"/>
            <a:ext cx="3098800" cy="365125"/>
          </a:xfrm>
        </p:spPr>
        <p:txBody>
          <a:bodyPr/>
          <a:lstStyle>
            <a:lvl1pPr>
              <a:defRPr sz="1000"/>
            </a:lvl1pPr>
          </a:lstStyle>
          <a:p>
            <a:r>
              <a:rPr lang="fr-FR" altLang="ja-JP" dirty="0" smtClean="0">
                <a:solidFill>
                  <a:schemeClr val="bg1">
                    <a:lumMod val="50000"/>
                  </a:schemeClr>
                </a:solidFill>
              </a:rPr>
              <a:t>ⓒ 201</a:t>
            </a:r>
            <a:r>
              <a:rPr lang="en-US" altLang="ja-JP" dirty="0" smtClean="0">
                <a:solidFill>
                  <a:schemeClr val="bg1">
                    <a:lumMod val="50000"/>
                  </a:schemeClr>
                </a:solidFill>
              </a:rPr>
              <a:t>6</a:t>
            </a:r>
            <a:r>
              <a:rPr lang="fr-FR" altLang="ja-JP" dirty="0" smtClean="0">
                <a:solidFill>
                  <a:schemeClr val="bg1">
                    <a:lumMod val="50000"/>
                  </a:schemeClr>
                </a:solidFill>
              </a:rPr>
              <a:t> KYOCERA Document Solutions Inc.</a:t>
            </a:r>
            <a:endParaRPr lang="en-US" altLang="ja-JP" dirty="0" smtClean="0">
              <a:solidFill>
                <a:schemeClr val="bg1">
                  <a:lumMod val="50000"/>
                </a:schemeClr>
              </a:solidFill>
            </a:endParaRPr>
          </a:p>
        </p:txBody>
      </p:sp>
      <p:pic>
        <p:nvPicPr>
          <p:cNvPr id="3" name="図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7384"/>
            <a:ext cx="9144000" cy="5317383"/>
          </a:xfrm>
          <a:prstGeom prst="rect">
            <a:avLst/>
          </a:prstGeom>
        </p:spPr>
      </p:pic>
      <p:pic>
        <p:nvPicPr>
          <p:cNvPr id="8" name="図 7"/>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2212" y="119807"/>
            <a:ext cx="1360802" cy="453600"/>
          </a:xfrm>
          <a:prstGeom prst="rect">
            <a:avLst/>
          </a:prstGeom>
        </p:spPr>
      </p:pic>
    </p:spTree>
    <p:extLst>
      <p:ext uri="{BB962C8B-B14F-4D97-AF65-F5344CB8AC3E}">
        <p14:creationId xmlns:p14="http://schemas.microsoft.com/office/powerpoint/2010/main" val="271526809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p:txBody>
          <a:bodyPr/>
          <a:lstStyle/>
          <a:p>
            <a:pPr lvl="0"/>
            <a:r>
              <a:rPr kumimoji="1" lang="ja-JP" altLang="en-US" dirty="0" smtClean="0"/>
              <a:t>マスター テキストの書式設定</a:t>
            </a:r>
          </a:p>
          <a:p>
            <a:pPr lvl="1"/>
            <a:r>
              <a:rPr kumimoji="1" lang="ja-JP" altLang="en-US" dirty="0" smtClean="0"/>
              <a:t>第 </a:t>
            </a:r>
            <a:r>
              <a:rPr kumimoji="1" lang="en-US" altLang="ja-JP" dirty="0" smtClean="0"/>
              <a:t>2 </a:t>
            </a:r>
            <a:r>
              <a:rPr kumimoji="1" lang="ja-JP" altLang="en-US" dirty="0" smtClean="0"/>
              <a:t>レベル</a:t>
            </a:r>
          </a:p>
          <a:p>
            <a:pPr lvl="2"/>
            <a:r>
              <a:rPr kumimoji="1" lang="ja-JP" altLang="en-US" dirty="0" smtClean="0"/>
              <a:t>第 </a:t>
            </a:r>
            <a:r>
              <a:rPr kumimoji="1" lang="en-US" altLang="ja-JP" dirty="0" smtClean="0"/>
              <a:t>3 </a:t>
            </a:r>
            <a:r>
              <a:rPr kumimoji="1" lang="ja-JP" altLang="en-US" dirty="0" smtClean="0"/>
              <a:t>レベル</a:t>
            </a:r>
          </a:p>
          <a:p>
            <a:pPr lvl="3"/>
            <a:r>
              <a:rPr kumimoji="1" lang="ja-JP" altLang="en-US" dirty="0" smtClean="0"/>
              <a:t>第 </a:t>
            </a:r>
            <a:r>
              <a:rPr kumimoji="1" lang="en-US" altLang="ja-JP" dirty="0" smtClean="0"/>
              <a:t>4 </a:t>
            </a:r>
            <a:r>
              <a:rPr kumimoji="1" lang="ja-JP" altLang="en-US" dirty="0" smtClean="0"/>
              <a:t>レベル</a:t>
            </a:r>
          </a:p>
          <a:p>
            <a:pPr lvl="4"/>
            <a:r>
              <a:rPr kumimoji="1" lang="ja-JP" altLang="en-US" dirty="0" smtClean="0"/>
              <a:t>第 </a:t>
            </a:r>
            <a:r>
              <a:rPr kumimoji="1" lang="en-US" altLang="ja-JP" dirty="0" smtClean="0"/>
              <a:t>5 </a:t>
            </a:r>
            <a:r>
              <a:rPr kumimoji="1" lang="ja-JP" altLang="en-US" dirty="0" smtClean="0"/>
              <a:t>レベル</a:t>
            </a:r>
            <a:endParaRPr kumimoji="1" lang="ja-JP" altLang="en-US" dirty="0"/>
          </a:p>
        </p:txBody>
      </p:sp>
      <p:sp>
        <p:nvSpPr>
          <p:cNvPr id="4" name="日付プレースホルダー 3"/>
          <p:cNvSpPr>
            <a:spLocks noGrp="1"/>
          </p:cNvSpPr>
          <p:nvPr>
            <p:ph type="dt" sz="half" idx="10"/>
          </p:nvPr>
        </p:nvSpPr>
        <p:spPr>
          <a:xfrm>
            <a:off x="457200" y="6533706"/>
            <a:ext cx="2133600" cy="365125"/>
          </a:xfrm>
        </p:spPr>
        <p:txBody>
          <a:bodyPr/>
          <a:lstStyle/>
          <a:p>
            <a:r>
              <a:rPr lang="en-US" altLang="ja-JP" smtClean="0"/>
              <a:t>Confidential</a:t>
            </a:r>
            <a:endParaRPr lang="ja-JP" altLang="en-US" dirty="0"/>
          </a:p>
        </p:txBody>
      </p:sp>
      <p:sp>
        <p:nvSpPr>
          <p:cNvPr id="5" name="フッター プレースホルダー 4"/>
          <p:cNvSpPr>
            <a:spLocks noGrp="1"/>
          </p:cNvSpPr>
          <p:nvPr>
            <p:ph type="ftr" sz="quarter" idx="11"/>
          </p:nvPr>
        </p:nvSpPr>
        <p:spPr>
          <a:xfrm>
            <a:off x="3124200" y="6520259"/>
            <a:ext cx="3098800" cy="365125"/>
          </a:xfrm>
        </p:spPr>
        <p:txBody>
          <a:bodyPr/>
          <a:lstStyle>
            <a:lvl1pPr>
              <a:defRPr sz="1000"/>
            </a:lvl1pPr>
          </a:lstStyle>
          <a:p>
            <a:r>
              <a:rPr lang="fr-FR" altLang="ja-JP" dirty="0" smtClean="0">
                <a:solidFill>
                  <a:schemeClr val="bg1">
                    <a:lumMod val="50000"/>
                  </a:schemeClr>
                </a:solidFill>
              </a:rPr>
              <a:t>ⓒ 201</a:t>
            </a:r>
            <a:r>
              <a:rPr lang="en-US" altLang="ja-JP" dirty="0" smtClean="0">
                <a:solidFill>
                  <a:schemeClr val="bg1">
                    <a:lumMod val="50000"/>
                  </a:schemeClr>
                </a:solidFill>
              </a:rPr>
              <a:t>6</a:t>
            </a:r>
            <a:r>
              <a:rPr lang="fr-FR" altLang="ja-JP" dirty="0" smtClean="0">
                <a:solidFill>
                  <a:schemeClr val="bg1">
                    <a:lumMod val="50000"/>
                  </a:schemeClr>
                </a:solidFill>
              </a:rPr>
              <a:t> KYOCERA Document Solutions Inc.</a:t>
            </a:r>
            <a:endParaRPr lang="en-US" altLang="ja-JP" dirty="0" smtClean="0">
              <a:solidFill>
                <a:schemeClr val="bg1">
                  <a:lumMod val="50000"/>
                </a:schemeClr>
              </a:solidFill>
            </a:endParaRPr>
          </a:p>
        </p:txBody>
      </p:sp>
      <p:sp>
        <p:nvSpPr>
          <p:cNvPr id="6" name="スライド番号プレースホルダー 5"/>
          <p:cNvSpPr>
            <a:spLocks noGrp="1"/>
          </p:cNvSpPr>
          <p:nvPr>
            <p:ph type="sldNum" sz="quarter" idx="12"/>
          </p:nvPr>
        </p:nvSpPr>
        <p:spPr>
          <a:xfrm>
            <a:off x="6553200" y="6520259"/>
            <a:ext cx="2133600" cy="365125"/>
          </a:xfrm>
        </p:spPr>
        <p:txBody>
          <a:bodyPr/>
          <a:lstStyle/>
          <a:p>
            <a:fld id="{6A5434C0-8F2D-41BA-937E-6EC1B0C7411D}" type="slidenum">
              <a:rPr kumimoji="1" lang="ja-JP" altLang="en-US" smtClean="0"/>
              <a:pPr/>
              <a:t>‹#›</a:t>
            </a:fld>
            <a:endParaRPr kumimoji="1" lang="ja-JP" altLang="en-US"/>
          </a:p>
        </p:txBody>
      </p:sp>
      <p:sp>
        <p:nvSpPr>
          <p:cNvPr id="10" name="タイトル 9"/>
          <p:cNvSpPr>
            <a:spLocks noGrp="1"/>
          </p:cNvSpPr>
          <p:nvPr>
            <p:ph type="title"/>
          </p:nvPr>
        </p:nvSpPr>
        <p:spPr>
          <a:xfrm>
            <a:off x="1547664" y="32812"/>
            <a:ext cx="6120680" cy="576064"/>
          </a:xfrm>
          <a:prstGeom prst="rect">
            <a:avLst/>
          </a:prstGeom>
        </p:spPr>
        <p:txBody>
          <a:bodyPr tIns="144000" anchor="ctr"/>
          <a:lstStyle/>
          <a:p>
            <a:r>
              <a:rPr kumimoji="1" lang="ja-JP" altLang="en-US" dirty="0" smtClean="0"/>
              <a:t>マスター タイトルの書式設定</a:t>
            </a:r>
            <a:endParaRPr kumimoji="1" lang="ja-JP" altLang="en-US" dirty="0"/>
          </a:p>
        </p:txBody>
      </p:sp>
    </p:spTree>
    <p:extLst>
      <p:ext uri="{BB962C8B-B14F-4D97-AF65-F5344CB8AC3E}">
        <p14:creationId xmlns:p14="http://schemas.microsoft.com/office/powerpoint/2010/main" val="326735039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ユーザー設定レイアウト">
    <p:spTree>
      <p:nvGrpSpPr>
        <p:cNvPr id="1" name=""/>
        <p:cNvGrpSpPr/>
        <p:nvPr/>
      </p:nvGrpSpPr>
      <p:grpSpPr>
        <a:xfrm>
          <a:off x="0" y="0"/>
          <a:ext cx="0" cy="0"/>
          <a:chOff x="0" y="0"/>
          <a:chExt cx="0" cy="0"/>
        </a:xfrm>
      </p:grpSpPr>
      <p:sp>
        <p:nvSpPr>
          <p:cNvPr id="11" name="タイトル 1"/>
          <p:cNvSpPr>
            <a:spLocks noGrp="1"/>
          </p:cNvSpPr>
          <p:nvPr>
            <p:ph type="ctrTitle"/>
          </p:nvPr>
        </p:nvSpPr>
        <p:spPr>
          <a:xfrm>
            <a:off x="258812" y="5386663"/>
            <a:ext cx="8496944" cy="792088"/>
          </a:xfrm>
          <a:prstGeom prst="rect">
            <a:avLst/>
          </a:prstGeom>
        </p:spPr>
        <p:txBody>
          <a:bodyPr tIns="180000" anchor="ctr">
            <a:noAutofit/>
          </a:bodyPr>
          <a:lstStyle>
            <a:lvl1pPr algn="l">
              <a:defRPr sz="2400" b="1">
                <a:solidFill>
                  <a:srgbClr val="0070C0"/>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dirty="0" smtClean="0"/>
              <a:t>マスター タイトルの書式設定</a:t>
            </a:r>
            <a:endParaRPr kumimoji="1" lang="ja-JP" altLang="en-US" dirty="0"/>
          </a:p>
        </p:txBody>
      </p:sp>
      <p:sp>
        <p:nvSpPr>
          <p:cNvPr id="12" name="サブタイトル 2"/>
          <p:cNvSpPr>
            <a:spLocks noGrp="1"/>
          </p:cNvSpPr>
          <p:nvPr>
            <p:ph type="subTitle" idx="1"/>
          </p:nvPr>
        </p:nvSpPr>
        <p:spPr>
          <a:xfrm>
            <a:off x="258812" y="6178751"/>
            <a:ext cx="8489652" cy="360040"/>
          </a:xfrm>
          <a:prstGeom prst="rect">
            <a:avLst/>
          </a:prstGeom>
        </p:spPr>
        <p:txBody>
          <a:bodyPr tIns="108000" anchor="ctr">
            <a:noAutofit/>
          </a:bodyPr>
          <a:lstStyle>
            <a:lvl1pPr marL="0" indent="0" algn="l">
              <a:buNone/>
              <a:defRPr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dirty="0" smtClean="0"/>
              <a:t>マスター サブタイトルの書式設定</a:t>
            </a:r>
            <a:endParaRPr kumimoji="1" lang="ja-JP" altLang="en-US" dirty="0"/>
          </a:p>
        </p:txBody>
      </p:sp>
      <p:sp>
        <p:nvSpPr>
          <p:cNvPr id="6" name="フッター プレースホルダー 4"/>
          <p:cNvSpPr>
            <a:spLocks noGrp="1"/>
          </p:cNvSpPr>
          <p:nvPr>
            <p:ph type="ftr" sz="quarter" idx="11"/>
          </p:nvPr>
        </p:nvSpPr>
        <p:spPr>
          <a:xfrm>
            <a:off x="3124200" y="6520259"/>
            <a:ext cx="3098800" cy="365125"/>
          </a:xfrm>
          <a:prstGeom prst="rect">
            <a:avLst/>
          </a:prstGeom>
        </p:spPr>
        <p:txBody>
          <a:bodyPr/>
          <a:lstStyle>
            <a:lvl1pPr>
              <a:defRPr sz="1000"/>
            </a:lvl1pPr>
          </a:lstStyle>
          <a:p>
            <a:r>
              <a:rPr lang="fr-FR" altLang="ja-JP" dirty="0" smtClean="0">
                <a:solidFill>
                  <a:schemeClr val="bg1">
                    <a:lumMod val="50000"/>
                  </a:schemeClr>
                </a:solidFill>
              </a:rPr>
              <a:t>ⓒ 201</a:t>
            </a:r>
            <a:r>
              <a:rPr lang="en-US" altLang="ja-JP" dirty="0" smtClean="0">
                <a:solidFill>
                  <a:schemeClr val="bg1">
                    <a:lumMod val="50000"/>
                  </a:schemeClr>
                </a:solidFill>
              </a:rPr>
              <a:t>6</a:t>
            </a:r>
            <a:r>
              <a:rPr lang="fr-FR" altLang="ja-JP" dirty="0" smtClean="0">
                <a:solidFill>
                  <a:schemeClr val="bg1">
                    <a:lumMod val="50000"/>
                  </a:schemeClr>
                </a:solidFill>
              </a:rPr>
              <a:t> KYOCERA Document Solutions Inc.</a:t>
            </a:r>
            <a:endParaRPr lang="en-US" altLang="ja-JP" dirty="0" smtClean="0">
              <a:solidFill>
                <a:schemeClr val="bg1">
                  <a:lumMod val="50000"/>
                </a:schemeClr>
              </a:solidFill>
            </a:endParaRPr>
          </a:p>
        </p:txBody>
      </p:sp>
      <p:pic>
        <p:nvPicPr>
          <p:cNvPr id="3" name="図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7384"/>
            <a:ext cx="9144000" cy="5317383"/>
          </a:xfrm>
          <a:prstGeom prst="rect">
            <a:avLst/>
          </a:prstGeom>
        </p:spPr>
      </p:pic>
      <p:pic>
        <p:nvPicPr>
          <p:cNvPr id="8" name="図 7"/>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2212" y="119807"/>
            <a:ext cx="1360802" cy="453600"/>
          </a:xfrm>
          <a:prstGeom prst="rect">
            <a:avLst/>
          </a:prstGeom>
        </p:spPr>
      </p:pic>
    </p:spTree>
    <p:extLst>
      <p:ext uri="{BB962C8B-B14F-4D97-AF65-F5344CB8AC3E}">
        <p14:creationId xmlns:p14="http://schemas.microsoft.com/office/powerpoint/2010/main" val="347266379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457200" y="909478"/>
            <a:ext cx="8229600" cy="5358556"/>
          </a:xfrm>
          <a:prstGeom prst="rect">
            <a:avLst/>
          </a:prstGeom>
        </p:spPr>
        <p:txBody>
          <a:bodyPr vert="horz" lIns="91440" tIns="45720" rIns="91440" bIns="45720" rtlCol="0">
            <a:normAutofit/>
          </a:bodyPr>
          <a:lstStyle/>
          <a:p>
            <a:pPr lvl="0"/>
            <a:r>
              <a:rPr kumimoji="1" lang="ja-JP" altLang="en-US" dirty="0" smtClean="0"/>
              <a:t>マスター テキストの書式設定</a:t>
            </a:r>
          </a:p>
          <a:p>
            <a:pPr lvl="1"/>
            <a:r>
              <a:rPr kumimoji="1" lang="ja-JP" altLang="en-US" dirty="0" smtClean="0"/>
              <a:t>第 </a:t>
            </a:r>
            <a:r>
              <a:rPr kumimoji="1" lang="en-US" altLang="ja-JP" dirty="0" smtClean="0"/>
              <a:t>2 </a:t>
            </a:r>
            <a:r>
              <a:rPr kumimoji="1" lang="ja-JP" altLang="en-US" dirty="0" smtClean="0"/>
              <a:t>レベル</a:t>
            </a:r>
          </a:p>
          <a:p>
            <a:pPr lvl="2"/>
            <a:r>
              <a:rPr kumimoji="1" lang="ja-JP" altLang="en-US" dirty="0" smtClean="0"/>
              <a:t>第 </a:t>
            </a:r>
            <a:r>
              <a:rPr kumimoji="1" lang="en-US" altLang="ja-JP" dirty="0" smtClean="0"/>
              <a:t>3 </a:t>
            </a:r>
            <a:r>
              <a:rPr kumimoji="1" lang="ja-JP" altLang="en-US" dirty="0" smtClean="0"/>
              <a:t>レベル</a:t>
            </a:r>
          </a:p>
          <a:p>
            <a:pPr lvl="3"/>
            <a:r>
              <a:rPr kumimoji="1" lang="ja-JP" altLang="en-US" dirty="0" smtClean="0"/>
              <a:t>第 </a:t>
            </a:r>
            <a:r>
              <a:rPr kumimoji="1" lang="en-US" altLang="ja-JP" dirty="0" smtClean="0"/>
              <a:t>4 </a:t>
            </a:r>
            <a:r>
              <a:rPr kumimoji="1" lang="ja-JP" altLang="en-US" dirty="0" smtClean="0"/>
              <a:t>レベル</a:t>
            </a:r>
          </a:p>
          <a:p>
            <a:pPr lvl="4"/>
            <a:r>
              <a:rPr kumimoji="1" lang="ja-JP" altLang="en-US" dirty="0" smtClean="0"/>
              <a:t>第 </a:t>
            </a:r>
            <a:r>
              <a:rPr kumimoji="1" lang="en-US" altLang="ja-JP" dirty="0" smtClean="0"/>
              <a:t>5 </a:t>
            </a:r>
            <a:r>
              <a:rPr kumimoji="1" lang="ja-JP" altLang="en-US" dirty="0" smtClean="0"/>
              <a:t>レベル</a:t>
            </a:r>
            <a:endParaRPr kumimoji="1" lang="ja-JP" altLang="en-US" dirty="0"/>
          </a:p>
        </p:txBody>
      </p:sp>
      <p:sp>
        <p:nvSpPr>
          <p:cNvPr id="4" name="日付プレースホルダー 3"/>
          <p:cNvSpPr>
            <a:spLocks noGrp="1"/>
          </p:cNvSpPr>
          <p:nvPr>
            <p:ph type="dt" sz="half" idx="2"/>
          </p:nvPr>
        </p:nvSpPr>
        <p:spPr>
          <a:xfrm>
            <a:off x="457200" y="6520259"/>
            <a:ext cx="2133600" cy="365125"/>
          </a:xfrm>
          <a:prstGeom prst="rect">
            <a:avLst/>
          </a:prstGeom>
        </p:spPr>
        <p:txBody>
          <a:bodyPr vert="horz" lIns="91440" tIns="45720" rIns="91440" bIns="45720" rtlCol="0" anchor="ctr"/>
          <a:lstStyle>
            <a:lvl1pPr algn="l">
              <a:defRPr sz="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lang="en-US" altLang="ja-JP" smtClean="0"/>
              <a:t>Confidential</a:t>
            </a:r>
            <a:endParaRPr lang="ja-JP" altLang="en-US" dirty="0"/>
          </a:p>
        </p:txBody>
      </p:sp>
      <p:sp>
        <p:nvSpPr>
          <p:cNvPr id="5" name="フッター プレースホルダー 4"/>
          <p:cNvSpPr>
            <a:spLocks noGrp="1"/>
          </p:cNvSpPr>
          <p:nvPr>
            <p:ph type="ftr" sz="quarter" idx="3"/>
          </p:nvPr>
        </p:nvSpPr>
        <p:spPr>
          <a:xfrm>
            <a:off x="3124200" y="6520259"/>
            <a:ext cx="2895600" cy="365125"/>
          </a:xfrm>
          <a:prstGeom prst="rect">
            <a:avLst/>
          </a:prstGeom>
        </p:spPr>
        <p:txBody>
          <a:bodyPr vert="horz" lIns="91440" tIns="45720" rIns="91440" bIns="45720" rtlCol="0" anchor="ctr"/>
          <a:lstStyle>
            <a:lvl1pPr algn="ctr">
              <a:defRPr sz="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lang="fr-FR" altLang="ja-JP" smtClean="0"/>
              <a:t>ⓒ 2016 KYOCERA Document Solutions Inc.</a:t>
            </a:r>
            <a:endParaRPr lang="ja-JP" altLang="en-US"/>
          </a:p>
        </p:txBody>
      </p:sp>
      <p:sp>
        <p:nvSpPr>
          <p:cNvPr id="6" name="スライド番号プレースホルダー 5"/>
          <p:cNvSpPr>
            <a:spLocks noGrp="1"/>
          </p:cNvSpPr>
          <p:nvPr>
            <p:ph type="sldNum" sz="quarter" idx="4"/>
          </p:nvPr>
        </p:nvSpPr>
        <p:spPr>
          <a:xfrm>
            <a:off x="6553200" y="6520259"/>
            <a:ext cx="2133600" cy="365125"/>
          </a:xfrm>
          <a:prstGeom prst="rect">
            <a:avLst/>
          </a:prstGeom>
        </p:spPr>
        <p:txBody>
          <a:bodyPr vert="horz" lIns="91440" tIns="45720" rIns="91440" bIns="45720" rtlCol="0" anchor="ctr"/>
          <a:lstStyle>
            <a:lvl1pPr algn="r">
              <a:defRPr sz="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1pPr>
          </a:lstStyle>
          <a:p>
            <a:fld id="{6A5434C0-8F2D-41BA-937E-6EC1B0C7411D}" type="slidenum">
              <a:rPr lang="ja-JP" altLang="en-US" smtClean="0"/>
              <a:pPr/>
              <a:t>‹#›</a:t>
            </a:fld>
            <a:endParaRPr lang="ja-JP" altLang="en-US"/>
          </a:p>
        </p:txBody>
      </p:sp>
      <p:pic>
        <p:nvPicPr>
          <p:cNvPr id="8" name="図 7"/>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92212" y="119807"/>
            <a:ext cx="1360802" cy="453600"/>
          </a:xfrm>
          <a:prstGeom prst="rect">
            <a:avLst/>
          </a:prstGeom>
        </p:spPr>
      </p:pic>
      <p:pic>
        <p:nvPicPr>
          <p:cNvPr id="12" name="Picture 8"/>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7680325" y="60821"/>
            <a:ext cx="730250" cy="284162"/>
          </a:xfrm>
          <a:prstGeom prst="rect">
            <a:avLst/>
          </a:prstGeom>
          <a:noFill/>
          <a:ln w="9525">
            <a:noFill/>
            <a:miter lim="800000"/>
            <a:headEnd/>
            <a:tailEnd/>
          </a:ln>
        </p:spPr>
      </p:pic>
      <p:pic>
        <p:nvPicPr>
          <p:cNvPr id="1026"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026963" y="289738"/>
            <a:ext cx="936984" cy="311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a:stretch/>
        </p:blipFill>
        <p:spPr bwMode="auto">
          <a:xfrm>
            <a:off x="0" y="634304"/>
            <a:ext cx="9140825" cy="66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1813644"/>
      </p:ext>
    </p:extLst>
  </p:cSld>
  <p:clrMap bg1="lt1" tx1="dk1" bg2="lt2" tx2="dk2" accent1="accent1" accent2="accent2" accent3="accent3" accent4="accent4" accent5="accent5" accent6="accent6" hlink="hlink" folHlink="folHlink"/>
  <p:sldLayoutIdLst>
    <p:sldLayoutId id="2147483653" r:id="rId1"/>
    <p:sldLayoutId id="2147483650" r:id="rId2"/>
    <p:sldLayoutId id="2147483661" r:id="rId3"/>
  </p:sldLayoutIdLst>
  <p:timing>
    <p:tnLst>
      <p:par>
        <p:cTn id="1" dur="indefinite" restart="never" nodeType="tmRoot"/>
      </p:par>
    </p:tnLst>
  </p:timing>
  <p:hf hdr="0"/>
  <p:txStyles>
    <p:titleStyle>
      <a:lvl1pPr algn="ctr" defTabSz="914400" rtl="0" eaLnBrk="1" latinLnBrk="0" hangingPunct="1">
        <a:spcBef>
          <a:spcPct val="0"/>
        </a:spcBef>
        <a:buNone/>
        <a:defRPr kumimoji="1" sz="2800" b="1"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p:cNvSpPr txBox="1">
            <a:spLocks/>
          </p:cNvSpPr>
          <p:nvPr/>
        </p:nvSpPr>
        <p:spPr>
          <a:xfrm>
            <a:off x="252320" y="5589320"/>
            <a:ext cx="7200000" cy="720000"/>
          </a:xfrm>
          <a:prstGeom prst="rect">
            <a:avLst/>
          </a:prstGeom>
        </p:spPr>
        <p:txBody>
          <a:bodyPr vert="horz" lIns="0" tIns="0" rIns="0" bIns="0" anchor="ctr" anchorCtr="0">
            <a:noAutofit/>
          </a:bodyPr>
          <a:lstStyle>
            <a:lvl1pPr algn="ctr" defTabSz="914400" rtl="0" eaLnBrk="1" latinLnBrk="0" hangingPunct="1">
              <a:spcBef>
                <a:spcPct val="0"/>
              </a:spcBef>
              <a:buNone/>
              <a:defRPr kumimoji="1" sz="2800" b="1"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l" eaLnBrk="0" fontAlgn="ctr" hangingPunct="0"/>
            <a:r>
              <a:rPr lang="en-US" altLang="ja-JP" sz="2400" i="1" dirty="0" smtClean="0">
                <a:solidFill>
                  <a:srgbClr val="0070C0"/>
                </a:solidFill>
                <a:latin typeface="Helvetica Condensed" pitchFamily="34" charset="0"/>
                <a:ea typeface="Meiryo UI" pitchFamily="50" charset="-128"/>
                <a:cs typeface="Meiryo UI" pitchFamily="50" charset="-128"/>
              </a:rPr>
              <a:t>WiseCore4S architecture lecture 【Structure】</a:t>
            </a:r>
            <a:r>
              <a:rPr lang="en-US" altLang="ja-JP" sz="2400" dirty="0">
                <a:solidFill>
                  <a:srgbClr val="0070C0"/>
                </a:solidFill>
                <a:latin typeface="Helvetica Condensed" pitchFamily="34" charset="0"/>
                <a:ea typeface="Meiryo UI" pitchFamily="50" charset="-128"/>
                <a:cs typeface="Meiryo UI" pitchFamily="50" charset="-128"/>
              </a:rPr>
              <a:t/>
            </a:r>
            <a:br>
              <a:rPr lang="en-US" altLang="ja-JP" sz="2400" dirty="0">
                <a:solidFill>
                  <a:srgbClr val="0070C0"/>
                </a:solidFill>
                <a:latin typeface="Helvetica Condensed" pitchFamily="34" charset="0"/>
                <a:ea typeface="Meiryo UI" pitchFamily="50" charset="-128"/>
                <a:cs typeface="Meiryo UI" pitchFamily="50" charset="-128"/>
              </a:rPr>
            </a:br>
            <a:r>
              <a:rPr lang="en-US" altLang="ja-JP" sz="2400" i="1" dirty="0" smtClean="0">
                <a:solidFill>
                  <a:srgbClr val="0070C0"/>
                </a:solidFill>
                <a:latin typeface="Helvetica Condensed" pitchFamily="34" charset="0"/>
              </a:rPr>
              <a:t>Tomonori </a:t>
            </a:r>
            <a:r>
              <a:rPr lang="en-US" altLang="ja-JP" sz="2400" i="1" dirty="0" err="1" smtClean="0">
                <a:solidFill>
                  <a:srgbClr val="0070C0"/>
                </a:solidFill>
                <a:latin typeface="Helvetica Condensed" pitchFamily="34" charset="0"/>
              </a:rPr>
              <a:t>Naota</a:t>
            </a:r>
            <a:r>
              <a:rPr lang="en-US" altLang="ja-JP" sz="2400" i="1" dirty="0" smtClean="0">
                <a:solidFill>
                  <a:srgbClr val="0070C0"/>
                </a:solidFill>
                <a:latin typeface="Helvetica Condensed" pitchFamily="34" charset="0"/>
              </a:rPr>
              <a:t> / </a:t>
            </a:r>
            <a:r>
              <a:rPr lang="en-US" altLang="ja-JP" sz="2400" i="1" dirty="0" err="1" smtClean="0">
                <a:solidFill>
                  <a:srgbClr val="0070C0"/>
                </a:solidFill>
                <a:latin typeface="Helvetica Condensed" pitchFamily="34" charset="0"/>
              </a:rPr>
              <a:t>Shuhei</a:t>
            </a:r>
            <a:r>
              <a:rPr lang="en-US" altLang="ja-JP" sz="2400" i="1" dirty="0" smtClean="0">
                <a:solidFill>
                  <a:srgbClr val="0070C0"/>
                </a:solidFill>
                <a:latin typeface="Helvetica Condensed" pitchFamily="34" charset="0"/>
              </a:rPr>
              <a:t> </a:t>
            </a:r>
            <a:r>
              <a:rPr lang="en-US" altLang="ja-JP" sz="2400" i="1" dirty="0" err="1" smtClean="0">
                <a:solidFill>
                  <a:srgbClr val="0070C0"/>
                </a:solidFill>
                <a:latin typeface="Helvetica Condensed" pitchFamily="34" charset="0"/>
              </a:rPr>
              <a:t>Obara</a:t>
            </a:r>
            <a:r>
              <a:rPr lang="en-US" altLang="ja-JP" sz="2400" i="1" dirty="0" smtClean="0">
                <a:solidFill>
                  <a:srgbClr val="0070C0"/>
                </a:solidFill>
                <a:latin typeface="Helvetica Condensed" pitchFamily="34" charset="0"/>
              </a:rPr>
              <a:t>, SD 47 , Dept. 42 </a:t>
            </a:r>
            <a:endParaRPr lang="en-US" altLang="en-US" sz="2400" i="1" dirty="0" smtClean="0">
              <a:solidFill>
                <a:srgbClr val="0070C0"/>
              </a:solidFill>
              <a:latin typeface="Helvetica Condensed" pitchFamily="34" charset="0"/>
              <a:ea typeface="Meiryo UI" pitchFamily="50" charset="-128"/>
              <a:cs typeface="Meiryo UI" pitchFamily="50" charset="-128"/>
            </a:endParaRPr>
          </a:p>
        </p:txBody>
      </p:sp>
      <p:sp>
        <p:nvSpPr>
          <p:cNvPr id="10" name="サブタイトル 2"/>
          <p:cNvSpPr txBox="1">
            <a:spLocks/>
          </p:cNvSpPr>
          <p:nvPr/>
        </p:nvSpPr>
        <p:spPr>
          <a:xfrm>
            <a:off x="251520" y="5229200"/>
            <a:ext cx="2160240" cy="360040"/>
          </a:xfrm>
          <a:prstGeom prst="rect">
            <a:avLst/>
          </a:prstGeom>
        </p:spPr>
        <p:txBody>
          <a:bodyPr vert="horz" wrap="none" lIns="0" tIns="0" rIns="0" bIns="0" rtlCol="0" anchor="ctr" anchorCtr="0">
            <a:noAutofit/>
          </a:bodyPr>
          <a:lstStyle>
            <a:lvl1pPr marL="0" indent="0" algn="l" defTabSz="914400" rtl="0" eaLnBrk="1" latinLnBrk="0" hangingPunct="1">
              <a:spcBef>
                <a:spcPct val="20000"/>
              </a:spcBef>
              <a:buFont typeface="Arial" panose="020B0604020202020204" pitchFamily="34" charset="0"/>
              <a:buNone/>
              <a:defRPr kumimoji="1" sz="2000" kern="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1pPr>
            <a:lvl2pPr marL="457200" indent="0" algn="ctr" defTabSz="914400" rtl="0" eaLnBrk="1" latinLnBrk="0" hangingPunct="1">
              <a:spcBef>
                <a:spcPct val="20000"/>
              </a:spcBef>
              <a:buFont typeface="Arial" panose="020B0604020202020204" pitchFamily="34" charset="0"/>
              <a:buNone/>
              <a:defRPr kumimoji="1" sz="2800" kern="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2pPr>
            <a:lvl3pPr marL="914400" indent="0" algn="ctr" defTabSz="914400" rtl="0" eaLnBrk="1" latinLnBrk="0" hangingPunct="1">
              <a:spcBef>
                <a:spcPct val="20000"/>
              </a:spcBef>
              <a:buFont typeface="Arial" panose="020B0604020202020204" pitchFamily="34" charset="0"/>
              <a:buNone/>
              <a:defRPr kumimoji="1" sz="2400" kern="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3pPr>
            <a:lvl4pPr marL="1371600" indent="0" algn="ctr" defTabSz="914400" rtl="0" eaLnBrk="1" latinLnBrk="0" hangingPunct="1">
              <a:spcBef>
                <a:spcPct val="20000"/>
              </a:spcBef>
              <a:buFont typeface="Arial" panose="020B0604020202020204" pitchFamily="34" charset="0"/>
              <a:buNone/>
              <a:defRPr kumimoji="1" sz="2000" kern="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4pPr>
            <a:lvl5pPr marL="1828800" indent="0" algn="ctr" defTabSz="914400" rtl="0" eaLnBrk="1" latinLnBrk="0" hangingPunct="1">
              <a:spcBef>
                <a:spcPct val="20000"/>
              </a:spcBef>
              <a:buFont typeface="Arial" panose="020B0604020202020204" pitchFamily="34" charset="0"/>
              <a:buNone/>
              <a:defRPr kumimoji="1" sz="2000" kern="1200">
                <a:solidFill>
                  <a:schemeClr val="tx1">
                    <a:tint val="75000"/>
                  </a:schemeClr>
                </a:solidFill>
                <a:latin typeface="メイリオ" panose="020B0604030504040204" pitchFamily="50" charset="-128"/>
                <a:ea typeface="メイリオ" panose="020B0604030504040204" pitchFamily="50" charset="-128"/>
                <a:cs typeface="メイリオ" panose="020B0604030504040204" pitchFamily="50" charset="-128"/>
              </a:defRPr>
            </a:lvl5pPr>
            <a:lvl6pPr marL="2286000" indent="0" algn="ctr" defTabSz="914400" rtl="0" eaLnBrk="1" latinLnBrk="0" hangingPunct="1">
              <a:spcBef>
                <a:spcPct val="20000"/>
              </a:spcBef>
              <a:buFont typeface="Arial" panose="020B0604020202020204"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kumimoji="1" sz="2000" kern="1200">
                <a:solidFill>
                  <a:schemeClr val="tx1">
                    <a:tint val="75000"/>
                  </a:schemeClr>
                </a:solidFill>
                <a:latin typeface="+mn-lt"/>
                <a:ea typeface="+mn-ea"/>
                <a:cs typeface="+mn-cs"/>
              </a:defRPr>
            </a:lvl9pPr>
          </a:lstStyle>
          <a:p>
            <a:pPr eaLnBrk="0" fontAlgn="ctr" hangingPunct="0">
              <a:spcBef>
                <a:spcPts val="0"/>
              </a:spcBef>
            </a:pPr>
            <a:r>
              <a:rPr lang="en-US" altLang="ja-JP" sz="1400" b="1" dirty="0" smtClean="0">
                <a:solidFill>
                  <a:schemeClr val="tx1"/>
                </a:solidFill>
                <a:latin typeface="Helvetica Condensed" pitchFamily="34" charset="0"/>
                <a:ea typeface="Meiryo UI" pitchFamily="50" charset="-128"/>
                <a:cs typeface="Meiryo UI" pitchFamily="50" charset="-128"/>
              </a:rPr>
              <a:t>July 6th, 2016</a:t>
            </a:r>
            <a:endParaRPr lang="en-US" altLang="ja-JP" sz="1400" b="1" dirty="0">
              <a:solidFill>
                <a:schemeClr val="tx1"/>
              </a:solidFill>
              <a:latin typeface="Helvetica Condensed" pitchFamily="34" charset="0"/>
              <a:ea typeface="Meiryo UI" pitchFamily="50" charset="-128"/>
              <a:cs typeface="Meiryo UI" pitchFamily="50" charset="-128"/>
            </a:endParaRPr>
          </a:p>
        </p:txBody>
      </p:sp>
    </p:spTree>
    <p:extLst>
      <p:ext uri="{BB962C8B-B14F-4D97-AF65-F5344CB8AC3E}">
        <p14:creationId xmlns:p14="http://schemas.microsoft.com/office/powerpoint/2010/main" val="19704298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a:t>
            </a:fld>
            <a:endParaRPr kumimoji="1" lang="ja-JP" altLang="en-US" dirty="0">
              <a:latin typeface="Meiryo UI" pitchFamily="50" charset="-128"/>
              <a:ea typeface="Meiryo UI" pitchFamily="50" charset="-128"/>
              <a:cs typeface="Meiryo UI" pitchFamily="50" charset="-128"/>
            </a:endParaRPr>
          </a:p>
        </p:txBody>
      </p:sp>
      <p:sp>
        <p:nvSpPr>
          <p:cNvPr id="2" name="タイトル 1"/>
          <p:cNvSpPr>
            <a:spLocks noGrp="1"/>
          </p:cNvSpPr>
          <p:nvPr>
            <p:ph type="title"/>
          </p:nvPr>
        </p:nvSpPr>
        <p:spPr/>
        <p:txBody>
          <a:bodyPr>
            <a:normAutofit fontScale="90000"/>
          </a:bodyPr>
          <a:lstStyle/>
          <a:p>
            <a:r>
              <a:rPr lang="en-US" altLang="ja-JP" dirty="0" smtClean="0"/>
              <a:t>Self-introduction</a:t>
            </a:r>
            <a:endParaRPr kumimoji="1" lang="ja-JP" altLang="en-US" dirty="0"/>
          </a:p>
        </p:txBody>
      </p:sp>
      <p:sp>
        <p:nvSpPr>
          <p:cNvPr id="8" name="コンテンツ プレースホルダ 3"/>
          <p:cNvSpPr>
            <a:spLocks noGrp="1"/>
          </p:cNvSpPr>
          <p:nvPr>
            <p:ph idx="1"/>
          </p:nvPr>
        </p:nvSpPr>
        <p:spPr>
          <a:xfrm>
            <a:off x="0" y="836713"/>
            <a:ext cx="9144000" cy="5683546"/>
          </a:xfrm>
        </p:spPr>
        <p:txBody>
          <a:bodyPr>
            <a:normAutofit fontScale="92500" lnSpcReduction="10000"/>
          </a:bodyPr>
          <a:lstStyle/>
          <a:p>
            <a:r>
              <a:rPr lang="en-US" altLang="ja-JP" sz="2600" b="1" dirty="0" smtClean="0"/>
              <a:t>Name:</a:t>
            </a:r>
            <a:endParaRPr lang="en-US" altLang="ja-JP" sz="2600" b="1" dirty="0"/>
          </a:p>
          <a:p>
            <a:pPr lvl="1"/>
            <a:r>
              <a:rPr lang="en-US" altLang="ja-JP" sz="2200" dirty="0" smtClean="0"/>
              <a:t>Shuhei Obara</a:t>
            </a:r>
          </a:p>
          <a:p>
            <a:r>
              <a:rPr lang="en-US" altLang="ja-JP" sz="2600" b="1" dirty="0" smtClean="0"/>
              <a:t>Organization:</a:t>
            </a:r>
            <a:endParaRPr lang="ja-JP" altLang="en-US" sz="2600" b="1" dirty="0" smtClean="0"/>
          </a:p>
          <a:p>
            <a:pPr lvl="1"/>
            <a:r>
              <a:rPr lang="en-US" altLang="ja-JP" sz="2200" dirty="0" smtClean="0"/>
              <a:t>SD Section 47, R&amp;D Department 42, Software 4</a:t>
            </a:r>
            <a:r>
              <a:rPr lang="ja-JP" altLang="en-US" sz="2200" dirty="0" smtClean="0"/>
              <a:t> </a:t>
            </a:r>
            <a:r>
              <a:rPr lang="en-US" altLang="ja-JP" sz="2200" dirty="0" smtClean="0"/>
              <a:t>R&amp;D Division, Corporate Software Development Division</a:t>
            </a:r>
            <a:endParaRPr lang="ja-JP" altLang="en-US" sz="2200" dirty="0" smtClean="0"/>
          </a:p>
          <a:p>
            <a:r>
              <a:rPr lang="en-US" altLang="ja-JP" sz="2600" b="1" dirty="0" smtClean="0"/>
              <a:t>Experience:</a:t>
            </a:r>
            <a:endParaRPr lang="ja-JP" altLang="en-US" sz="2600" b="1" dirty="0" smtClean="0"/>
          </a:p>
          <a:p>
            <a:pPr lvl="1"/>
            <a:r>
              <a:rPr lang="en-US" altLang="ja-JP" sz="2200" dirty="0" smtClean="0"/>
              <a:t>2011.11.1</a:t>
            </a:r>
            <a:r>
              <a:rPr lang="ja-JP" altLang="en-US" sz="2200" dirty="0" smtClean="0"/>
              <a:t>　</a:t>
            </a:r>
            <a:r>
              <a:rPr lang="en-US" altLang="ja-JP" sz="2200" dirty="0" smtClean="0"/>
              <a:t> Joins KDC. Assigned to MFP/Printer product development.</a:t>
            </a:r>
            <a:endParaRPr lang="ja-JP" altLang="en-US" sz="2200" dirty="0" smtClean="0"/>
          </a:p>
          <a:p>
            <a:pPr lvl="1"/>
            <a:r>
              <a:rPr lang="en-US" altLang="ja-JP" sz="2200" dirty="0" smtClean="0"/>
              <a:t>2011.11</a:t>
            </a:r>
            <a:r>
              <a:rPr lang="ja-JP" altLang="en-US" sz="2200" dirty="0" smtClean="0"/>
              <a:t>～</a:t>
            </a:r>
            <a:r>
              <a:rPr lang="en-US" altLang="ja-JP" sz="2200" dirty="0" smtClean="0"/>
              <a:t>2012.6</a:t>
            </a:r>
            <a:r>
              <a:rPr lang="ja-JP" altLang="en-US" sz="2200" dirty="0" smtClean="0"/>
              <a:t>　</a:t>
            </a:r>
            <a:r>
              <a:rPr lang="en-US" altLang="ja-JP" sz="2200" dirty="0" smtClean="0"/>
              <a:t>MFP/Printer Functional design</a:t>
            </a:r>
          </a:p>
          <a:p>
            <a:pPr lvl="1"/>
            <a:r>
              <a:rPr lang="en-US" altLang="ja-JP" sz="2200" dirty="0" smtClean="0"/>
              <a:t>2012.7</a:t>
            </a:r>
            <a:r>
              <a:rPr lang="ja-JP" altLang="en-US" sz="2200" dirty="0" smtClean="0"/>
              <a:t>～</a:t>
            </a:r>
            <a:r>
              <a:rPr lang="en-US" altLang="ja-JP" sz="2200" dirty="0" smtClean="0"/>
              <a:t>2013.12</a:t>
            </a:r>
            <a:r>
              <a:rPr lang="ja-JP" altLang="en-US" sz="2200" dirty="0" smtClean="0"/>
              <a:t>　</a:t>
            </a:r>
            <a:endParaRPr lang="en-US" altLang="ja-JP" sz="2200" dirty="0" smtClean="0"/>
          </a:p>
          <a:p>
            <a:pPr lvl="1">
              <a:buNone/>
            </a:pPr>
            <a:r>
              <a:rPr lang="ja-JP" altLang="en-US" sz="2200" dirty="0" smtClean="0"/>
              <a:t>　・</a:t>
            </a:r>
            <a:r>
              <a:rPr lang="en-US" altLang="ja-JP" sz="2200" dirty="0" smtClean="0"/>
              <a:t>JOB</a:t>
            </a:r>
            <a:r>
              <a:rPr lang="ja-JP" altLang="en-US" sz="2200" dirty="0" smtClean="0"/>
              <a:t> </a:t>
            </a:r>
            <a:r>
              <a:rPr lang="en-US" altLang="ja-JP" sz="2200" dirty="0" smtClean="0"/>
              <a:t>team</a:t>
            </a:r>
          </a:p>
          <a:p>
            <a:pPr lvl="1">
              <a:buNone/>
            </a:pPr>
            <a:r>
              <a:rPr lang="ja-JP" altLang="en-US" sz="2200" dirty="0" smtClean="0"/>
              <a:t>　・</a:t>
            </a:r>
            <a:r>
              <a:rPr lang="en-US" altLang="ja-JP" sz="2200" dirty="0" smtClean="0"/>
              <a:t>Design Member, Task Member (Polaris and ES color printer)</a:t>
            </a:r>
            <a:endParaRPr lang="ja-JP" altLang="en-US" sz="2200" dirty="0" smtClean="0"/>
          </a:p>
          <a:p>
            <a:pPr lvl="1"/>
            <a:r>
              <a:rPr lang="en-US" altLang="ja-JP" sz="2200" dirty="0" smtClean="0"/>
              <a:t>2014.1</a:t>
            </a:r>
            <a:r>
              <a:rPr lang="ja-JP" altLang="en-US" sz="2200" dirty="0" smtClean="0"/>
              <a:t>～</a:t>
            </a:r>
            <a:r>
              <a:rPr lang="en-US" altLang="ja-JP" sz="2200" dirty="0" smtClean="0"/>
              <a:t>2016.5</a:t>
            </a:r>
          </a:p>
          <a:p>
            <a:pPr lvl="1">
              <a:buNone/>
            </a:pPr>
            <a:r>
              <a:rPr lang="ja-JP" altLang="en-US" sz="2200" dirty="0" smtClean="0"/>
              <a:t>　・</a:t>
            </a:r>
            <a:r>
              <a:rPr lang="en-US" altLang="ja-JP" sz="2200" dirty="0" smtClean="0"/>
              <a:t>System</a:t>
            </a:r>
            <a:r>
              <a:rPr lang="ja-JP" altLang="en-US" sz="2200" dirty="0" smtClean="0"/>
              <a:t> </a:t>
            </a:r>
            <a:r>
              <a:rPr lang="en-US" altLang="ja-JP" sz="2200" dirty="0" smtClean="0"/>
              <a:t>Design (NewA3, 6thPlus, Thread Design and Performance items)</a:t>
            </a:r>
            <a:endParaRPr lang="ja-JP" altLang="en-US" sz="2200" dirty="0" smtClean="0"/>
          </a:p>
          <a:p>
            <a:pPr lvl="1"/>
            <a:r>
              <a:rPr lang="en-US" altLang="ja-JP" sz="2200" dirty="0" smtClean="0"/>
              <a:t>2016.6</a:t>
            </a:r>
            <a:r>
              <a:rPr lang="ja-JP" altLang="en-US" sz="2200" dirty="0" smtClean="0"/>
              <a:t>～　</a:t>
            </a:r>
            <a:r>
              <a:rPr lang="en-US" altLang="ja-JP" sz="2200" dirty="0" smtClean="0"/>
              <a:t> WiseCore4S architecture development</a:t>
            </a:r>
          </a:p>
        </p:txBody>
      </p:sp>
      <p:pic>
        <p:nvPicPr>
          <p:cNvPr id="13" name="Picture 9" descr="asca_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6057" y="5784981"/>
            <a:ext cx="1467167" cy="50473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cstate="print"/>
          <a:srcRect/>
          <a:stretch>
            <a:fillRect/>
          </a:stretch>
        </p:blipFill>
        <p:spPr bwMode="auto">
          <a:xfrm>
            <a:off x="8244408" y="863000"/>
            <a:ext cx="681756" cy="1031578"/>
          </a:xfrm>
          <a:prstGeom prst="rect">
            <a:avLst/>
          </a:prstGeom>
          <a:noFill/>
          <a:ln w="9525">
            <a:noFill/>
            <a:miter lim="800000"/>
            <a:headEnd/>
            <a:tailEnd/>
          </a:ln>
        </p:spPr>
      </p:pic>
    </p:spTree>
    <p:extLst>
      <p:ext uri="{BB962C8B-B14F-4D97-AF65-F5344CB8AC3E}">
        <p14:creationId xmlns:p14="http://schemas.microsoft.com/office/powerpoint/2010/main" val="41455654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CCFFFF"/>
            </a:gs>
            <a:gs pos="39999">
              <a:srgbClr val="85C2FF"/>
            </a:gs>
            <a:gs pos="70000">
              <a:srgbClr val="C4D6EB"/>
            </a:gs>
            <a:gs pos="100000">
              <a:srgbClr val="FFEBFA"/>
            </a:gs>
          </a:gsLst>
          <a:lin ang="5400000" scaled="1"/>
        </a:gradFill>
        <a:effectLst/>
      </p:bgPr>
    </p:bg>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a:t>
            </a:fld>
            <a:endParaRPr kumimoji="1" lang="ja-JP" altLang="en-US" dirty="0">
              <a:latin typeface="Meiryo UI" pitchFamily="50" charset="-128"/>
              <a:ea typeface="Meiryo UI" pitchFamily="50" charset="-128"/>
              <a:cs typeface="Meiryo UI" pitchFamily="50" charset="-128"/>
            </a:endParaRPr>
          </a:p>
        </p:txBody>
      </p:sp>
      <p:sp>
        <p:nvSpPr>
          <p:cNvPr id="6" name="テキスト ボックス 5"/>
          <p:cNvSpPr txBox="1"/>
          <p:nvPr/>
        </p:nvSpPr>
        <p:spPr>
          <a:xfrm>
            <a:off x="179512" y="808948"/>
            <a:ext cx="8784976" cy="5760640"/>
          </a:xfrm>
          <a:prstGeom prst="rect">
            <a:avLst/>
          </a:prstGeom>
          <a:noFill/>
        </p:spPr>
        <p:txBody>
          <a:bodyPr wrap="square" rtlCol="0" anchor="ctr" anchorCtr="0">
            <a:noAutofit/>
          </a:bodyPr>
          <a:lstStyle/>
          <a:p>
            <a:pPr algn="ctr"/>
            <a:r>
              <a:rPr lang="en-US" altLang="ja-JP" sz="4000" dirty="0" smtClean="0">
                <a:latin typeface="Meiryo UI" pitchFamily="50" charset="-128"/>
                <a:ea typeface="Meiryo UI" pitchFamily="50" charset="-128"/>
                <a:cs typeface="Meiryo UI" pitchFamily="50" charset="-128"/>
              </a:rPr>
              <a:t>WiseCore4S architecture lecture Software structure</a:t>
            </a:r>
            <a:endParaRPr lang="ja-JP" altLang="en-US" sz="4000" dirty="0">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3</a:t>
            </a:fld>
            <a:endParaRPr kumimoji="1" lang="ja-JP" altLang="en-US" dirty="0">
              <a:latin typeface="Meiryo UI" pitchFamily="50" charset="-128"/>
              <a:ea typeface="Meiryo UI" pitchFamily="50" charset="-128"/>
              <a:cs typeface="Meiryo UI" pitchFamily="50" charset="-128"/>
            </a:endParaRPr>
          </a:p>
        </p:txBody>
      </p:sp>
      <p:sp>
        <p:nvSpPr>
          <p:cNvPr id="29"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Subsystem</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pic>
        <p:nvPicPr>
          <p:cNvPr id="3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956" y="1197546"/>
            <a:ext cx="6000750" cy="4962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角丸四角形 30"/>
          <p:cNvSpPr/>
          <p:nvPr/>
        </p:nvSpPr>
        <p:spPr bwMode="auto">
          <a:xfrm>
            <a:off x="396330" y="1197546"/>
            <a:ext cx="2700000" cy="2304256"/>
          </a:xfrm>
          <a:prstGeom prst="roundRect">
            <a:avLst/>
          </a:prstGeom>
          <a:noFill/>
          <a:ln w="3810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2" name="正方形/長方形 31"/>
          <p:cNvSpPr/>
          <p:nvPr/>
        </p:nvSpPr>
        <p:spPr bwMode="auto">
          <a:xfrm>
            <a:off x="684362" y="909514"/>
            <a:ext cx="2160240" cy="286232"/>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005CE7"/>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Layer</a:t>
            </a:r>
            <a:endParaRPr kumimoji="1" lang="ja-JP" altLang="en-US" sz="1400" b="1" i="0" u="none" strike="noStrike" kern="0" cap="none" spc="0" normalizeH="0" baseline="0" noProof="0" dirty="0" smtClean="0">
              <a:ln>
                <a:noFill/>
              </a:ln>
              <a:solidFill>
                <a:srgbClr val="005CE7"/>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角丸四角形 32"/>
          <p:cNvSpPr/>
          <p:nvPr/>
        </p:nvSpPr>
        <p:spPr bwMode="auto">
          <a:xfrm>
            <a:off x="468338" y="3681890"/>
            <a:ext cx="6048000" cy="612000"/>
          </a:xfrm>
          <a:prstGeom prst="roundRect">
            <a:avLst/>
          </a:prstGeom>
          <a:noFill/>
          <a:ln w="38100">
            <a:solidFill>
              <a:srgbClr val="00B05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4" name="角丸四角形 33"/>
          <p:cNvSpPr/>
          <p:nvPr/>
        </p:nvSpPr>
        <p:spPr bwMode="auto">
          <a:xfrm>
            <a:off x="468338" y="4365898"/>
            <a:ext cx="6048000" cy="612000"/>
          </a:xfrm>
          <a:prstGeom prst="roundRect">
            <a:avLst/>
          </a:prstGeom>
          <a:noFill/>
          <a:ln w="38100">
            <a:solidFill>
              <a:srgbClr val="FFFF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5" name="角丸四角形 34"/>
          <p:cNvSpPr/>
          <p:nvPr/>
        </p:nvSpPr>
        <p:spPr bwMode="auto">
          <a:xfrm>
            <a:off x="479956" y="5013970"/>
            <a:ext cx="6048000" cy="612000"/>
          </a:xfrm>
          <a:prstGeom prst="roundRect">
            <a:avLst/>
          </a:prstGeom>
          <a:noFill/>
          <a:ln w="38100">
            <a:solidFill>
              <a:srgbClr val="FFC0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6" name="角丸四角形 35"/>
          <p:cNvSpPr/>
          <p:nvPr/>
        </p:nvSpPr>
        <p:spPr bwMode="auto">
          <a:xfrm>
            <a:off x="468338" y="5642606"/>
            <a:ext cx="6048000" cy="612000"/>
          </a:xfrm>
          <a:prstGeom prst="roundRect">
            <a:avLst/>
          </a:prstGeom>
          <a:noFill/>
          <a:ln w="3810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7" name="正方形/長方形 36"/>
          <p:cNvSpPr/>
          <p:nvPr/>
        </p:nvSpPr>
        <p:spPr bwMode="auto">
          <a:xfrm>
            <a:off x="6661026" y="3789834"/>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Service</a:t>
            </a:r>
            <a:r>
              <a:rPr kumimoji="1" lang="en-US" altLang="ja-JP" sz="1400" b="1" i="0" u="none" strike="noStrike" kern="0" cap="none" spc="0" normalizeH="0" baseline="0" noProof="0" dirty="0" smtClean="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正方形/長方形 37"/>
          <p:cNvSpPr/>
          <p:nvPr/>
        </p:nvSpPr>
        <p:spPr bwMode="auto">
          <a:xfrm>
            <a:off x="6676352" y="4459532"/>
            <a:ext cx="1928890"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Element</a:t>
            </a:r>
            <a:r>
              <a:rPr kumimoji="1"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正方形/長方形 38"/>
          <p:cNvSpPr/>
          <p:nvPr/>
        </p:nvSpPr>
        <p:spPr bwMode="auto">
          <a:xfrm>
            <a:off x="6676352" y="5107604"/>
            <a:ext cx="1928890"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Middleware</a:t>
            </a:r>
            <a:r>
              <a:rPr kumimoji="1"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正方形/長方形 39"/>
          <p:cNvSpPr/>
          <p:nvPr/>
        </p:nvSpPr>
        <p:spPr bwMode="auto">
          <a:xfrm>
            <a:off x="6661026" y="5835558"/>
            <a:ext cx="1944216" cy="286232"/>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OS</a:t>
            </a:r>
            <a:r>
              <a:rPr kumimoji="1" lang="en-US" altLang="ja-JP"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角丸四角形 40"/>
          <p:cNvSpPr/>
          <p:nvPr/>
        </p:nvSpPr>
        <p:spPr bwMode="auto">
          <a:xfrm>
            <a:off x="3175140" y="1197546"/>
            <a:ext cx="3312000" cy="1368000"/>
          </a:xfrm>
          <a:prstGeom prst="roundRect">
            <a:avLst/>
          </a:prstGeom>
          <a:noFill/>
          <a:ln w="38100">
            <a:solidFill>
              <a:srgbClr val="7030A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2" name="角丸四角形 41"/>
          <p:cNvSpPr/>
          <p:nvPr/>
        </p:nvSpPr>
        <p:spPr bwMode="auto">
          <a:xfrm>
            <a:off x="3175140" y="2625116"/>
            <a:ext cx="3312000" cy="900000"/>
          </a:xfrm>
          <a:prstGeom prst="roundRect">
            <a:avLst/>
          </a:prstGeom>
          <a:noFill/>
          <a:ln w="38100">
            <a:solidFill>
              <a:srgbClr val="FF8F8F"/>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3" name="正方形/長方形 42"/>
          <p:cNvSpPr/>
          <p:nvPr/>
        </p:nvSpPr>
        <p:spPr bwMode="auto">
          <a:xfrm>
            <a:off x="6661026" y="1641480"/>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7030A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Framework</a:t>
            </a:r>
            <a:endParaRPr kumimoji="1" lang="ja-JP" altLang="en-US" sz="1400" b="1" i="0" u="none" strike="noStrike" kern="0" cap="none" spc="0" normalizeH="0" baseline="0" noProof="0" dirty="0" smtClean="0">
              <a:ln>
                <a:noFill/>
              </a:ln>
              <a:solidFill>
                <a:srgbClr val="7030A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正方形/長方形 43"/>
          <p:cNvSpPr/>
          <p:nvPr/>
        </p:nvSpPr>
        <p:spPr bwMode="auto">
          <a:xfrm>
            <a:off x="6676352" y="2805647"/>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System Service</a:t>
            </a:r>
            <a:r>
              <a:rPr kumimoji="0" lang="ja-JP" altLang="en-US" sz="1400" b="1" i="0" u="none" strike="noStrike" kern="0" cap="none" spc="0" normalizeH="0" baseline="0" noProof="0" dirty="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Layer</a:t>
            </a:r>
            <a:endParaRPr kumimoji="1" lang="ja-JP" altLang="en-US"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44"/>
          <p:cNvSpPr/>
          <p:nvPr/>
        </p:nvSpPr>
        <p:spPr bwMode="auto">
          <a:xfrm>
            <a:off x="396330" y="1195746"/>
            <a:ext cx="2736000" cy="2306056"/>
          </a:xfrm>
          <a:prstGeom prst="roundRect">
            <a:avLst/>
          </a:prstGeom>
          <a:solidFill>
            <a:srgbClr val="005CE7">
              <a:alpha val="50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6" name="角丸四角形 45"/>
          <p:cNvSpPr/>
          <p:nvPr/>
        </p:nvSpPr>
        <p:spPr bwMode="auto">
          <a:xfrm>
            <a:off x="3175140" y="1195746"/>
            <a:ext cx="3384000" cy="2340000"/>
          </a:xfrm>
          <a:prstGeom prst="roundRect">
            <a:avLst/>
          </a:prstGeom>
          <a:solidFill>
            <a:srgbClr val="FF8F8F">
              <a:alpha val="50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7" name="角丸四角形 46"/>
          <p:cNvSpPr/>
          <p:nvPr/>
        </p:nvSpPr>
        <p:spPr bwMode="auto">
          <a:xfrm>
            <a:off x="396330" y="3638674"/>
            <a:ext cx="6120000" cy="2664000"/>
          </a:xfrm>
          <a:prstGeom prst="roundRect">
            <a:avLst/>
          </a:prstGeom>
          <a:solidFill>
            <a:srgbClr val="92D050">
              <a:alpha val="50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8" name="角丸四角形 47"/>
          <p:cNvSpPr/>
          <p:nvPr/>
        </p:nvSpPr>
        <p:spPr bwMode="auto">
          <a:xfrm>
            <a:off x="468338" y="1881546"/>
            <a:ext cx="2627992" cy="83767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Standard Applications</a:t>
            </a:r>
            <a:endParaRPr kumimoji="1" lang="ja-JP" altLang="en-US"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角丸四角形 48"/>
          <p:cNvSpPr/>
          <p:nvPr/>
        </p:nvSpPr>
        <p:spPr bwMode="auto">
          <a:xfrm>
            <a:off x="3456330" y="1773610"/>
            <a:ext cx="2627992" cy="120543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Extension Service Platform</a:t>
            </a:r>
            <a:endParaRPr kumimoji="1" lang="ja-JP" altLang="en-US"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角丸四角形 49"/>
          <p:cNvSpPr/>
          <p:nvPr/>
        </p:nvSpPr>
        <p:spPr bwMode="auto">
          <a:xfrm>
            <a:off x="2142334" y="4293890"/>
            <a:ext cx="2627992" cy="83767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Product Line Platform</a:t>
            </a:r>
            <a:endParaRPr kumimoji="1" lang="ja-JP" altLang="en-US"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4</a:t>
            </a:fld>
            <a:endParaRPr kumimoji="1" lang="ja-JP" altLang="en-US" dirty="0">
              <a:latin typeface="Meiryo UI" pitchFamily="50" charset="-128"/>
              <a:ea typeface="Meiryo UI" pitchFamily="50" charset="-128"/>
              <a:cs typeface="Meiryo UI" pitchFamily="50" charset="-128"/>
            </a:endParaRPr>
          </a:p>
        </p:txBody>
      </p:sp>
      <p:sp>
        <p:nvSpPr>
          <p:cNvPr id="4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Subsystem</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pic>
        <p:nvPicPr>
          <p:cNvPr id="4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956" y="1197546"/>
            <a:ext cx="6000750" cy="4962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2" name="角丸四角形 41"/>
          <p:cNvSpPr/>
          <p:nvPr/>
        </p:nvSpPr>
        <p:spPr bwMode="auto">
          <a:xfrm>
            <a:off x="396330" y="1197546"/>
            <a:ext cx="2700000" cy="2304256"/>
          </a:xfrm>
          <a:prstGeom prst="roundRect">
            <a:avLst/>
          </a:prstGeom>
          <a:noFill/>
          <a:ln w="3810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3" name="正方形/長方形 42"/>
          <p:cNvSpPr/>
          <p:nvPr/>
        </p:nvSpPr>
        <p:spPr bwMode="auto">
          <a:xfrm>
            <a:off x="684362" y="909514"/>
            <a:ext cx="2160240" cy="286232"/>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005CE7"/>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Layer</a:t>
            </a:r>
            <a:endParaRPr kumimoji="1" lang="ja-JP" altLang="en-US" sz="1400" b="1" i="0" u="none" strike="noStrike" kern="0" cap="none" spc="0" normalizeH="0" baseline="0" noProof="0" dirty="0" smtClean="0">
              <a:ln>
                <a:noFill/>
              </a:ln>
              <a:solidFill>
                <a:srgbClr val="005CE7"/>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角丸四角形 43"/>
          <p:cNvSpPr/>
          <p:nvPr/>
        </p:nvSpPr>
        <p:spPr bwMode="auto">
          <a:xfrm>
            <a:off x="468338" y="3681890"/>
            <a:ext cx="6048000" cy="612000"/>
          </a:xfrm>
          <a:prstGeom prst="roundRect">
            <a:avLst/>
          </a:prstGeom>
          <a:noFill/>
          <a:ln w="38100">
            <a:solidFill>
              <a:srgbClr val="00B05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5" name="角丸四角形 44"/>
          <p:cNvSpPr/>
          <p:nvPr/>
        </p:nvSpPr>
        <p:spPr bwMode="auto">
          <a:xfrm>
            <a:off x="468338" y="4365898"/>
            <a:ext cx="6048000" cy="612000"/>
          </a:xfrm>
          <a:prstGeom prst="roundRect">
            <a:avLst/>
          </a:prstGeom>
          <a:noFill/>
          <a:ln w="38100">
            <a:solidFill>
              <a:srgbClr val="FFFF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6" name="角丸四角形 45"/>
          <p:cNvSpPr/>
          <p:nvPr/>
        </p:nvSpPr>
        <p:spPr bwMode="auto">
          <a:xfrm>
            <a:off x="479956" y="5013970"/>
            <a:ext cx="6048000" cy="612000"/>
          </a:xfrm>
          <a:prstGeom prst="roundRect">
            <a:avLst/>
          </a:prstGeom>
          <a:noFill/>
          <a:ln w="38100">
            <a:solidFill>
              <a:srgbClr val="FFC0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7" name="角丸四角形 46"/>
          <p:cNvSpPr/>
          <p:nvPr/>
        </p:nvSpPr>
        <p:spPr bwMode="auto">
          <a:xfrm>
            <a:off x="468338" y="5642606"/>
            <a:ext cx="6048000" cy="612000"/>
          </a:xfrm>
          <a:prstGeom prst="roundRect">
            <a:avLst/>
          </a:prstGeom>
          <a:noFill/>
          <a:ln w="3810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48" name="正方形/長方形 47"/>
          <p:cNvSpPr/>
          <p:nvPr/>
        </p:nvSpPr>
        <p:spPr bwMode="auto">
          <a:xfrm>
            <a:off x="6661026" y="3789834"/>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Service</a:t>
            </a:r>
            <a:r>
              <a:rPr kumimoji="1" lang="en-US" altLang="ja-JP" sz="1400" b="1" i="0" u="none" strike="noStrike" kern="0" cap="none" spc="0" normalizeH="0" baseline="0" noProof="0" dirty="0" smtClean="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正方形/長方形 48"/>
          <p:cNvSpPr/>
          <p:nvPr/>
        </p:nvSpPr>
        <p:spPr bwMode="auto">
          <a:xfrm>
            <a:off x="6676352" y="4459532"/>
            <a:ext cx="1928890"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Element</a:t>
            </a:r>
            <a:r>
              <a:rPr kumimoji="1"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正方形/長方形 49"/>
          <p:cNvSpPr/>
          <p:nvPr/>
        </p:nvSpPr>
        <p:spPr bwMode="auto">
          <a:xfrm>
            <a:off x="6676352" y="5107604"/>
            <a:ext cx="1928890"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Middleware</a:t>
            </a:r>
            <a:r>
              <a:rPr kumimoji="1"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正方形/長方形 50"/>
          <p:cNvSpPr/>
          <p:nvPr/>
        </p:nvSpPr>
        <p:spPr bwMode="auto">
          <a:xfrm>
            <a:off x="6661026" y="5835558"/>
            <a:ext cx="1944216" cy="286232"/>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OS</a:t>
            </a:r>
            <a:r>
              <a:rPr kumimoji="1" lang="en-US" altLang="ja-JP"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角丸四角形 51"/>
          <p:cNvSpPr/>
          <p:nvPr/>
        </p:nvSpPr>
        <p:spPr bwMode="auto">
          <a:xfrm>
            <a:off x="3175140" y="1197546"/>
            <a:ext cx="3312000" cy="1368000"/>
          </a:xfrm>
          <a:prstGeom prst="roundRect">
            <a:avLst/>
          </a:prstGeom>
          <a:noFill/>
          <a:ln w="38100">
            <a:solidFill>
              <a:srgbClr val="7030A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53" name="角丸四角形 52"/>
          <p:cNvSpPr/>
          <p:nvPr/>
        </p:nvSpPr>
        <p:spPr bwMode="auto">
          <a:xfrm>
            <a:off x="3175140" y="2625116"/>
            <a:ext cx="3312000" cy="900000"/>
          </a:xfrm>
          <a:prstGeom prst="roundRect">
            <a:avLst/>
          </a:prstGeom>
          <a:noFill/>
          <a:ln w="38100">
            <a:solidFill>
              <a:srgbClr val="FF8F8F"/>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54" name="正方形/長方形 53"/>
          <p:cNvSpPr/>
          <p:nvPr/>
        </p:nvSpPr>
        <p:spPr bwMode="auto">
          <a:xfrm>
            <a:off x="6661026" y="1641480"/>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7030A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Framework</a:t>
            </a:r>
            <a:endParaRPr kumimoji="1" lang="ja-JP" altLang="en-US" sz="1400" b="1" i="0" u="none" strike="noStrike" kern="0" cap="none" spc="0" normalizeH="0" baseline="0" noProof="0" dirty="0" smtClean="0">
              <a:ln>
                <a:noFill/>
              </a:ln>
              <a:solidFill>
                <a:srgbClr val="7030A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正方形/長方形 54"/>
          <p:cNvSpPr/>
          <p:nvPr/>
        </p:nvSpPr>
        <p:spPr bwMode="auto">
          <a:xfrm>
            <a:off x="6676352" y="2805647"/>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System Service</a:t>
            </a:r>
            <a:r>
              <a:rPr kumimoji="0" lang="ja-JP" altLang="en-US" sz="1400" b="1" i="0" u="none" strike="noStrike" kern="0" cap="none" spc="0" normalizeH="0" baseline="0" noProof="0" dirty="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Layer</a:t>
            </a:r>
            <a:endParaRPr kumimoji="1" lang="ja-JP" altLang="en-US"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角丸四角形 55"/>
          <p:cNvSpPr/>
          <p:nvPr/>
        </p:nvSpPr>
        <p:spPr bwMode="auto">
          <a:xfrm>
            <a:off x="396330" y="1195746"/>
            <a:ext cx="2736000" cy="2306056"/>
          </a:xfrm>
          <a:prstGeom prst="roundRect">
            <a:avLst/>
          </a:prstGeom>
          <a:solidFill>
            <a:srgbClr val="005CE7">
              <a:alpha val="50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57" name="角丸四角形 56"/>
          <p:cNvSpPr/>
          <p:nvPr/>
        </p:nvSpPr>
        <p:spPr bwMode="auto">
          <a:xfrm>
            <a:off x="3175140" y="1195746"/>
            <a:ext cx="3384000" cy="2340000"/>
          </a:xfrm>
          <a:prstGeom prst="roundRect">
            <a:avLst/>
          </a:prstGeom>
          <a:solidFill>
            <a:srgbClr val="FF8F8F">
              <a:alpha val="50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58" name="角丸四角形 57"/>
          <p:cNvSpPr/>
          <p:nvPr/>
        </p:nvSpPr>
        <p:spPr bwMode="auto">
          <a:xfrm>
            <a:off x="396330" y="3638674"/>
            <a:ext cx="6120000" cy="2664000"/>
          </a:xfrm>
          <a:prstGeom prst="roundRect">
            <a:avLst/>
          </a:prstGeom>
          <a:solidFill>
            <a:srgbClr val="92D050">
              <a:alpha val="50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59" name="角丸四角形 58"/>
          <p:cNvSpPr/>
          <p:nvPr/>
        </p:nvSpPr>
        <p:spPr bwMode="auto">
          <a:xfrm>
            <a:off x="468338" y="1881546"/>
            <a:ext cx="2627992" cy="83767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Standard Applications</a:t>
            </a:r>
            <a:endParaRPr kumimoji="1" lang="ja-JP" altLang="en-US"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角丸四角形 59"/>
          <p:cNvSpPr/>
          <p:nvPr/>
        </p:nvSpPr>
        <p:spPr bwMode="auto">
          <a:xfrm>
            <a:off x="3456330" y="1773610"/>
            <a:ext cx="2627992" cy="120543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Extension Service Platform</a:t>
            </a:r>
            <a:endParaRPr kumimoji="1" lang="ja-JP" altLang="en-US"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角丸四角形 60"/>
          <p:cNvSpPr/>
          <p:nvPr/>
        </p:nvSpPr>
        <p:spPr bwMode="auto">
          <a:xfrm>
            <a:off x="2142334" y="4293890"/>
            <a:ext cx="2627992" cy="83767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Product Line Platform</a:t>
            </a:r>
            <a:endParaRPr kumimoji="1" lang="ja-JP" altLang="en-US" sz="2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右矢印 61"/>
          <p:cNvSpPr/>
          <p:nvPr/>
        </p:nvSpPr>
        <p:spPr bwMode="auto">
          <a:xfrm>
            <a:off x="2628698" y="1514837"/>
            <a:ext cx="1080000" cy="606774"/>
          </a:xfrm>
          <a:prstGeom prst="rightArrow">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63" name="右矢印 62"/>
          <p:cNvSpPr/>
          <p:nvPr/>
        </p:nvSpPr>
        <p:spPr bwMode="auto">
          <a:xfrm rot="10800000">
            <a:off x="2556571" y="2625116"/>
            <a:ext cx="1080000" cy="606774"/>
          </a:xfrm>
          <a:prstGeom prst="rightArrow">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64" name="正方形/長方形 63"/>
          <p:cNvSpPr/>
          <p:nvPr/>
        </p:nvSpPr>
        <p:spPr bwMode="auto">
          <a:xfrm>
            <a:off x="3564682" y="2517381"/>
            <a:ext cx="792088" cy="923330"/>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60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60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ドーナツ 64"/>
          <p:cNvSpPr/>
          <p:nvPr/>
        </p:nvSpPr>
        <p:spPr bwMode="auto">
          <a:xfrm>
            <a:off x="1897216" y="1582739"/>
            <a:ext cx="659354" cy="597611"/>
          </a:xfrm>
          <a:prstGeom prst="donu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66" name="右矢印 65"/>
          <p:cNvSpPr/>
          <p:nvPr/>
        </p:nvSpPr>
        <p:spPr bwMode="auto">
          <a:xfrm rot="5400000">
            <a:off x="1494754" y="3540515"/>
            <a:ext cx="1080000" cy="606774"/>
          </a:xfrm>
          <a:prstGeom prst="rightArrow">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67" name="右矢印 66"/>
          <p:cNvSpPr/>
          <p:nvPr/>
        </p:nvSpPr>
        <p:spPr bwMode="auto">
          <a:xfrm rot="16200000">
            <a:off x="647817" y="3519898"/>
            <a:ext cx="1080000" cy="612000"/>
          </a:xfrm>
          <a:prstGeom prst="rightArrow">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68" name="ドーナツ 67"/>
          <p:cNvSpPr/>
          <p:nvPr/>
        </p:nvSpPr>
        <p:spPr bwMode="auto">
          <a:xfrm>
            <a:off x="1705077" y="4562084"/>
            <a:ext cx="659354" cy="597611"/>
          </a:xfrm>
          <a:prstGeom prst="donu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69" name="正方形/長方形 68"/>
          <p:cNvSpPr/>
          <p:nvPr/>
        </p:nvSpPr>
        <p:spPr bwMode="auto">
          <a:xfrm>
            <a:off x="791772" y="4466163"/>
            <a:ext cx="792088" cy="923330"/>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60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60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70" name="右矢印 69"/>
          <p:cNvSpPr/>
          <p:nvPr/>
        </p:nvSpPr>
        <p:spPr bwMode="auto">
          <a:xfrm rot="5400000">
            <a:off x="5071765" y="3540515"/>
            <a:ext cx="1080000" cy="606774"/>
          </a:xfrm>
          <a:prstGeom prst="rightArrow">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71" name="右矢印 70"/>
          <p:cNvSpPr/>
          <p:nvPr/>
        </p:nvSpPr>
        <p:spPr bwMode="auto">
          <a:xfrm rot="16200000">
            <a:off x="4224828" y="3519898"/>
            <a:ext cx="1080000" cy="612000"/>
          </a:xfrm>
          <a:prstGeom prst="rightArrow">
            <a:avLst/>
          </a:prstGeom>
          <a:solidFill>
            <a:srgbClr val="FF0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72" name="ドーナツ 71"/>
          <p:cNvSpPr/>
          <p:nvPr/>
        </p:nvSpPr>
        <p:spPr bwMode="auto">
          <a:xfrm>
            <a:off x="5282088" y="4562084"/>
            <a:ext cx="659354" cy="597611"/>
          </a:xfrm>
          <a:prstGeom prst="donu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73" name="正方形/長方形 72"/>
          <p:cNvSpPr/>
          <p:nvPr/>
        </p:nvSpPr>
        <p:spPr bwMode="auto">
          <a:xfrm>
            <a:off x="4368783" y="4466163"/>
            <a:ext cx="792088" cy="923330"/>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60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60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5</a:t>
            </a:fld>
            <a:endParaRPr kumimoji="1" lang="ja-JP" altLang="en-US" dirty="0">
              <a:latin typeface="Meiryo UI" pitchFamily="50" charset="-128"/>
              <a:ea typeface="Meiryo UI" pitchFamily="50" charset="-128"/>
              <a:cs typeface="Meiryo UI" pitchFamily="50" charset="-128"/>
            </a:endParaRPr>
          </a:p>
        </p:txBody>
      </p:sp>
      <p:sp>
        <p:nvSpPr>
          <p:cNvPr id="22"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Layers</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pic>
        <p:nvPicPr>
          <p:cNvPr id="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956" y="1197546"/>
            <a:ext cx="6000750" cy="4962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角丸四角形 23"/>
          <p:cNvSpPr/>
          <p:nvPr/>
        </p:nvSpPr>
        <p:spPr bwMode="auto">
          <a:xfrm>
            <a:off x="396330" y="1197546"/>
            <a:ext cx="2700000" cy="2304256"/>
          </a:xfrm>
          <a:prstGeom prst="roundRect">
            <a:avLst/>
          </a:prstGeom>
          <a:noFill/>
          <a:ln w="3810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25" name="正方形/長方形 24"/>
          <p:cNvSpPr/>
          <p:nvPr/>
        </p:nvSpPr>
        <p:spPr bwMode="auto">
          <a:xfrm>
            <a:off x="684362" y="909514"/>
            <a:ext cx="2160240" cy="286232"/>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005CE7"/>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Layer</a:t>
            </a:r>
            <a:endParaRPr kumimoji="1" lang="ja-JP" altLang="en-US" sz="1400" b="1" i="0" u="none" strike="noStrike" kern="0" cap="none" spc="0" normalizeH="0" baseline="0" noProof="0" dirty="0" smtClean="0">
              <a:ln>
                <a:noFill/>
              </a:ln>
              <a:solidFill>
                <a:srgbClr val="005CE7"/>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角丸四角形 25"/>
          <p:cNvSpPr/>
          <p:nvPr/>
        </p:nvSpPr>
        <p:spPr bwMode="auto">
          <a:xfrm>
            <a:off x="468338" y="3681890"/>
            <a:ext cx="6048000" cy="612000"/>
          </a:xfrm>
          <a:prstGeom prst="roundRect">
            <a:avLst/>
          </a:prstGeom>
          <a:noFill/>
          <a:ln w="38100">
            <a:solidFill>
              <a:srgbClr val="00B05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27" name="角丸四角形 26"/>
          <p:cNvSpPr/>
          <p:nvPr/>
        </p:nvSpPr>
        <p:spPr bwMode="auto">
          <a:xfrm>
            <a:off x="468338" y="4365898"/>
            <a:ext cx="6048000" cy="612000"/>
          </a:xfrm>
          <a:prstGeom prst="roundRect">
            <a:avLst/>
          </a:prstGeom>
          <a:noFill/>
          <a:ln w="38100">
            <a:solidFill>
              <a:srgbClr val="FFFF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28" name="角丸四角形 27"/>
          <p:cNvSpPr/>
          <p:nvPr/>
        </p:nvSpPr>
        <p:spPr bwMode="auto">
          <a:xfrm>
            <a:off x="479956" y="5013970"/>
            <a:ext cx="6048000" cy="612000"/>
          </a:xfrm>
          <a:prstGeom prst="roundRect">
            <a:avLst/>
          </a:prstGeom>
          <a:noFill/>
          <a:ln w="38100">
            <a:solidFill>
              <a:srgbClr val="FFC0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29" name="角丸四角形 28"/>
          <p:cNvSpPr/>
          <p:nvPr/>
        </p:nvSpPr>
        <p:spPr bwMode="auto">
          <a:xfrm>
            <a:off x="468338" y="5642606"/>
            <a:ext cx="6048000" cy="612000"/>
          </a:xfrm>
          <a:prstGeom prst="roundRect">
            <a:avLst/>
          </a:prstGeom>
          <a:noFill/>
          <a:ln w="3810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0" name="正方形/長方形 29"/>
          <p:cNvSpPr/>
          <p:nvPr/>
        </p:nvSpPr>
        <p:spPr bwMode="auto">
          <a:xfrm>
            <a:off x="6661026" y="3789834"/>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Service</a:t>
            </a:r>
            <a:r>
              <a:rPr kumimoji="1" lang="en-US" altLang="ja-JP" sz="1400" b="1" i="0" u="none" strike="noStrike" kern="0" cap="none" spc="0" normalizeH="0" baseline="0" noProof="0" dirty="0" smtClean="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00B05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正方形/長方形 30"/>
          <p:cNvSpPr/>
          <p:nvPr/>
        </p:nvSpPr>
        <p:spPr bwMode="auto">
          <a:xfrm>
            <a:off x="6676352" y="4459532"/>
            <a:ext cx="1928890"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Element</a:t>
            </a:r>
            <a:r>
              <a:rPr kumimoji="1"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正方形/長方形 31"/>
          <p:cNvSpPr/>
          <p:nvPr/>
        </p:nvSpPr>
        <p:spPr bwMode="auto">
          <a:xfrm>
            <a:off x="6676352" y="5107604"/>
            <a:ext cx="1928890"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Middleware</a:t>
            </a:r>
            <a:r>
              <a:rPr kumimoji="1"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正方形/長方形 32"/>
          <p:cNvSpPr/>
          <p:nvPr/>
        </p:nvSpPr>
        <p:spPr bwMode="auto">
          <a:xfrm>
            <a:off x="6661026" y="5835558"/>
            <a:ext cx="1944216" cy="286232"/>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OS</a:t>
            </a:r>
            <a:r>
              <a:rPr kumimoji="1" lang="en-US" altLang="ja-JP"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endParaRPr kumimoji="1" lang="ja-JP" altLang="en-US" sz="1400" b="1" i="0" u="none" strike="noStrike" kern="0" cap="none" spc="0" normalizeH="0" baseline="0" noProof="0" dirty="0" smtClean="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角丸四角形 33"/>
          <p:cNvSpPr/>
          <p:nvPr/>
        </p:nvSpPr>
        <p:spPr bwMode="auto">
          <a:xfrm>
            <a:off x="3175140" y="1197546"/>
            <a:ext cx="3312000" cy="1368000"/>
          </a:xfrm>
          <a:prstGeom prst="roundRect">
            <a:avLst/>
          </a:prstGeom>
          <a:noFill/>
          <a:ln w="38100">
            <a:solidFill>
              <a:srgbClr val="7030A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5" name="角丸四角形 34"/>
          <p:cNvSpPr/>
          <p:nvPr/>
        </p:nvSpPr>
        <p:spPr bwMode="auto">
          <a:xfrm>
            <a:off x="3175140" y="2625116"/>
            <a:ext cx="3312000" cy="900000"/>
          </a:xfrm>
          <a:prstGeom prst="roundRect">
            <a:avLst/>
          </a:prstGeom>
          <a:noFill/>
          <a:ln w="38100">
            <a:solidFill>
              <a:srgbClr val="FF8F8F"/>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6" name="正方形/長方形 35"/>
          <p:cNvSpPr/>
          <p:nvPr/>
        </p:nvSpPr>
        <p:spPr bwMode="auto">
          <a:xfrm>
            <a:off x="6661026" y="1641480"/>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7030A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Framework</a:t>
            </a:r>
            <a:endParaRPr kumimoji="1" lang="ja-JP" altLang="en-US" sz="1400" b="1" i="0" u="none" strike="noStrike" kern="0" cap="none" spc="0" normalizeH="0" baseline="0" noProof="0" dirty="0" smtClean="0">
              <a:ln>
                <a:noFill/>
              </a:ln>
              <a:solidFill>
                <a:srgbClr val="7030A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正方形/長方形 36"/>
          <p:cNvSpPr/>
          <p:nvPr/>
        </p:nvSpPr>
        <p:spPr bwMode="auto">
          <a:xfrm>
            <a:off x="6676352" y="2805647"/>
            <a:ext cx="1944216" cy="480131"/>
          </a:xfrm>
          <a:prstGeom prst="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System Service</a:t>
            </a:r>
            <a:r>
              <a:rPr kumimoji="0" lang="ja-JP" altLang="en-US" sz="1400" b="1" i="0" u="none" strike="noStrike" kern="0" cap="none" spc="0" normalizeH="0" baseline="0" noProof="0" dirty="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rPr>
              <a:t>Layer</a:t>
            </a:r>
            <a:endParaRPr kumimoji="1" lang="ja-JP" altLang="en-US" sz="1400" b="1" i="0" u="none" strike="noStrike" kern="0" cap="none" spc="0" normalizeH="0" baseline="0" noProof="0" dirty="0" smtClean="0">
              <a:ln>
                <a:noFill/>
              </a:ln>
              <a:solidFill>
                <a:srgbClr val="FF8F8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6</a:t>
            </a:fld>
            <a:endParaRPr kumimoji="1" lang="ja-JP" altLang="en-US" dirty="0">
              <a:latin typeface="Meiryo UI" pitchFamily="50" charset="-128"/>
              <a:ea typeface="Meiryo UI" pitchFamily="50" charset="-128"/>
              <a:cs typeface="Meiryo UI" pitchFamily="50" charset="-128"/>
            </a:endParaRPr>
          </a:p>
        </p:txBody>
      </p:sp>
      <p:sp>
        <p:nvSpPr>
          <p:cNvPr id="22"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Application</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角丸四角形 22"/>
          <p:cNvSpPr/>
          <p:nvPr/>
        </p:nvSpPr>
        <p:spPr bwMode="auto">
          <a:xfrm>
            <a:off x="540346" y="2907762"/>
            <a:ext cx="3816424" cy="2052000"/>
          </a:xfrm>
          <a:prstGeom prst="roundRect">
            <a:avLst/>
          </a:prstGeom>
          <a:noFill/>
          <a:ln w="3810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24" name="角丸四角形 23"/>
          <p:cNvSpPr/>
          <p:nvPr/>
        </p:nvSpPr>
        <p:spPr bwMode="auto">
          <a:xfrm>
            <a:off x="756370" y="2663088"/>
            <a:ext cx="3312368" cy="316682"/>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Basic function applications</a:t>
            </a:r>
          </a:p>
        </p:txBody>
      </p:sp>
      <p:sp>
        <p:nvSpPr>
          <p:cNvPr id="25" name="角丸四角形 24"/>
          <p:cNvSpPr/>
          <p:nvPr/>
        </p:nvSpPr>
        <p:spPr bwMode="auto">
          <a:xfrm>
            <a:off x="4645226" y="2943962"/>
            <a:ext cx="3816000" cy="1476000"/>
          </a:xfrm>
          <a:prstGeom prst="roundRect">
            <a:avLst/>
          </a:prstGeom>
          <a:noFill/>
          <a:ln w="3810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26" name="角丸四角形 25"/>
          <p:cNvSpPr/>
          <p:nvPr/>
        </p:nvSpPr>
        <p:spPr bwMode="auto">
          <a:xfrm>
            <a:off x="4860826" y="2681064"/>
            <a:ext cx="3312000" cy="316682"/>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System applications</a:t>
            </a:r>
          </a:p>
        </p:txBody>
      </p:sp>
      <p:sp>
        <p:nvSpPr>
          <p:cNvPr id="27" name="角丸四角形 26"/>
          <p:cNvSpPr/>
          <p:nvPr/>
        </p:nvSpPr>
        <p:spPr bwMode="auto">
          <a:xfrm>
            <a:off x="540346" y="5338114"/>
            <a:ext cx="3816000" cy="972000"/>
          </a:xfrm>
          <a:prstGeom prst="roundRect">
            <a:avLst/>
          </a:prstGeom>
          <a:noFill/>
          <a:ln w="3810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28" name="角丸四角形 27"/>
          <p:cNvSpPr/>
          <p:nvPr/>
        </p:nvSpPr>
        <p:spPr bwMode="auto">
          <a:xfrm>
            <a:off x="828322" y="5139994"/>
            <a:ext cx="3312000" cy="316682"/>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Service cooperation applications</a:t>
            </a:r>
            <a:endPar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角丸四角形 28"/>
          <p:cNvSpPr/>
          <p:nvPr/>
        </p:nvSpPr>
        <p:spPr bwMode="auto">
          <a:xfrm>
            <a:off x="400862" y="1341562"/>
            <a:ext cx="7349172" cy="973884"/>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1" lang="en-US" altLang="ja-JP" sz="16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Layer</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6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This layer </a:t>
            </a:r>
            <a:r>
              <a:rPr kumimoji="0" lang="en-US" altLang="ja-JP" sz="16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r</a:t>
            </a:r>
            <a:r>
              <a:rPr kumimoji="0" lang="en-US" altLang="ja-JP" sz="16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ealizes </a:t>
            </a:r>
            <a:r>
              <a:rPr kumimoji="0" lang="en-US" altLang="ja-JP" sz="16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user services by combining platform services and manages the execution state of these user services</a:t>
            </a:r>
            <a:r>
              <a:rPr kumimoji="0" lang="en-US" altLang="ja-JP" sz="16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p:txBody>
      </p:sp>
      <p:pic>
        <p:nvPicPr>
          <p:cNvPr id="3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438" y="3051778"/>
            <a:ext cx="3162300" cy="1209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1343" y="4270516"/>
            <a:ext cx="1057275" cy="619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角丸四角形 31"/>
          <p:cNvSpPr/>
          <p:nvPr/>
        </p:nvSpPr>
        <p:spPr bwMode="auto">
          <a:xfrm>
            <a:off x="4717234" y="5194114"/>
            <a:ext cx="3816000" cy="1116000"/>
          </a:xfrm>
          <a:prstGeom prst="roundRect">
            <a:avLst/>
          </a:prstGeom>
          <a:noFill/>
          <a:ln w="3810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33" name="角丸四角形 32"/>
          <p:cNvSpPr/>
          <p:nvPr/>
        </p:nvSpPr>
        <p:spPr bwMode="auto">
          <a:xfrm>
            <a:off x="4932834" y="4995994"/>
            <a:ext cx="3312000" cy="316682"/>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Operation applications</a:t>
            </a:r>
            <a:endPar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34"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01872" y="5541486"/>
            <a:ext cx="31242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92050" y="5556482"/>
            <a:ext cx="12858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86456" y="3105797"/>
            <a:ext cx="3476625"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92874" y="3705872"/>
            <a:ext cx="2447925"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7</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Platform Service 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396329" y="1629594"/>
            <a:ext cx="7747545" cy="728710"/>
          </a:xfrm>
          <a:prstGeom prst="roundRect">
            <a:avLst/>
          </a:prstGeom>
          <a:solidFill>
            <a:srgbClr val="00B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6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Service</a:t>
            </a:r>
            <a:r>
              <a:rPr kumimoji="1" lang="en-US" altLang="ja-JP" sz="16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p>
          <a:p>
            <a:pPr marL="0" marR="0" lvl="0" indent="0" defTabSz="914400" eaLnBrk="1" fontAlgn="base" latinLnBrk="0" hangingPunct="1">
              <a:lnSpc>
                <a:spcPct val="90000"/>
              </a:lnSpc>
              <a:spcBef>
                <a:spcPct val="50000"/>
              </a:spcBef>
              <a:spcAft>
                <a:spcPts val="0"/>
              </a:spcAft>
              <a:buClrTx/>
              <a:buSzTx/>
              <a:buFontTx/>
              <a:buNone/>
              <a:tabLst/>
              <a:defRPr/>
            </a:pPr>
            <a:r>
              <a:rPr kumimoji="1" lang="en-US" altLang="ja-JP" sz="16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Platform Service </a:t>
            </a:r>
            <a:r>
              <a:rPr kumimoji="0" lang="en-US" altLang="ja-JP" sz="16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I/F for Application Layer.</a:t>
            </a:r>
          </a:p>
        </p:txBody>
      </p:sp>
      <p:pic>
        <p:nvPicPr>
          <p:cNvPr id="12"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0426" y="4077866"/>
            <a:ext cx="6200775"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0125" y="3005138"/>
            <a:ext cx="7143750" cy="84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8</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Platform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Element 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404357" y="1557586"/>
            <a:ext cx="8272893" cy="1110091"/>
          </a:xfrm>
          <a:prstGeom prst="roundRect">
            <a:avLst/>
          </a:prstGeom>
          <a:solidFill>
            <a:srgbClr val="FFFF9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600" b="1"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600" b="1" i="0" u="none" strike="noStrike" kern="0" cap="none" spc="0" normalizeH="0" baseline="0" noProof="0" dirty="0" smtClean="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Element</a:t>
            </a:r>
            <a:r>
              <a:rPr kumimoji="1" lang="en-US" altLang="ja-JP" sz="1600" b="1" i="0" u="none" strike="noStrike" kern="0" cap="none" spc="0" normalizeH="0" baseline="0" noProof="0" dirty="0" smtClean="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 Layer</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6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6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means to realize platform service. </a:t>
            </a:r>
            <a:endParaRPr kumimoji="0" lang="en-US" altLang="ja-JP" sz="16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6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6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I/F for the exterior and accepts external requests</a:t>
            </a:r>
            <a:r>
              <a:rPr kumimoji="0" lang="en-US" altLang="ja-JP" sz="16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988" y="3019425"/>
            <a:ext cx="7058025"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43150" y="4050804"/>
            <a:ext cx="4457700"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9</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Platform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Middleware 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260340" y="1498465"/>
            <a:ext cx="7768838" cy="728710"/>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600" b="1" i="0" u="none" strike="noStrike" kern="0" cap="none" spc="0" normalizeH="0" baseline="0" noProof="0" dirty="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6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Middleware </a:t>
            </a:r>
            <a:r>
              <a:rPr kumimoji="1" lang="en-US" altLang="ja-JP" sz="16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Layer</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6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Limits </a:t>
            </a:r>
            <a:r>
              <a:rPr kumimoji="0" lang="en-US" altLang="ja-JP" sz="16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dependency of upper layers on OS</a:t>
            </a:r>
            <a:r>
              <a:rPr kumimoji="0" lang="en-US" altLang="ja-JP" sz="16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0" lang="en-US" altLang="ja-JP" sz="16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62075" y="3141762"/>
            <a:ext cx="6419850"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5463" y="4149874"/>
            <a:ext cx="5553075"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10</a:t>
            </a:fld>
            <a:endParaRPr kumimoji="1" lang="ja-JP" altLang="en-US" dirty="0">
              <a:latin typeface="Meiryo UI" pitchFamily="50" charset="-128"/>
              <a:ea typeface="Meiryo UI" pitchFamily="50" charset="-128"/>
              <a:cs typeface="Meiryo UI" pitchFamily="50" charset="-128"/>
            </a:endParaRPr>
          </a:p>
        </p:txBody>
      </p:sp>
      <p:sp>
        <p:nvSpPr>
          <p:cNvPr id="41"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Process configuration</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角丸四角形 41"/>
          <p:cNvSpPr/>
          <p:nvPr/>
        </p:nvSpPr>
        <p:spPr bwMode="auto">
          <a:xfrm>
            <a:off x="1044698" y="1632158"/>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App Process Manager</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角丸四角形 42"/>
          <p:cNvSpPr/>
          <p:nvPr/>
        </p:nvSpPr>
        <p:spPr bwMode="auto">
          <a:xfrm>
            <a:off x="1044698" y="1952833"/>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Manager</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角丸四角形 43"/>
          <p:cNvSpPr/>
          <p:nvPr/>
        </p:nvSpPr>
        <p:spPr bwMode="auto">
          <a:xfrm>
            <a:off x="1044698" y="2280230"/>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Panel Manager</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44"/>
          <p:cNvSpPr/>
          <p:nvPr/>
        </p:nvSpPr>
        <p:spPr bwMode="auto">
          <a:xfrm>
            <a:off x="1045447" y="2600905"/>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Setting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6" name="角丸四角形 45"/>
          <p:cNvSpPr/>
          <p:nvPr/>
        </p:nvSpPr>
        <p:spPr bwMode="auto">
          <a:xfrm>
            <a:off x="3060922" y="1639415"/>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Copy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角丸四角形 46"/>
          <p:cNvSpPr/>
          <p:nvPr/>
        </p:nvSpPr>
        <p:spPr bwMode="auto">
          <a:xfrm>
            <a:off x="3060173" y="1960090"/>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Send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角丸四角形 47"/>
          <p:cNvSpPr/>
          <p:nvPr/>
        </p:nvSpPr>
        <p:spPr bwMode="auto">
          <a:xfrm>
            <a:off x="3060173" y="2287487"/>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Box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角丸四角形 48"/>
          <p:cNvSpPr/>
          <p:nvPr/>
        </p:nvSpPr>
        <p:spPr bwMode="auto">
          <a:xfrm>
            <a:off x="3060173" y="2608162"/>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Fax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角丸四角形 49"/>
          <p:cNvSpPr/>
          <p:nvPr/>
        </p:nvSpPr>
        <p:spPr bwMode="auto">
          <a:xfrm>
            <a:off x="1046196" y="2952481"/>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Print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角丸四角形 50"/>
          <p:cNvSpPr/>
          <p:nvPr/>
        </p:nvSpPr>
        <p:spPr bwMode="auto">
          <a:xfrm>
            <a:off x="1046196" y="3273156"/>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Maintenance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角丸四角形 51"/>
          <p:cNvSpPr/>
          <p:nvPr/>
        </p:nvSpPr>
        <p:spPr bwMode="auto">
          <a:xfrm>
            <a:off x="1045447" y="3590457"/>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External Print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角丸四角形 52"/>
          <p:cNvSpPr/>
          <p:nvPr/>
        </p:nvSpPr>
        <p:spPr bwMode="auto">
          <a:xfrm>
            <a:off x="3060173" y="2962460"/>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Web Page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角丸四角形 53"/>
          <p:cNvSpPr/>
          <p:nvPr/>
        </p:nvSpPr>
        <p:spPr bwMode="auto">
          <a:xfrm>
            <a:off x="3060173" y="3283135"/>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AUTH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角丸四角形 54"/>
          <p:cNvSpPr/>
          <p:nvPr/>
        </p:nvSpPr>
        <p:spPr bwMode="auto">
          <a:xfrm>
            <a:off x="3060922" y="3610532"/>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Home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角丸四角形 55"/>
          <p:cNvSpPr/>
          <p:nvPr/>
        </p:nvSpPr>
        <p:spPr bwMode="auto">
          <a:xfrm>
            <a:off x="3060922" y="3931207"/>
            <a:ext cx="1872208" cy="25538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Service Cooperation App</a:t>
            </a:r>
            <a:endParaRPr kumimoji="1" lang="ja-JP" altLang="en-US" sz="10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角丸四角形 56"/>
          <p:cNvSpPr/>
          <p:nvPr/>
        </p:nvSpPr>
        <p:spPr bwMode="auto">
          <a:xfrm>
            <a:off x="1404738" y="4657302"/>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Platform Process Manager</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8" name="角丸四角形 57"/>
          <p:cNvSpPr/>
          <p:nvPr/>
        </p:nvSpPr>
        <p:spPr bwMode="auto">
          <a:xfrm>
            <a:off x="1404738" y="4977977"/>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Platform System Manager</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角丸四角形 58"/>
          <p:cNvSpPr/>
          <p:nvPr/>
        </p:nvSpPr>
        <p:spPr bwMode="auto">
          <a:xfrm>
            <a:off x="1404738" y="5305374"/>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Network Manager</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角丸四角形 59"/>
          <p:cNvSpPr/>
          <p:nvPr/>
        </p:nvSpPr>
        <p:spPr bwMode="auto">
          <a:xfrm>
            <a:off x="3406287" y="4668656"/>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Imaging</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角丸四角形 60"/>
          <p:cNvSpPr/>
          <p:nvPr/>
        </p:nvSpPr>
        <p:spPr bwMode="auto">
          <a:xfrm>
            <a:off x="3406287" y="4996053"/>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Printer</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角丸四角形 61"/>
          <p:cNvSpPr/>
          <p:nvPr/>
        </p:nvSpPr>
        <p:spPr bwMode="auto">
          <a:xfrm>
            <a:off x="3406287" y="5305374"/>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Device</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角丸四角形 62"/>
          <p:cNvSpPr/>
          <p:nvPr/>
        </p:nvSpPr>
        <p:spPr bwMode="auto">
          <a:xfrm>
            <a:off x="5422511" y="4657302"/>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Communication</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4" name="角丸四角形 63"/>
          <p:cNvSpPr/>
          <p:nvPr/>
        </p:nvSpPr>
        <p:spPr bwMode="auto">
          <a:xfrm>
            <a:off x="5422511" y="4977977"/>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Network Server</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角丸四角形 64"/>
          <p:cNvSpPr/>
          <p:nvPr/>
        </p:nvSpPr>
        <p:spPr bwMode="auto">
          <a:xfrm>
            <a:off x="5423260" y="5305374"/>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Device Panel</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角丸四角形 65"/>
          <p:cNvSpPr/>
          <p:nvPr/>
        </p:nvSpPr>
        <p:spPr bwMode="auto">
          <a:xfrm>
            <a:off x="5437186" y="5622669"/>
            <a:ext cx="1872208" cy="255389"/>
          </a:xfrm>
          <a:prstGeom prst="roundRect">
            <a:avLst/>
          </a:prstGeom>
          <a:solidFill>
            <a:srgbClr val="92D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Panel Browser  Proxy</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角丸四角形 66"/>
          <p:cNvSpPr/>
          <p:nvPr/>
        </p:nvSpPr>
        <p:spPr bwMode="auto">
          <a:xfrm>
            <a:off x="5941242" y="2542876"/>
            <a:ext cx="1872208" cy="255389"/>
          </a:xfrm>
          <a:prstGeom prst="roundRect">
            <a:avLst/>
          </a:prstGeom>
          <a:solidFill>
            <a:srgbClr val="FF8F8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Extension Service System</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角丸四角形 67"/>
          <p:cNvSpPr/>
          <p:nvPr/>
        </p:nvSpPr>
        <p:spPr bwMode="auto">
          <a:xfrm>
            <a:off x="5941242" y="2863551"/>
            <a:ext cx="1872208" cy="408623"/>
          </a:xfrm>
          <a:prstGeom prst="roundRect">
            <a:avLst/>
          </a:prstGeom>
          <a:solidFill>
            <a:srgbClr val="FF8F8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eaLnBrk="1" fontAlgn="base" latinLnBrk="0" hangingPunct="1">
              <a:lnSpc>
                <a:spcPct val="90000"/>
              </a:lnSpc>
              <a:spcBef>
                <a:spcPct val="5000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cs typeface="Meiryo UI" panose="020B0604030504040204" pitchFamily="50" charset="-128"/>
              </a:rPr>
              <a:t>Extension Service Process Manager</a:t>
            </a:r>
            <a:endParaRPr kumimoji="1" lang="ja-JP" altLang="en-US" sz="1000" b="1" i="0" u="none" strike="noStrike" kern="0" cap="none" spc="0" normalizeH="0" baseline="0" noProof="0" dirty="0" smtClean="0">
              <a:ln>
                <a:noFill/>
              </a:ln>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角丸四角形 68"/>
          <p:cNvSpPr/>
          <p:nvPr/>
        </p:nvSpPr>
        <p:spPr bwMode="auto">
          <a:xfrm>
            <a:off x="756666" y="1413890"/>
            <a:ext cx="4644000" cy="2880000"/>
          </a:xfrm>
          <a:prstGeom prst="roundRect">
            <a:avLst/>
          </a:prstGeom>
          <a:noFill/>
          <a:ln w="57150">
            <a:solidFill>
              <a:srgbClr val="005CE7"/>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70" name="角丸四角形 69"/>
          <p:cNvSpPr/>
          <p:nvPr/>
        </p:nvSpPr>
        <p:spPr bwMode="auto">
          <a:xfrm>
            <a:off x="5509194" y="1718900"/>
            <a:ext cx="2664000" cy="2520000"/>
          </a:xfrm>
          <a:prstGeom prst="roundRect">
            <a:avLst/>
          </a:prstGeom>
          <a:noFill/>
          <a:ln w="57150">
            <a:solidFill>
              <a:srgbClr val="FF8F8F"/>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71" name="角丸四角形 70"/>
          <p:cNvSpPr/>
          <p:nvPr/>
        </p:nvSpPr>
        <p:spPr bwMode="auto">
          <a:xfrm>
            <a:off x="828674" y="4438082"/>
            <a:ext cx="7308000" cy="1584000"/>
          </a:xfrm>
          <a:prstGeom prst="roundRect">
            <a:avLst/>
          </a:prstGeom>
          <a:noFill/>
          <a:ln w="57150">
            <a:solidFill>
              <a:srgbClr val="00B050"/>
            </a:solid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endParaRPr kumimoji="1" lang="ja-JP" altLang="en-US" sz="1000" b="1" i="0" u="none" strike="noStrike" kern="0" cap="none" spc="0" normalizeH="0" baseline="0" noProof="0" smtClean="0">
              <a:ln>
                <a:noFill/>
              </a:ln>
              <a:solidFill>
                <a:srgbClr val="000000"/>
              </a:solidFill>
              <a:effectLst/>
              <a:uLnTx/>
              <a:uFillTx/>
              <a:latin typeface="Arial" charset="0"/>
              <a:ea typeface="ＭＳ ゴシック" pitchFamily="49" charset="-128"/>
              <a:cs typeface="+mn-cs"/>
            </a:endParaRPr>
          </a:p>
        </p:txBody>
      </p:sp>
      <p:sp>
        <p:nvSpPr>
          <p:cNvPr id="72" name="角丸四角形 71"/>
          <p:cNvSpPr/>
          <p:nvPr/>
        </p:nvSpPr>
        <p:spPr bwMode="auto">
          <a:xfrm>
            <a:off x="403827" y="981522"/>
            <a:ext cx="5048057" cy="46991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Standard Applications</a:t>
            </a:r>
            <a:endParaRPr kumimoji="1" lang="ja-JP" altLang="en-US" sz="2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73" name="角丸四角形 72"/>
          <p:cNvSpPr/>
          <p:nvPr/>
        </p:nvSpPr>
        <p:spPr bwMode="auto">
          <a:xfrm>
            <a:off x="5012339" y="981522"/>
            <a:ext cx="3592903" cy="83767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Extension Service Platform</a:t>
            </a:r>
            <a:endParaRPr kumimoji="1" lang="ja-JP" altLang="en-US" sz="2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角丸四角形 73"/>
          <p:cNvSpPr/>
          <p:nvPr/>
        </p:nvSpPr>
        <p:spPr bwMode="auto">
          <a:xfrm>
            <a:off x="2142630" y="6022082"/>
            <a:ext cx="4446684" cy="469916"/>
          </a:xfrm>
          <a:prstGeom prst="roundRect">
            <a:avLst/>
          </a:prstGeom>
          <a:no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1" fontAlgn="base" latinLnBrk="0" hangingPunct="1">
              <a:lnSpc>
                <a:spcPct val="90000"/>
              </a:lnSpc>
              <a:spcBef>
                <a:spcPct val="50000"/>
              </a:spcBef>
              <a:spcAft>
                <a:spcPct val="0"/>
              </a:spcAft>
              <a:buClrTx/>
              <a:buSzTx/>
              <a:buFontTx/>
              <a:buNone/>
              <a:tabLst/>
              <a:defRPr/>
            </a:pPr>
            <a:r>
              <a:rPr kumimoji="1" lang="en-US" altLang="ja-JP" sz="2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Product Line Platform</a:t>
            </a:r>
            <a:endParaRPr kumimoji="1" lang="ja-JP" altLang="en-US" sz="2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11</a:t>
            </a:fld>
            <a:endParaRPr kumimoji="1" lang="ja-JP" altLang="en-US" dirty="0">
              <a:latin typeface="Meiryo UI" pitchFamily="50" charset="-128"/>
              <a:ea typeface="Meiryo UI" pitchFamily="50" charset="-128"/>
              <a:cs typeface="Meiryo UI" pitchFamily="50" charset="-128"/>
            </a:endParaRPr>
          </a:p>
        </p:txBody>
      </p:sp>
      <p:sp>
        <p:nvSpPr>
          <p:cNvPr id="41"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Process configuration</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pic>
        <p:nvPicPr>
          <p:cNvPr id="1028" name="Picture 4"/>
          <p:cNvPicPr>
            <a:picLocks noChangeAspect="1" noChangeArrowheads="1"/>
          </p:cNvPicPr>
          <p:nvPr/>
        </p:nvPicPr>
        <p:blipFill>
          <a:blip r:embed="rId3" cstate="print"/>
          <a:srcRect/>
          <a:stretch>
            <a:fillRect/>
          </a:stretch>
        </p:blipFill>
        <p:spPr bwMode="auto">
          <a:xfrm>
            <a:off x="30480" y="764704"/>
            <a:ext cx="9089072" cy="5760640"/>
          </a:xfrm>
          <a:prstGeom prst="rect">
            <a:avLst/>
          </a:prstGeom>
          <a:noFill/>
          <a:ln w="9525">
            <a:noFill/>
            <a:miter lim="800000"/>
            <a:headEnd/>
            <a:tailEnd/>
          </a:ln>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12</a:t>
            </a:fld>
            <a:endParaRPr kumimoji="1" lang="ja-JP" altLang="en-US" dirty="0">
              <a:latin typeface="Meiryo UI" pitchFamily="50" charset="-128"/>
              <a:ea typeface="Meiryo UI" pitchFamily="50" charset="-128"/>
              <a:cs typeface="Meiryo UI" pitchFamily="50" charset="-128"/>
            </a:endParaRPr>
          </a:p>
        </p:txBody>
      </p:sp>
      <p:sp>
        <p:nvSpPr>
          <p:cNvPr id="6" name="テキスト ボックス 5"/>
          <p:cNvSpPr txBox="1"/>
          <p:nvPr/>
        </p:nvSpPr>
        <p:spPr>
          <a:xfrm>
            <a:off x="179512" y="808948"/>
            <a:ext cx="8784976" cy="5760640"/>
          </a:xfrm>
          <a:prstGeom prst="rect">
            <a:avLst/>
          </a:prstGeom>
          <a:noFill/>
        </p:spPr>
        <p:txBody>
          <a:bodyPr wrap="square" rtlCol="0" anchor="ctr" anchorCtr="0">
            <a:noAutofit/>
          </a:bodyPr>
          <a:lstStyle/>
          <a:p>
            <a:pPr algn="ctr"/>
            <a:r>
              <a:rPr lang="en-US" altLang="ja-JP" sz="4000" dirty="0" smtClean="0">
                <a:latin typeface="Meiryo UI" pitchFamily="50" charset="-128"/>
                <a:ea typeface="Meiryo UI" pitchFamily="50" charset="-128"/>
                <a:cs typeface="Meiryo UI" pitchFamily="50" charset="-128"/>
              </a:rPr>
              <a:t>END</a:t>
            </a:r>
            <a:endParaRPr kumimoji="1" lang="ja-JP" altLang="en-US" sz="4000" dirty="0">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13</a:t>
            </a:fld>
            <a:endParaRPr kumimoji="1" lang="ja-JP" altLang="en-US" dirty="0">
              <a:latin typeface="Meiryo UI" pitchFamily="50" charset="-128"/>
              <a:ea typeface="Meiryo UI" pitchFamily="50" charset="-128"/>
              <a:cs typeface="Meiryo UI" pitchFamily="50" charset="-128"/>
            </a:endParaRPr>
          </a:p>
        </p:txBody>
      </p:sp>
      <p:sp>
        <p:nvSpPr>
          <p:cNvPr id="6" name="テキスト ボックス 5"/>
          <p:cNvSpPr txBox="1"/>
          <p:nvPr/>
        </p:nvSpPr>
        <p:spPr>
          <a:xfrm>
            <a:off x="179512" y="808948"/>
            <a:ext cx="8784976" cy="5760640"/>
          </a:xfrm>
          <a:prstGeom prst="rect">
            <a:avLst/>
          </a:prstGeom>
          <a:noFill/>
        </p:spPr>
        <p:txBody>
          <a:bodyPr wrap="square" rtlCol="0" anchor="ctr" anchorCtr="0">
            <a:noAutofit/>
          </a:bodyPr>
          <a:lstStyle/>
          <a:p>
            <a:pPr algn="ctr"/>
            <a:r>
              <a:rPr lang="en-US" altLang="ja-JP" sz="4000" dirty="0" smtClean="0">
                <a:latin typeface="Meiryo UI" pitchFamily="50" charset="-128"/>
                <a:ea typeface="Meiryo UI" pitchFamily="50" charset="-128"/>
                <a:cs typeface="Meiryo UI" pitchFamily="50" charset="-128"/>
              </a:rPr>
              <a:t>Reference</a:t>
            </a: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14</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Application</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468338" y="1125538"/>
            <a:ext cx="7488832" cy="98409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Basic function application category</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0"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in this category provides basic function for Service users.</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1" lang="ja-JP" altLang="en-US"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Copy, Send, Box, Fax,</a:t>
            </a:r>
            <a:r>
              <a:rPr kumimoji="0" lang="ja-JP" altLang="en-US"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Print, External Print, Maintenance</a:t>
            </a:r>
            <a:endPar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354" y="2690242"/>
            <a:ext cx="1457325"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 name="表 12"/>
          <p:cNvGraphicFramePr>
            <a:graphicFrameLocks noGrp="1"/>
          </p:cNvGraphicFramePr>
          <p:nvPr>
            <p:extLst>
              <p:ext uri="{D42A27DB-BD31-4B8C-83A1-F6EECF244321}">
                <p14:modId xmlns:p14="http://schemas.microsoft.com/office/powerpoint/2010/main" val="3692643660"/>
              </p:ext>
            </p:extLst>
          </p:nvPr>
        </p:nvGraphicFramePr>
        <p:xfrm>
          <a:off x="2412554" y="2421682"/>
          <a:ext cx="6203826" cy="4010530"/>
        </p:xfrm>
        <a:graphic>
          <a:graphicData uri="http://schemas.openxmlformats.org/drawingml/2006/table">
            <a:tbl>
              <a:tblPr/>
              <a:tblGrid>
                <a:gridCol w="1663394"/>
                <a:gridCol w="650893"/>
                <a:gridCol w="614732"/>
                <a:gridCol w="3274807"/>
              </a:tblGrid>
              <a:tr h="49105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895966">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Copy Panel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cpyPNL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ifsPNL</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The obligation of the "Copy" is to create copy screen and accept screen operation of users. The Copy screen generation that was taken up by dvcPNL and acceptance of user operation of copy screen taken up by ifsPNL has been separated and has been consolidated to this component and newly placed.</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54744">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Copy Application Director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cpyDRC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ifsXXX</a:t>
                      </a:r>
                      <a:br>
                        <a:rPr lang="en-US" sz="900" b="0" i="0" u="none" strike="noStrike">
                          <a:solidFill>
                            <a:srgbClr val="000000"/>
                          </a:solidFill>
                          <a:effectLst/>
                          <a:latin typeface="Meiryo UI"/>
                        </a:rPr>
                      </a:br>
                      <a:r>
                        <a:rPr lang="en-US" sz="900" b="0" i="0" u="none" strike="noStrike">
                          <a:solidFill>
                            <a:srgbClr val="000000"/>
                          </a:solidFill>
                          <a:effectLst/>
                          <a:latin typeface="Meiryo UI"/>
                        </a:rPr>
                        <a:t>esvKSF</a:t>
                      </a:r>
                      <a:br>
                        <a:rPr lang="en-US" sz="900" b="0" i="0" u="none" strike="noStrike">
                          <a:solidFill>
                            <a:srgbClr val="000000"/>
                          </a:solidFill>
                          <a:effectLst/>
                          <a:latin typeface="Meiryo UI"/>
                        </a:rPr>
                      </a:br>
                      <a:endParaRPr lang="en-US" sz="900" b="0" i="0" u="none" strike="noStrike">
                        <a:solidFill>
                          <a:srgbClr val="000000"/>
                        </a:solidFill>
                        <a:effectLst/>
                        <a:latin typeface="Meiryo UI"/>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It has been newly positioned as the component that makes necessary arrangements to perform services offered by Copy package by interpreting various information notified/requested by relevant platforms.</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273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Copy Service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cpyMGR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ifsXXX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This component has been newly placed as a component to accept copy request and manage copy service.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81843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Copy Application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cpyAPS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entXXX</a:t>
                      </a:r>
                      <a:br>
                        <a:rPr lang="en-US" sz="900" b="0" i="0" u="none" strike="noStrike">
                          <a:solidFill>
                            <a:srgbClr val="000000"/>
                          </a:solidFill>
                          <a:effectLst/>
                          <a:latin typeface="Meiryo UI"/>
                        </a:rPr>
                      </a:br>
                      <a:r>
                        <a:rPr lang="en-US" sz="900" b="0" i="0" u="none" strike="noStrike">
                          <a:solidFill>
                            <a:srgbClr val="000000"/>
                          </a:solidFill>
                          <a:effectLst/>
                          <a:latin typeface="Meiryo UI"/>
                        </a:rPr>
                        <a:t>sysSSM</a:t>
                      </a:r>
                      <a:br>
                        <a:rPr lang="en-US" sz="900" b="0" i="0" u="none" strike="noStrike">
                          <a:solidFill>
                            <a:srgbClr val="000000"/>
                          </a:solidFill>
                          <a:effectLst/>
                          <a:latin typeface="Meiryo UI"/>
                        </a:rPr>
                      </a:br>
                      <a:r>
                        <a:rPr lang="en-US" sz="900" b="0" i="0" u="none" strike="noStrike">
                          <a:solidFill>
                            <a:srgbClr val="000000"/>
                          </a:solidFill>
                          <a:effectLst/>
                          <a:latin typeface="Meiryo UI"/>
                        </a:rPr>
                        <a:t>nsvNSV</a:t>
                      </a:r>
                      <a:br>
                        <a:rPr lang="en-US" sz="900" b="0" i="0" u="none" strike="noStrike">
                          <a:solidFill>
                            <a:srgbClr val="000000"/>
                          </a:solidFill>
                          <a:effectLst/>
                          <a:latin typeface="Meiryo UI"/>
                        </a:rPr>
                      </a:br>
                      <a:r>
                        <a:rPr lang="en-US" sz="900" b="0" i="0" u="none" strike="noStrike">
                          <a:solidFill>
                            <a:srgbClr val="000000"/>
                          </a:solidFill>
                          <a:effectLst/>
                          <a:latin typeface="Meiryo UI"/>
                        </a:rPr>
                        <a:t>jbmJBMGR</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The status and the necessary information of Copy will be managed by Copy. Each component of WC3 that has status management, event transmission/reception and information has been divided by Copy unit, and has been consolidated to this component and has been newly placed.</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81843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Copy Application Job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cpyAPJ</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usvIMG</a:t>
                      </a:r>
                      <a:br>
                        <a:rPr lang="en-US" sz="900" b="0" i="0" u="none" strike="noStrike">
                          <a:solidFill>
                            <a:srgbClr val="000000"/>
                          </a:solidFill>
                          <a:effectLst/>
                          <a:latin typeface="Meiryo UI"/>
                        </a:rPr>
                      </a:br>
                      <a:r>
                        <a:rPr lang="en-US" sz="900" b="0" i="0" u="none" strike="noStrike">
                          <a:solidFill>
                            <a:srgbClr val="000000"/>
                          </a:solidFill>
                          <a:effectLst/>
                          <a:latin typeface="Meiryo UI"/>
                        </a:rPr>
                        <a:t>jbpUSRJB</a:t>
                      </a:r>
                      <a:br>
                        <a:rPr lang="en-US" sz="900" b="0" i="0" u="none" strike="noStrike">
                          <a:solidFill>
                            <a:srgbClr val="000000"/>
                          </a:solidFill>
                          <a:effectLst/>
                          <a:latin typeface="Meiryo UI"/>
                        </a:rPr>
                      </a:br>
                      <a:r>
                        <a:rPr lang="en-US" sz="900" b="0" i="0" u="none" strike="noStrike">
                          <a:solidFill>
                            <a:srgbClr val="000000"/>
                          </a:solidFill>
                          <a:effectLst/>
                          <a:latin typeface="Meiryo UI"/>
                        </a:rPr>
                        <a:t>jbmJBMGR</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The Job control of Copy will be controlled by Copy. Each component of WC3 that handles Job control has been divided by Copy unit, and has been consolidated to this component and has been newly placed.</a:t>
                      </a:r>
                      <a:br>
                        <a:rPr lang="en-US" sz="900" b="0" i="0" u="none" strike="noStrike" dirty="0">
                          <a:solidFill>
                            <a:srgbClr val="000000"/>
                          </a:solidFill>
                          <a:effectLst/>
                          <a:latin typeface="Meiryo UI"/>
                        </a:rPr>
                      </a:br>
                      <a:endParaRPr lang="en-US" sz="900" b="0" i="0" u="none" strike="noStrike" dirty="0">
                        <a:solidFill>
                          <a:srgbClr val="000000"/>
                        </a:solidFill>
                        <a:effectLst/>
                        <a:latin typeface="Meiryo UI"/>
                      </a:endParaRP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15</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Application</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 </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468336" y="1149551"/>
            <a:ext cx="7992889" cy="98409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System application </a:t>
            </a: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category</a:t>
            </a:r>
            <a:endPar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a:t>
            </a: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in this category provides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system function for each application.</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1" lang="ja-JP" altLang="en-US"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Management,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Panel </a:t>
            </a:r>
            <a:r>
              <a:rPr kumimoji="0" lang="en-US" altLang="ja-JP"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Control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Entity,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Report, AUTH</a:t>
            </a:r>
            <a:endPar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0346" y="2781722"/>
            <a:ext cx="1571625"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 name="表 12"/>
          <p:cNvGraphicFramePr>
            <a:graphicFrameLocks noGrp="1"/>
          </p:cNvGraphicFramePr>
          <p:nvPr>
            <p:extLst>
              <p:ext uri="{D42A27DB-BD31-4B8C-83A1-F6EECF244321}">
                <p14:modId xmlns:p14="http://schemas.microsoft.com/office/powerpoint/2010/main" val="2691131565"/>
              </p:ext>
            </p:extLst>
          </p:nvPr>
        </p:nvGraphicFramePr>
        <p:xfrm>
          <a:off x="2340546" y="2493691"/>
          <a:ext cx="6408712" cy="3512444"/>
        </p:xfrm>
        <a:graphic>
          <a:graphicData uri="http://schemas.openxmlformats.org/drawingml/2006/table">
            <a:tbl>
              <a:tblPr/>
              <a:tblGrid>
                <a:gridCol w="1610085"/>
                <a:gridCol w="747539"/>
                <a:gridCol w="782041"/>
                <a:gridCol w="3269047"/>
              </a:tblGrid>
              <a:tr h="469366">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502304">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System Process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symPRCM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sysPRCM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Responsibility of system process management has been extracted from sysPRCM and has been newly placed here.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91697">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System Energy Saving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symESM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sysESM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Responsibility of energy saving status from sysESM are organized and  newly placed here. psmSYM holds the responsibility of power control for each device according to the energy saving status. </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69366">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System State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symSTM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sysSSM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sysSSM now has in its responsibility;  I/F to accept status changes of the overall system, means to change the statues and system status.</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12911">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System Application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symAPM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10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This component is newly placed to manage the status of each application running as a system.</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938731">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dirty="0">
                          <a:solidFill>
                            <a:srgbClr val="000000"/>
                          </a:solidFill>
                          <a:effectLst/>
                          <a:latin typeface="Meiryo UI"/>
                        </a:rPr>
                        <a:t>System Notification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symNTF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nsvNSV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dirty="0">
                          <a:solidFill>
                            <a:srgbClr val="000000"/>
                          </a:solidFill>
                          <a:effectLst/>
                          <a:latin typeface="Meiryo UI"/>
                        </a:rPr>
                        <a:t>Responsibilities to issue notifications were divided into two components. Application Service component issues a notification if it’s required as a part of one certain Application Service.  Conversely, if the system needs to notify its status change, System Notification component bears this responsibility.</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16</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Application</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1" name="表 10"/>
          <p:cNvGraphicFramePr>
            <a:graphicFrameLocks noGrp="1"/>
          </p:cNvGraphicFramePr>
          <p:nvPr>
            <p:extLst>
              <p:ext uri="{D42A27DB-BD31-4B8C-83A1-F6EECF244321}">
                <p14:modId xmlns:p14="http://schemas.microsoft.com/office/powerpoint/2010/main" val="3453861886"/>
              </p:ext>
            </p:extLst>
          </p:nvPr>
        </p:nvGraphicFramePr>
        <p:xfrm>
          <a:off x="540346" y="3717826"/>
          <a:ext cx="8136906" cy="2808312"/>
        </p:xfrm>
        <a:graphic>
          <a:graphicData uri="http://schemas.openxmlformats.org/drawingml/2006/table">
            <a:tbl>
              <a:tblPr/>
              <a:tblGrid>
                <a:gridCol w="1731257"/>
                <a:gridCol w="803797"/>
                <a:gridCol w="840896"/>
                <a:gridCol w="4760956"/>
              </a:tblGrid>
              <a:tr h="495584">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10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33039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System Application Utility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aentSAU</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utlLIB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Library that is being used by only in application has been extracted from utlLIB and have been newly placed.</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3039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Application Service Information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aentASI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entJBINF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This has been placed as a new component to keep necessary information for application.</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519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Report Generator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rptRPG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usvRPG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ja-JP" altLang="en-US" sz="1000" b="0" i="0" u="none" strike="noStrike">
                          <a:solidFill>
                            <a:srgbClr val="000000"/>
                          </a:solidFill>
                          <a:effectLst/>
                          <a:latin typeface="Meiryo UI"/>
                        </a:rPr>
                        <a:t>　</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825974">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AUTH Panel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authPNL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ifsPNL</a:t>
                      </a:r>
                      <a:br>
                        <a:rPr lang="en-US" sz="1000" b="0" i="0" u="none" strike="noStrike">
                          <a:solidFill>
                            <a:srgbClr val="000000"/>
                          </a:solidFill>
                          <a:effectLst/>
                          <a:latin typeface="Meiryo UI"/>
                        </a:rPr>
                      </a:br>
                      <a:r>
                        <a:rPr lang="en-US" sz="10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The screen generation of Identity and acceptance of screen operation of the users will be responsibility of Identity. Generation of Identity screen that was taken up by dvcPNL, and acceptance of user operation of Identity screen taken up by ifsPNL has been separated and consolidated to this component and has been newly placed.</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607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AUTH Agent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authAGT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a:solidFill>
                            <a:srgbClr val="000000"/>
                          </a:solidFill>
                          <a:effectLst/>
                          <a:latin typeface="Meiryo UI"/>
                        </a:rPr>
                        <a:t>sysAUTH</a:t>
                      </a:r>
                      <a:br>
                        <a:rPr lang="en-US" sz="1000" b="0" i="0" u="none" strike="noStrike">
                          <a:solidFill>
                            <a:srgbClr val="000000"/>
                          </a:solidFill>
                          <a:effectLst/>
                          <a:latin typeface="Meiryo UI"/>
                        </a:rPr>
                      </a:br>
                      <a:r>
                        <a:rPr lang="en-US" sz="1000" b="0" i="0" u="none" strike="noStrike">
                          <a:solidFill>
                            <a:srgbClr val="000000"/>
                          </a:solidFill>
                          <a:effectLst/>
                          <a:latin typeface="Meiryo UI"/>
                        </a:rPr>
                        <a:t>dvcACC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1000" b="0" i="0" u="none" strike="noStrike" dirty="0">
                          <a:solidFill>
                            <a:srgbClr val="000000"/>
                          </a:solidFill>
                          <a:effectLst/>
                          <a:latin typeface="Meiryo UI"/>
                        </a:rPr>
                        <a:t>It has been newly positioned as the component that consolidates two separate functions: authentication/authorization and managing information of logged-in users.</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pic>
        <p:nvPicPr>
          <p:cNvPr id="12"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11473" y="2205658"/>
            <a:ext cx="4495800" cy="140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角丸四角形 12"/>
          <p:cNvSpPr/>
          <p:nvPr/>
        </p:nvSpPr>
        <p:spPr bwMode="auto">
          <a:xfrm>
            <a:off x="468336" y="1149551"/>
            <a:ext cx="7992889" cy="98409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System application </a:t>
            </a: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category</a:t>
            </a:r>
            <a:endPar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a:t>
            </a: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in this category provides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system function for each applications.</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1" lang="ja-JP" altLang="en-US"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Management,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Panel </a:t>
            </a:r>
            <a:r>
              <a:rPr kumimoji="0" lang="en-US" altLang="ja-JP"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Control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Entity,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Report, AUTH</a:t>
            </a:r>
            <a:endPar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17</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Application</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 </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1" name="表 10"/>
          <p:cNvGraphicFramePr>
            <a:graphicFrameLocks noGrp="1"/>
          </p:cNvGraphicFramePr>
          <p:nvPr>
            <p:extLst>
              <p:ext uri="{D42A27DB-BD31-4B8C-83A1-F6EECF244321}">
                <p14:modId xmlns:p14="http://schemas.microsoft.com/office/powerpoint/2010/main" val="1692109583"/>
              </p:ext>
            </p:extLst>
          </p:nvPr>
        </p:nvGraphicFramePr>
        <p:xfrm>
          <a:off x="457200" y="3717826"/>
          <a:ext cx="8231188" cy="2735730"/>
        </p:xfrm>
        <a:graphic>
          <a:graphicData uri="http://schemas.openxmlformats.org/drawingml/2006/table">
            <a:tbl>
              <a:tblPr/>
              <a:tblGrid>
                <a:gridCol w="2206978"/>
                <a:gridCol w="863600"/>
                <a:gridCol w="815622"/>
                <a:gridCol w="4344988"/>
              </a:tblGrid>
              <a:tr h="51294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dirty="0">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854916">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Panel Control System Panel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pcsPNL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ifsPNL</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Panel Control System will be responsible for generating the screens shared by the entire system and accepting screen operation of users.</a:t>
                      </a:r>
                      <a:br>
                        <a:rPr lang="en-US" sz="900" b="0" i="0" u="none" strike="noStrike">
                          <a:solidFill>
                            <a:srgbClr val="000000"/>
                          </a:solidFill>
                          <a:effectLst/>
                          <a:latin typeface="Meiryo UI"/>
                        </a:rPr>
                      </a:br>
                      <a:r>
                        <a:rPr lang="en-US" sz="900" b="0" i="0" u="none" strike="noStrike">
                          <a:solidFill>
                            <a:srgbClr val="000000"/>
                          </a:solidFill>
                          <a:effectLst/>
                          <a:latin typeface="Meiryo UI"/>
                        </a:rPr>
                        <a:t>These separate responsibilities (generating the screens shared by the entire system by dvcPNL and accepting screen operation of users by ifsPNL) have been combined into this new component.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854916">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Expand Panel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pcsEPNL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ifsPNL</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Panel Control System will be responsible for generating the screens for extended features and accepting screen operation of users.</a:t>
                      </a:r>
                      <a:br>
                        <a:rPr lang="en-US" sz="900" b="0" i="0" u="none" strike="noStrike">
                          <a:solidFill>
                            <a:srgbClr val="000000"/>
                          </a:solidFill>
                          <a:effectLst/>
                          <a:latin typeface="Meiryo UI"/>
                        </a:rPr>
                      </a:br>
                      <a:r>
                        <a:rPr lang="en-US" sz="900" b="0" i="0" u="none" strike="noStrike">
                          <a:solidFill>
                            <a:srgbClr val="000000"/>
                          </a:solidFill>
                          <a:effectLst/>
                          <a:latin typeface="Meiryo UI"/>
                        </a:rPr>
                        <a:t>These separate responsibilities (generating the screen for extended features by dvcPNL and accepting screen operation of users by ifsPNL) have been combined into this new component.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51294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Panel Display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pcsPDM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ifsPNL</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It has been newly positioned as the component that keeps information needed to display screens on panel, and determines whether the system can go back and forth across functions.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pic>
        <p:nvPicPr>
          <p:cNvPr id="12"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0626" y="2245643"/>
            <a:ext cx="2600325" cy="140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角丸四角形 12"/>
          <p:cNvSpPr/>
          <p:nvPr/>
        </p:nvSpPr>
        <p:spPr bwMode="auto">
          <a:xfrm>
            <a:off x="468336" y="1149551"/>
            <a:ext cx="7992889" cy="98409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System application </a:t>
            </a: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category</a:t>
            </a:r>
            <a:endPar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a:t>
            </a: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in this category provides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system function for each applications.</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1" lang="ja-JP" altLang="en-US"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Management,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Panel </a:t>
            </a:r>
            <a:r>
              <a:rPr kumimoji="0" lang="en-US" altLang="ja-JP"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Control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System,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Entity,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Report, AUTH</a:t>
            </a:r>
            <a:endPar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18</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Application</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492705" y="1149551"/>
            <a:ext cx="7992000" cy="98409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Operation application category</a:t>
            </a:r>
            <a:endPar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a:t>
            </a: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in this category provides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various operations for users.</a:t>
            </a:r>
            <a:endParaRPr kumimoji="0" lang="en-US" altLang="ja-JP" sz="1400" b="0" i="0" u="none" strike="noStrike" kern="0" cap="none" spc="0" normalizeH="0" baseline="0" noProof="0" dirty="0" smtClean="0">
              <a:ln>
                <a:noFill/>
              </a:ln>
              <a:solidFill>
                <a:srgbClr val="FFC000"/>
              </a:solidFill>
              <a:effectLst/>
              <a:uLnTx/>
              <a:uFillTx/>
              <a:latin typeface="Times New Roman"/>
              <a:ea typeface="ＭＳ Ｐゴシック"/>
              <a:cs typeface="+mn-cs"/>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b="1" i="0" u="none" strike="noStrike" kern="0" cap="none" spc="0" normalizeH="0" baseline="0" noProof="0" dirty="0" err="1"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WebPage</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System setting, Home</a:t>
            </a:r>
            <a:endPar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5863" y="2657500"/>
            <a:ext cx="6772275" cy="127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 name="表 12"/>
          <p:cNvGraphicFramePr>
            <a:graphicFrameLocks noGrp="1"/>
          </p:cNvGraphicFramePr>
          <p:nvPr>
            <p:extLst>
              <p:ext uri="{D42A27DB-BD31-4B8C-83A1-F6EECF244321}">
                <p14:modId xmlns:p14="http://schemas.microsoft.com/office/powerpoint/2010/main" val="1227648158"/>
              </p:ext>
            </p:extLst>
          </p:nvPr>
        </p:nvGraphicFramePr>
        <p:xfrm>
          <a:off x="457200" y="4299312"/>
          <a:ext cx="8231187" cy="1290722"/>
        </p:xfrm>
        <a:graphic>
          <a:graphicData uri="http://schemas.openxmlformats.org/drawingml/2006/table">
            <a:tbl>
              <a:tblPr/>
              <a:tblGrid>
                <a:gridCol w="1528487"/>
                <a:gridCol w="815193"/>
                <a:gridCol w="769905"/>
                <a:gridCol w="5117602"/>
              </a:tblGrid>
              <a:tr h="484021">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6134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Web Page Agent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wpgAGT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ifsEWEB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This has been newly placed as component that processes WebPage request.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45361">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Home Panel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homePNL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ifsPNL</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Panel Control System will be responsible for generating Home screens and accepting screen operation of users.</a:t>
                      </a:r>
                      <a:br>
                        <a:rPr lang="en-US" sz="900" b="0" i="0" u="none" strike="noStrike" dirty="0">
                          <a:solidFill>
                            <a:srgbClr val="000000"/>
                          </a:solidFill>
                          <a:effectLst/>
                          <a:latin typeface="Meiryo UI"/>
                        </a:rPr>
                      </a:br>
                      <a:r>
                        <a:rPr lang="en-US" sz="900" b="0" i="0" u="none" strike="noStrike" dirty="0">
                          <a:solidFill>
                            <a:srgbClr val="000000"/>
                          </a:solidFill>
                          <a:effectLst/>
                          <a:latin typeface="Meiryo UI"/>
                        </a:rPr>
                        <a:t>These separate responsibilities (generating Home screen by </a:t>
                      </a:r>
                      <a:r>
                        <a:rPr lang="en-US" sz="900" b="0" i="0" u="none" strike="noStrike" dirty="0" err="1">
                          <a:solidFill>
                            <a:srgbClr val="000000"/>
                          </a:solidFill>
                          <a:effectLst/>
                          <a:latin typeface="Meiryo UI"/>
                        </a:rPr>
                        <a:t>dvcPNL</a:t>
                      </a:r>
                      <a:r>
                        <a:rPr lang="en-US" sz="900" b="0" i="0" u="none" strike="noStrike" dirty="0">
                          <a:solidFill>
                            <a:srgbClr val="000000"/>
                          </a:solidFill>
                          <a:effectLst/>
                          <a:latin typeface="Meiryo UI"/>
                        </a:rPr>
                        <a:t> and accepting screen operation of users by </a:t>
                      </a:r>
                      <a:r>
                        <a:rPr lang="en-US" sz="900" b="0" i="0" u="none" strike="noStrike" dirty="0" err="1">
                          <a:solidFill>
                            <a:srgbClr val="000000"/>
                          </a:solidFill>
                          <a:effectLst/>
                          <a:latin typeface="Meiryo UI"/>
                        </a:rPr>
                        <a:t>ifsPNL</a:t>
                      </a:r>
                      <a:r>
                        <a:rPr lang="en-US" sz="900" b="0" i="0" u="none" strike="noStrike" dirty="0">
                          <a:solidFill>
                            <a:srgbClr val="000000"/>
                          </a:solidFill>
                          <a:effectLst/>
                          <a:latin typeface="Meiryo UI"/>
                        </a:rPr>
                        <a:t>) have been combined into this new component.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19</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Application</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493518" y="836712"/>
            <a:ext cx="7992000" cy="984099"/>
          </a:xfrm>
          <a:prstGeom prst="roundRect">
            <a:avLst/>
          </a:prstGeom>
          <a:solidFill>
            <a:srgbClr val="0066FF"/>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Service </a:t>
            </a: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cooperation application category</a:t>
            </a:r>
            <a:endPar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This application provides </a:t>
            </a:r>
            <a:r>
              <a:rPr kumimoji="0" lang="en-US" altLang="ja-JP" sz="1400" b="1" i="0" u="none" strike="noStrike" kern="0" cap="none" spc="0" normalizeH="0" baseline="0" noProof="0" dirty="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services that can be integrated with </a:t>
            </a:r>
            <a:r>
              <a:rPr kumimoji="0" lang="en-US" altLang="ja-JP" sz="14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rPr>
              <a:t>other services</a:t>
            </a:r>
            <a:r>
              <a:rPr kumimoji="0" lang="en-US" altLang="ja-JP" sz="1400" b="0" i="0" u="none" strike="noStrike" kern="0" cap="none" spc="0" normalizeH="0" baseline="0" noProof="0" dirty="0" smtClean="0">
                <a:ln>
                  <a:noFill/>
                </a:ln>
                <a:solidFill>
                  <a:srgbClr val="FFC000"/>
                </a:solidFill>
                <a:effectLst/>
                <a:uLnTx/>
                <a:uFillTx/>
                <a:latin typeface="Times New Roman"/>
                <a:ea typeface="ＭＳ Ｐゴシック"/>
                <a:cs typeface="+mn-cs"/>
              </a:rPr>
              <a:t>.</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Service Cooperation</a:t>
            </a:r>
            <a:endParaRPr kumimoji="1" lang="ja-JP" altLang="en-US"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2" name="表 11"/>
          <p:cNvGraphicFramePr>
            <a:graphicFrameLocks noGrp="1"/>
          </p:cNvGraphicFramePr>
          <p:nvPr>
            <p:extLst>
              <p:ext uri="{D42A27DB-BD31-4B8C-83A1-F6EECF244321}">
                <p14:modId xmlns:p14="http://schemas.microsoft.com/office/powerpoint/2010/main" val="3080984185"/>
              </p:ext>
            </p:extLst>
          </p:nvPr>
        </p:nvGraphicFramePr>
        <p:xfrm>
          <a:off x="457200" y="4270785"/>
          <a:ext cx="8231187" cy="857539"/>
        </p:xfrm>
        <a:graphic>
          <a:graphicData uri="http://schemas.openxmlformats.org/drawingml/2006/table">
            <a:tbl>
              <a:tblPr/>
              <a:tblGrid>
                <a:gridCol w="1528487"/>
                <a:gridCol w="815193"/>
                <a:gridCol w="769905"/>
                <a:gridCol w="5117602"/>
              </a:tblGrid>
              <a:tr h="526367">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3311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Google Cloud Print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scoGCP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It has been newly positioned as the component that provides the functions relevant to Google Cloud Print.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pic>
        <p:nvPicPr>
          <p:cNvPr id="1026" name="Picture 2"/>
          <p:cNvPicPr>
            <a:picLocks noChangeAspect="1" noChangeArrowheads="1"/>
          </p:cNvPicPr>
          <p:nvPr/>
        </p:nvPicPr>
        <p:blipFill>
          <a:blip r:embed="rId3" cstate="print"/>
          <a:srcRect/>
          <a:stretch>
            <a:fillRect/>
          </a:stretch>
        </p:blipFill>
        <p:spPr bwMode="auto">
          <a:xfrm>
            <a:off x="3635896" y="1988840"/>
            <a:ext cx="1725027" cy="2160240"/>
          </a:xfrm>
          <a:prstGeom prst="rect">
            <a:avLst/>
          </a:prstGeom>
          <a:noFill/>
          <a:ln w="9525">
            <a:noFill/>
            <a:miter lim="800000"/>
            <a:headEnd/>
            <a:tailEnd/>
          </a:ln>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20</a:t>
            </a:fld>
            <a:endParaRPr kumimoji="1" lang="ja-JP" altLang="en-US" dirty="0">
              <a:latin typeface="Meiryo UI" pitchFamily="50" charset="-128"/>
              <a:ea typeface="Meiryo UI" pitchFamily="50" charset="-128"/>
              <a:cs typeface="Meiryo UI" pitchFamily="50" charset="-128"/>
            </a:endParaRPr>
          </a:p>
        </p:txBody>
      </p:sp>
      <p:sp>
        <p:nvSpPr>
          <p:cNvPr id="6"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Image Processing Package</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6"/>
          <p:cNvSpPr/>
          <p:nvPr/>
        </p:nvSpPr>
        <p:spPr bwMode="auto">
          <a:xfrm>
            <a:off x="396330" y="1197546"/>
            <a:ext cx="8352928" cy="650391"/>
          </a:xfrm>
          <a:prstGeom prst="roundRect">
            <a:avLst/>
          </a:prstGeom>
          <a:solidFill>
            <a:srgbClr val="00B05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400" b="1" dirty="0" smtClean="0">
                <a:solidFill>
                  <a:srgbClr val="FFFF00"/>
                </a:solidFill>
                <a:latin typeface="Meiryo UI" panose="020B0604030504040204" pitchFamily="50" charset="-128"/>
                <a:ea typeface="Meiryo UI" panose="020B0604030504040204" pitchFamily="50" charset="-128"/>
                <a:cs typeface="Meiryo UI" panose="020B0604030504040204" pitchFamily="50" charset="-128"/>
              </a:rPr>
              <a:t>Image Processing</a:t>
            </a:r>
          </a:p>
          <a:p>
            <a:pPr marL="0" marR="0" indent="0" algn="l" defTabSz="914400" rtl="0" eaLnBrk="1" fontAlgn="base" latinLnBrk="0" hangingPunct="1">
              <a:lnSpc>
                <a:spcPct val="90000"/>
              </a:lnSpc>
              <a:spcBef>
                <a:spcPct val="50000"/>
              </a:spcBef>
              <a:spcAft>
                <a:spcPct val="0"/>
              </a:spcAft>
              <a:buClrTx/>
              <a:buSzTx/>
              <a:buFontTx/>
              <a:buNone/>
              <a:tabLst/>
            </a:pPr>
            <a:r>
              <a:rPr lang="en-US" altLang="ja-JP" sz="1400" b="1"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rPr>
              <a:t>Provides structure for Image Processing service. </a:t>
            </a:r>
          </a:p>
        </p:txBody>
      </p:sp>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0626" y="2002557"/>
            <a:ext cx="2828925"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9" name="表 8"/>
          <p:cNvGraphicFramePr>
            <a:graphicFrameLocks noGrp="1"/>
          </p:cNvGraphicFramePr>
          <p:nvPr>
            <p:extLst>
              <p:ext uri="{D42A27DB-BD31-4B8C-83A1-F6EECF244321}">
                <p14:modId xmlns:p14="http://schemas.microsoft.com/office/powerpoint/2010/main" val="1626271804"/>
              </p:ext>
            </p:extLst>
          </p:nvPr>
        </p:nvGraphicFramePr>
        <p:xfrm>
          <a:off x="457200" y="4352551"/>
          <a:ext cx="8231188" cy="2101579"/>
        </p:xfrm>
        <a:graphic>
          <a:graphicData uri="http://schemas.openxmlformats.org/drawingml/2006/table">
            <a:tbl>
              <a:tblPr/>
              <a:tblGrid>
                <a:gridCol w="2147520"/>
                <a:gridCol w="992061"/>
                <a:gridCol w="793649"/>
                <a:gridCol w="4297958"/>
              </a:tblGrid>
              <a:tr h="262697">
                <a:tc>
                  <a:txBody>
                    <a:bodyPr/>
                    <a:lstStyle/>
                    <a:p>
                      <a:pPr algn="ctr" fontAlgn="ctr"/>
                      <a:r>
                        <a:rPr lang="en-US" sz="9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CCFFFF"/>
                    </a:solidFill>
                  </a:tcPr>
                </a:tc>
                <a:tc>
                  <a:txBody>
                    <a:body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CCFFFF"/>
                    </a:solidFill>
                  </a:tcPr>
                </a:tc>
                <a:tc>
                  <a:txBody>
                    <a:body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CCFFFF"/>
                    </a:solidFill>
                  </a:tcPr>
                </a:tc>
                <a:tc>
                  <a:txBody>
                    <a:body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CCFFFF"/>
                    </a:solidFill>
                  </a:tcPr>
                </a:tc>
              </a:tr>
              <a:tr h="175132">
                <a:tc>
                  <a:txBody>
                    <a:bodyPr/>
                    <a:lstStyle/>
                    <a:p>
                      <a:pPr algn="l" fontAlgn="t"/>
                      <a:r>
                        <a:rPr lang="en-US" sz="900" b="0" i="0" u="none" strike="noStrike">
                          <a:solidFill>
                            <a:srgbClr val="000000"/>
                          </a:solidFill>
                          <a:effectLst/>
                          <a:latin typeface="Meiryo UI"/>
                        </a:rPr>
                        <a:t>Image Processing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impIMP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6375">
                <a:tc>
                  <a:txBody>
                    <a:bodyPr/>
                    <a:lstStyle/>
                    <a:p>
                      <a:pPr algn="l" fontAlgn="t"/>
                      <a:r>
                        <a:rPr lang="en-US" sz="900" b="0" i="0" u="none" strike="noStrike">
                          <a:solidFill>
                            <a:srgbClr val="000000"/>
                          </a:solidFill>
                          <a:effectLst/>
                          <a:latin typeface="Meiryo UI"/>
                        </a:rPr>
                        <a:t>Image Job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impIMJ</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jbpIMGJB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No change except the abbreviated name.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6375">
                <a:tc>
                  <a:txBody>
                    <a:bodyPr/>
                    <a:lstStyle/>
                    <a:p>
                      <a:pPr algn="l" fontAlgn="t"/>
                      <a:r>
                        <a:rPr lang="en-US" sz="900" b="0" i="0" u="none" strike="noStrike">
                          <a:solidFill>
                            <a:srgbClr val="000000"/>
                          </a:solidFill>
                          <a:effectLst/>
                          <a:latin typeface="Meiryo UI"/>
                        </a:rPr>
                        <a:t>Access Job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impACJ</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jbpACSJB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No change except the abbreviated name.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32750">
                <a:tc>
                  <a:txBody>
                    <a:bodyPr/>
                    <a:lstStyle/>
                    <a:p>
                      <a:pPr algn="l" fontAlgn="t"/>
                      <a:r>
                        <a:rPr lang="en-US" sz="900" b="0" i="0" u="none" strike="noStrike">
                          <a:solidFill>
                            <a:srgbClr val="000000"/>
                          </a:solidFill>
                          <a:effectLst/>
                          <a:latin typeface="Meiryo UI"/>
                        </a:rPr>
                        <a:t>Mission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impMSM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jbmJBMGR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Responsibility of managing InputMission, EditMission OutputMission has been extracted from jbmJBMGR.</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499125">
                <a:tc>
                  <a:txBody>
                    <a:bodyPr/>
                    <a:lstStyle/>
                    <a:p>
                      <a:pPr algn="l" fontAlgn="t"/>
                      <a:r>
                        <a:rPr lang="en-US" sz="900" b="0" i="0" u="none" strike="noStrike">
                          <a:solidFill>
                            <a:srgbClr val="000000"/>
                          </a:solidFill>
                          <a:effectLst/>
                          <a:latin typeface="Meiryo UI"/>
                        </a:rPr>
                        <a:t>Input Mission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impIMS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impIMS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Responsibility to instruct document editing to next step has been separated from impIMS. Only other change is the abbreviated name.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6375">
                <a:tc>
                  <a:txBody>
                    <a:bodyPr/>
                    <a:lstStyle/>
                    <a:p>
                      <a:pPr algn="l" fontAlgn="t"/>
                      <a:r>
                        <a:rPr lang="en-US" sz="900" b="0" i="0" u="none" strike="noStrike">
                          <a:solidFill>
                            <a:srgbClr val="000000"/>
                          </a:solidFill>
                          <a:effectLst/>
                          <a:latin typeface="Meiryo UI"/>
                        </a:rPr>
                        <a:t>Edit Mission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impEMS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impEMS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6375">
                <a:tc>
                  <a:txBody>
                    <a:bodyPr/>
                    <a:lstStyle/>
                    <a:p>
                      <a:pPr algn="l" fontAlgn="t"/>
                      <a:r>
                        <a:rPr lang="en-US" sz="900" b="0" i="0" u="none" strike="noStrike">
                          <a:solidFill>
                            <a:srgbClr val="000000"/>
                          </a:solidFill>
                          <a:effectLst/>
                          <a:latin typeface="Meiryo UI"/>
                        </a:rPr>
                        <a:t>Output Mission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impOMS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impOMS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66375">
                <a:tc>
                  <a:txBody>
                    <a:bodyPr/>
                    <a:lstStyle/>
                    <a:p>
                      <a:pPr algn="l" fontAlgn="t"/>
                      <a:r>
                        <a:rPr lang="en-US" sz="900" b="0" i="0" u="none" strike="noStrike">
                          <a:solidFill>
                            <a:srgbClr val="000000"/>
                          </a:solidFill>
                          <a:effectLst/>
                          <a:latin typeface="Meiryo UI"/>
                        </a:rPr>
                        <a:t>Fax Job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impFJC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a:solidFill>
                            <a:srgbClr val="000000"/>
                          </a:solidFill>
                          <a:effectLst/>
                          <a:latin typeface="Meiryo UI"/>
                        </a:rPr>
                        <a:t>jbmFJC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900" b="0" i="0" u="none" strike="noStrike" dirty="0">
                          <a:solidFill>
                            <a:srgbClr val="000000"/>
                          </a:solidFill>
                          <a:effectLst/>
                          <a:latin typeface="Meiryo UI"/>
                        </a:rPr>
                        <a:t>No change except the abbreviated name.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21</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Device Operation Package</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2" name="表 11"/>
          <p:cNvGraphicFramePr>
            <a:graphicFrameLocks noGrp="1"/>
          </p:cNvGraphicFramePr>
          <p:nvPr>
            <p:extLst>
              <p:ext uri="{D42A27DB-BD31-4B8C-83A1-F6EECF244321}">
                <p14:modId xmlns:p14="http://schemas.microsoft.com/office/powerpoint/2010/main" val="1103279736"/>
              </p:ext>
            </p:extLst>
          </p:nvPr>
        </p:nvGraphicFramePr>
        <p:xfrm>
          <a:off x="457200" y="4149874"/>
          <a:ext cx="8231188" cy="2425572"/>
        </p:xfrm>
        <a:graphic>
          <a:graphicData uri="http://schemas.openxmlformats.org/drawingml/2006/table">
            <a:tbl>
              <a:tblPr/>
              <a:tblGrid>
                <a:gridCol w="2147520"/>
                <a:gridCol w="992061"/>
                <a:gridCol w="793649"/>
                <a:gridCol w="4297958"/>
              </a:tblGrid>
              <a:tr h="262697">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Scan Device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dvoSCN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Print Device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Storage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dvoSTRG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Fax Device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dvoFAX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Account Device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dvoACC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Stream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dvoSTRM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Panel Device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External Video Input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dvoEVI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9912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Bluetooth Device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dvoBT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ifsRMNT</a:t>
                      </a:r>
                      <a:br>
                        <a:rPr lang="en-US" sz="900" b="0" i="0" u="none" strike="noStrike">
                          <a:solidFill>
                            <a:srgbClr val="000000"/>
                          </a:solidFill>
                          <a:effectLst/>
                          <a:latin typeface="Meiryo UI"/>
                        </a:rPr>
                      </a:br>
                      <a:r>
                        <a:rPr lang="en-US" sz="900" b="0" i="0" u="none" strike="noStrike">
                          <a:solidFill>
                            <a:srgbClr val="000000"/>
                          </a:solidFill>
                          <a:effectLst/>
                          <a:latin typeface="Meiryo UI"/>
                        </a:rPr>
                        <a:t>usvMNT</a:t>
                      </a:r>
                      <a:br>
                        <a:rPr lang="en-US" sz="900" b="0" i="0" u="none" strike="noStrike">
                          <a:solidFill>
                            <a:srgbClr val="000000"/>
                          </a:solidFill>
                          <a:effectLst/>
                          <a:latin typeface="Meiryo UI"/>
                        </a:rPr>
                      </a:br>
                      <a:r>
                        <a:rPr lang="en-US" sz="900" b="0" i="0" u="none" strike="noStrike">
                          <a:solidFill>
                            <a:srgbClr val="000000"/>
                          </a:solidFill>
                          <a:effectLst/>
                          <a:latin typeface="Meiryo UI"/>
                        </a:rPr>
                        <a:t>ntcBTSPP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Basic Device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dvoBAS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Interpretation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dvoINT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13" name="角丸四角形 12"/>
          <p:cNvSpPr/>
          <p:nvPr/>
        </p:nvSpPr>
        <p:spPr bwMode="auto">
          <a:xfrm>
            <a:off x="273165" y="1125538"/>
            <a:ext cx="8352928" cy="650391"/>
          </a:xfrm>
          <a:prstGeom prst="roundRect">
            <a:avLst/>
          </a:prstGeom>
          <a:solidFill>
            <a:srgbClr val="00B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Device Operation</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structure for </a:t>
            </a:r>
            <a:r>
              <a:rPr kumimoji="0" lang="en-US" altLang="ja-JP"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device operation and panel </a:t>
            </a: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display. </a:t>
            </a:r>
          </a:p>
        </p:txBody>
      </p:sp>
      <p:pic>
        <p:nvPicPr>
          <p:cNvPr id="2050" name="Picture 2"/>
          <p:cNvPicPr>
            <a:picLocks noChangeAspect="1" noChangeArrowheads="1"/>
          </p:cNvPicPr>
          <p:nvPr/>
        </p:nvPicPr>
        <p:blipFill>
          <a:blip r:embed="rId3" cstate="print"/>
          <a:srcRect/>
          <a:stretch>
            <a:fillRect/>
          </a:stretch>
        </p:blipFill>
        <p:spPr bwMode="auto">
          <a:xfrm>
            <a:off x="1547664" y="1966913"/>
            <a:ext cx="5976664" cy="2038151"/>
          </a:xfrm>
          <a:prstGeom prst="rect">
            <a:avLst/>
          </a:prstGeom>
          <a:noFill/>
          <a:ln w="9525">
            <a:noFill/>
            <a:miter lim="800000"/>
            <a:headEnd/>
            <a:tailEnd/>
          </a:ln>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22</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Communication Package</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2" name="表 11"/>
          <p:cNvGraphicFramePr>
            <a:graphicFrameLocks noGrp="1"/>
          </p:cNvGraphicFramePr>
          <p:nvPr>
            <p:extLst>
              <p:ext uri="{D42A27DB-BD31-4B8C-83A1-F6EECF244321}">
                <p14:modId xmlns:p14="http://schemas.microsoft.com/office/powerpoint/2010/main" val="3042279313"/>
              </p:ext>
            </p:extLst>
          </p:nvPr>
        </p:nvGraphicFramePr>
        <p:xfrm>
          <a:off x="457200" y="4153481"/>
          <a:ext cx="8231187" cy="2444665"/>
        </p:xfrm>
        <a:graphic>
          <a:graphicData uri="http://schemas.openxmlformats.org/drawingml/2006/table">
            <a:tbl>
              <a:tblPr/>
              <a:tblGrid>
                <a:gridCol w="2018039"/>
                <a:gridCol w="932247"/>
                <a:gridCol w="1242081"/>
                <a:gridCol w="4038820"/>
              </a:tblGrid>
              <a:tr h="246936">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56393">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Email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commEML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ifsEMAIL / ntcEMAIL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6393">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IPP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commIPP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ifsIPP / ntcIPP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1278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Web Server Interface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commWSI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ifsEWEB / ntcHTTP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1278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Web Client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commWCL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usvMNT / ntcHTTP</a:t>
                      </a:r>
                      <a:br>
                        <a:rPr lang="en-US" sz="900" b="0" i="0" u="none" strike="noStrike">
                          <a:solidFill>
                            <a:srgbClr val="000000"/>
                          </a:solidFill>
                          <a:effectLst/>
                          <a:latin typeface="Meiryo UI"/>
                        </a:rPr>
                      </a:br>
                      <a:r>
                        <a:rPr lang="en-US" sz="900" b="0" i="0" u="none" strike="noStrike">
                          <a:solidFill>
                            <a:srgbClr val="000000"/>
                          </a:solidFill>
                          <a:effectLst/>
                          <a:latin typeface="Meiryo UI"/>
                        </a:rPr>
                        <a:t>ifsSOAP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6393">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Web Service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commWSV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ifsSOAP / ntcSOAP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6393">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Network Time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commNWT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ntcSNTP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6393">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Directory Access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commDIR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ntcLDAP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6393">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File Transfer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commFTR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ntcFTRANS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1278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Messaging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commMSG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ifsRMNT / usvMNT</a:t>
                      </a:r>
                      <a:br>
                        <a:rPr lang="en-US" sz="900" b="0" i="0" u="none" strike="noStrike">
                          <a:solidFill>
                            <a:srgbClr val="000000"/>
                          </a:solidFill>
                          <a:effectLst/>
                          <a:latin typeface="Meiryo UI"/>
                        </a:rPr>
                      </a:br>
                      <a:r>
                        <a:rPr lang="en-US" sz="900" b="0" i="0" u="none" strike="noStrike">
                          <a:solidFill>
                            <a:srgbClr val="000000"/>
                          </a:solidFill>
                          <a:effectLst/>
                          <a:latin typeface="Meiryo UI"/>
                        </a:rPr>
                        <a:t>ntcXMPP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21016">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MIB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commMIB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err="1">
                          <a:solidFill>
                            <a:srgbClr val="000000"/>
                          </a:solidFill>
                          <a:effectLst/>
                          <a:latin typeface="Meiryo UI"/>
                        </a:rPr>
                        <a:t>ifsSNMP</a:t>
                      </a:r>
                      <a:r>
                        <a:rPr lang="en-US" sz="900" b="0" i="0" u="none" strike="noStrike" dirty="0">
                          <a:solidFill>
                            <a:srgbClr val="000000"/>
                          </a:solidFill>
                          <a:effectLst/>
                          <a:latin typeface="Meiryo UI"/>
                        </a:rPr>
                        <a:t> / </a:t>
                      </a:r>
                      <a:r>
                        <a:rPr lang="en-US" sz="900" b="0" i="0" u="none" strike="noStrike" dirty="0" err="1">
                          <a:solidFill>
                            <a:srgbClr val="000000"/>
                          </a:solidFill>
                          <a:effectLst/>
                          <a:latin typeface="Meiryo UI"/>
                        </a:rPr>
                        <a:t>entMIB</a:t>
                      </a:r>
                      <a:r>
                        <a:rPr lang="en-US" sz="900" b="0" i="0" u="none" strike="noStrike" dirty="0">
                          <a:solidFill>
                            <a:srgbClr val="000000"/>
                          </a:solidFill>
                          <a:effectLst/>
                          <a:latin typeface="Meiryo UI"/>
                        </a:rPr>
                        <a:t/>
                      </a:r>
                      <a:br>
                        <a:rPr lang="en-US" sz="900" b="0" i="0" u="none" strike="noStrike" dirty="0">
                          <a:solidFill>
                            <a:srgbClr val="000000"/>
                          </a:solidFill>
                          <a:effectLst/>
                          <a:latin typeface="Meiryo UI"/>
                        </a:rPr>
                      </a:br>
                      <a:r>
                        <a:rPr lang="en-US" sz="900" b="0" i="0" u="none" strike="noStrike" dirty="0" err="1">
                          <a:solidFill>
                            <a:srgbClr val="000000"/>
                          </a:solidFill>
                          <a:effectLst/>
                          <a:latin typeface="Meiryo UI"/>
                        </a:rPr>
                        <a:t>ntcSNMP</a:t>
                      </a:r>
                      <a:endParaRPr lang="en-US" sz="900" b="0" i="0" u="none" strike="noStrike" dirty="0">
                        <a:solidFill>
                          <a:srgbClr val="000000"/>
                        </a:solidFill>
                        <a:effectLst/>
                        <a:latin typeface="Meiryo UI"/>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13" name="角丸四角形 12"/>
          <p:cNvSpPr/>
          <p:nvPr/>
        </p:nvSpPr>
        <p:spPr bwMode="auto">
          <a:xfrm>
            <a:off x="273164" y="909514"/>
            <a:ext cx="8692118" cy="650391"/>
          </a:xfrm>
          <a:prstGeom prst="roundRect">
            <a:avLst/>
          </a:prstGeom>
          <a:solidFill>
            <a:srgbClr val="00B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Communication</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layer with structure for communication with MFP external systems.</a:t>
            </a:r>
            <a:endParaRPr kumimoji="0" lang="en-US" altLang="ja-JP" sz="1400" b="1"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3074" name="Picture 2"/>
          <p:cNvPicPr>
            <a:picLocks noChangeAspect="1" noChangeArrowheads="1"/>
          </p:cNvPicPr>
          <p:nvPr/>
        </p:nvPicPr>
        <p:blipFill>
          <a:blip r:embed="rId3" cstate="print"/>
          <a:srcRect/>
          <a:stretch>
            <a:fillRect/>
          </a:stretch>
        </p:blipFill>
        <p:spPr bwMode="auto">
          <a:xfrm>
            <a:off x="2051719" y="1556792"/>
            <a:ext cx="4824537" cy="2520280"/>
          </a:xfrm>
          <a:prstGeom prst="rect">
            <a:avLst/>
          </a:prstGeom>
          <a:noFill/>
          <a:ln w="9525">
            <a:noFill/>
            <a:miter lim="800000"/>
            <a:headEnd/>
            <a:tailEnd/>
          </a:ln>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23</a:t>
            </a:fld>
            <a:endParaRPr kumimoji="1" lang="ja-JP" altLang="en-US" dirty="0">
              <a:latin typeface="Meiryo UI" pitchFamily="50" charset="-128"/>
              <a:ea typeface="Meiryo UI" pitchFamily="50" charset="-128"/>
              <a:cs typeface="Meiryo UI" pitchFamily="50" charset="-128"/>
            </a:endParaRPr>
          </a:p>
        </p:txBody>
      </p:sp>
      <p:sp>
        <p:nvSpPr>
          <p:cNvPr id="16" name="タイトル 4"/>
          <p:cNvSpPr>
            <a:spLocks noGrp="1"/>
          </p:cNvSpPr>
          <p:nvPr>
            <p:ph type="title"/>
          </p:nvPr>
        </p:nvSpPr>
        <p:spPr>
          <a:xfrm>
            <a:off x="1764482" y="2596"/>
            <a:ext cx="5866653" cy="504527"/>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Other Packages</a:t>
            </a:r>
            <a:b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b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in Platform Service 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7" name="表 16"/>
          <p:cNvGraphicFramePr>
            <a:graphicFrameLocks noGrp="1"/>
          </p:cNvGraphicFramePr>
          <p:nvPr>
            <p:extLst>
              <p:ext uri="{D42A27DB-BD31-4B8C-83A1-F6EECF244321}">
                <p14:modId xmlns:p14="http://schemas.microsoft.com/office/powerpoint/2010/main" val="4144933949"/>
              </p:ext>
            </p:extLst>
          </p:nvPr>
        </p:nvGraphicFramePr>
        <p:xfrm>
          <a:off x="478051" y="4221882"/>
          <a:ext cx="8231188" cy="2267954"/>
        </p:xfrm>
        <a:graphic>
          <a:graphicData uri="http://schemas.openxmlformats.org/drawingml/2006/table">
            <a:tbl>
              <a:tblPr/>
              <a:tblGrid>
                <a:gridCol w="2147520"/>
                <a:gridCol w="992061"/>
                <a:gridCol w="793649"/>
                <a:gridCol w="4297958"/>
              </a:tblGrid>
              <a:tr h="262697">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Data Access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dacDAC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altLang="ja-JP" sz="900" b="0" i="0" u="none" strike="noStrike">
                          <a:solidFill>
                            <a:srgbClr val="000000"/>
                          </a:solidFill>
                          <a:effectLst/>
                          <a:latin typeface="Meiryo UI"/>
                        </a:rPr>
                        <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New</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9912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User Authentication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usraUSRA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sysAUTH</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This newly positioned component assumes the responsibilities formerly assumed by sysAUTH: processing user authentication in various ways and controlling authenticated users' status.</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3275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System Management Platform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psmSYM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sysESM</a:t>
                      </a:r>
                      <a:br>
                        <a:rPr lang="en-US" sz="900" b="0" i="0" u="none" strike="noStrike">
                          <a:solidFill>
                            <a:srgbClr val="000000"/>
                          </a:solidFill>
                          <a:effectLst/>
                          <a:latin typeface="Meiryo UI"/>
                        </a:rPr>
                      </a:br>
                      <a:r>
                        <a:rPr lang="en-US" sz="900" b="0" i="0" u="none" strike="noStrike">
                          <a:solidFill>
                            <a:srgbClr val="000000"/>
                          </a:solidFill>
                          <a:effectLst/>
                          <a:latin typeface="Meiryo UI"/>
                        </a:rPr>
                        <a:t>sysSSM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Responsibility related to device control has been extracted from sysESM and has been newly created.</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6375">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Network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psmNWM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sysNWM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No change except the abbreviated name.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3275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Utility Library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putLIB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utlLIB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Library that is being used both by application and platform has been extracted from utlLIB, and has been newly added.</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50788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Utility Rules Service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putRULE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utlRULE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The condition judgment of prohibition used both by application and platform has been extracted from </a:t>
                      </a:r>
                      <a:r>
                        <a:rPr lang="en-US" sz="900" b="0" i="0" u="none" strike="noStrike" dirty="0" err="1">
                          <a:solidFill>
                            <a:srgbClr val="000000"/>
                          </a:solidFill>
                          <a:effectLst/>
                          <a:latin typeface="Meiryo UI"/>
                        </a:rPr>
                        <a:t>utlRULE</a:t>
                      </a:r>
                      <a:r>
                        <a:rPr lang="en-US" sz="900" b="0" i="0" u="none" strike="noStrike" dirty="0">
                          <a:solidFill>
                            <a:srgbClr val="000000"/>
                          </a:solidFill>
                          <a:effectLst/>
                          <a:latin typeface="Meiryo UI"/>
                        </a:rPr>
                        <a:t> and has been newly added.</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18" name="角丸四角形 17"/>
          <p:cNvSpPr/>
          <p:nvPr/>
        </p:nvSpPr>
        <p:spPr bwMode="auto">
          <a:xfrm>
            <a:off x="260341" y="1053530"/>
            <a:ext cx="4320480" cy="578882"/>
          </a:xfrm>
          <a:prstGeom prst="roundRect">
            <a:avLst/>
          </a:prstGeom>
          <a:solidFill>
            <a:srgbClr val="00B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Data Access</a:t>
            </a:r>
            <a:endPar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100" b="0"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1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structure for </a:t>
            </a:r>
            <a:r>
              <a:rPr kumimoji="0" lang="en-US" altLang="ja-JP" sz="1100" b="0"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Data operation/Reference/Setting</a:t>
            </a:r>
            <a:r>
              <a:rPr kumimoji="0" lang="en-US" altLang="ja-JP" sz="11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p:txBody>
      </p:sp>
      <p:sp>
        <p:nvSpPr>
          <p:cNvPr id="19" name="角丸四角形 18"/>
          <p:cNvSpPr/>
          <p:nvPr/>
        </p:nvSpPr>
        <p:spPr bwMode="auto">
          <a:xfrm>
            <a:off x="260209" y="1773610"/>
            <a:ext cx="4320480" cy="578882"/>
          </a:xfrm>
          <a:prstGeom prst="roundRect">
            <a:avLst/>
          </a:prstGeom>
          <a:solidFill>
            <a:srgbClr val="00B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User Authentication</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100" b="0"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1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structure for authentication and authorization.</a:t>
            </a:r>
          </a:p>
        </p:txBody>
      </p:sp>
      <p:sp>
        <p:nvSpPr>
          <p:cNvPr id="20" name="角丸四角形 19"/>
          <p:cNvSpPr/>
          <p:nvPr/>
        </p:nvSpPr>
        <p:spPr bwMode="auto">
          <a:xfrm>
            <a:off x="4716810" y="1063067"/>
            <a:ext cx="4320480" cy="578882"/>
          </a:xfrm>
          <a:prstGeom prst="roundRect">
            <a:avLst/>
          </a:prstGeom>
          <a:solidFill>
            <a:srgbClr val="00B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System Management</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100" b="0"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Manages </a:t>
            </a:r>
            <a:r>
              <a:rPr kumimoji="0" lang="en-US" altLang="ja-JP" sz="11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device and network states.</a:t>
            </a:r>
            <a:endParaRPr kumimoji="0" lang="en-US" altLang="ja-JP" sz="1100" b="1" i="0" u="none" strike="noStrike" kern="0" cap="none" spc="0" normalizeH="0" baseline="0" noProof="0" dirty="0" smtClean="0">
              <a:ln>
                <a:noFill/>
              </a:ln>
              <a:solidFill>
                <a:srgbClr val="FFC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角丸四角形 20"/>
          <p:cNvSpPr/>
          <p:nvPr/>
        </p:nvSpPr>
        <p:spPr bwMode="auto">
          <a:xfrm>
            <a:off x="4716810" y="1773610"/>
            <a:ext cx="4320480" cy="915995"/>
          </a:xfrm>
          <a:prstGeom prst="roundRect">
            <a:avLst/>
          </a:prstGeom>
          <a:solidFill>
            <a:srgbClr val="00B05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FFFF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Utility</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100" b="0" i="0" u="none" strike="noStrike" kern="0" cap="none" spc="0" normalizeH="0" baseline="0" noProof="0" dirty="0" smtClean="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1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application layer and product line platform with useful features to be used in the platform and application in common.</a:t>
            </a:r>
          </a:p>
        </p:txBody>
      </p:sp>
      <p:pic>
        <p:nvPicPr>
          <p:cNvPr id="22"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370" y="2752725"/>
            <a:ext cx="1590675" cy="135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8754" y="2752725"/>
            <a:ext cx="1524000" cy="135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27426" y="2752725"/>
            <a:ext cx="2133600" cy="135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90184" y="2752725"/>
            <a:ext cx="1543050" cy="135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24</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Communication Protocol</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Package</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258214" y="981522"/>
            <a:ext cx="5464582" cy="650391"/>
          </a:xfrm>
          <a:prstGeom prst="roundRect">
            <a:avLst/>
          </a:prstGeom>
          <a:solidFill>
            <a:srgbClr val="FFFF9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Communication Protocol</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necessary means to process communication.</a:t>
            </a:r>
            <a:endPar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3" name="表 12"/>
          <p:cNvGraphicFramePr>
            <a:graphicFrameLocks noGrp="1"/>
          </p:cNvGraphicFramePr>
          <p:nvPr>
            <p:extLst>
              <p:ext uri="{D42A27DB-BD31-4B8C-83A1-F6EECF244321}">
                <p14:modId xmlns:p14="http://schemas.microsoft.com/office/powerpoint/2010/main" val="3299712292"/>
              </p:ext>
            </p:extLst>
          </p:nvPr>
        </p:nvGraphicFramePr>
        <p:xfrm>
          <a:off x="456406" y="3861842"/>
          <a:ext cx="8231188" cy="2672460"/>
        </p:xfrm>
        <a:graphic>
          <a:graphicData uri="http://schemas.openxmlformats.org/drawingml/2006/table">
            <a:tbl>
              <a:tblPr/>
              <a:tblGrid>
                <a:gridCol w="2185481"/>
                <a:gridCol w="902699"/>
                <a:gridCol w="807678"/>
                <a:gridCol w="4335330"/>
              </a:tblGrid>
              <a:tr h="30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95981">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SOAP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cmpSOAP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ntcSOAP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3851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SMB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cmpSMB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ntcFTRANS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The responsibilities of ntcFTRANS were divided into two newly positioned components.</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3851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FTP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cmpFTP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ntcFTRANS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The responsibilities of ntcFTRANS were divided into two newly positioned components.</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LDAP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cmpLDAP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ntcLDAP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SNTP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cmpSNTP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ntcSNTP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NWAT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cmpNWAT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ntcNWAT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HTTP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cmpHTTP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ntcHTTP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Email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cmpEML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ntcEMAIL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RPC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cmpRPC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ntcRPC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XMPP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cmpXMPP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ntcXMPP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cmpIPP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ntcIPP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dirty="0">
                          <a:solidFill>
                            <a:srgbClr val="000000"/>
                          </a:solidFill>
                          <a:effectLst/>
                          <a:latin typeface="Meiryo UI"/>
                        </a:rPr>
                        <a:t>No change except the abbreviated name.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pic>
        <p:nvPicPr>
          <p:cNvPr id="4098" name="Picture 2"/>
          <p:cNvPicPr>
            <a:picLocks noChangeAspect="1" noChangeArrowheads="1"/>
          </p:cNvPicPr>
          <p:nvPr/>
        </p:nvPicPr>
        <p:blipFill>
          <a:blip r:embed="rId3" cstate="print"/>
          <a:srcRect/>
          <a:stretch>
            <a:fillRect/>
          </a:stretch>
        </p:blipFill>
        <p:spPr bwMode="auto">
          <a:xfrm>
            <a:off x="1403649" y="1700809"/>
            <a:ext cx="6552728" cy="2088231"/>
          </a:xfrm>
          <a:prstGeom prst="rect">
            <a:avLst/>
          </a:prstGeom>
          <a:noFill/>
          <a:ln w="9525">
            <a:noFill/>
            <a:miter lim="800000"/>
            <a:headEnd/>
            <a:tailEnd/>
          </a:ln>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25</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Device Control Package</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252314" y="981522"/>
            <a:ext cx="8560926" cy="984099"/>
          </a:xfrm>
          <a:prstGeom prst="roundRect">
            <a:avLst/>
          </a:prstGeom>
          <a:solidFill>
            <a:srgbClr val="FFFF9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Device </a:t>
            </a:r>
            <a:r>
              <a:rPr kumimoji="0" lang="en-US" altLang="ja-JP" sz="1400" b="1" i="0" u="none" strike="noStrike" kern="0" cap="none" spc="0" normalizeH="0" baseline="0" noProof="0" dirty="0" smtClean="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Control</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operation based on the performance specification of each device.</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And </a:t>
            </a:r>
            <a:r>
              <a:rPr kumimoji="0" lang="en-US" altLang="ja-JP"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c</a:t>
            </a: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ontrols devices logically.</a:t>
            </a:r>
          </a:p>
        </p:txBody>
      </p:sp>
      <p:graphicFrame>
        <p:nvGraphicFramePr>
          <p:cNvPr id="12" name="表 11"/>
          <p:cNvGraphicFramePr>
            <a:graphicFrameLocks noGrp="1"/>
          </p:cNvGraphicFramePr>
          <p:nvPr>
            <p:extLst>
              <p:ext uri="{D42A27DB-BD31-4B8C-83A1-F6EECF244321}">
                <p14:modId xmlns:p14="http://schemas.microsoft.com/office/powerpoint/2010/main" val="53972660"/>
              </p:ext>
            </p:extLst>
          </p:nvPr>
        </p:nvGraphicFramePr>
        <p:xfrm>
          <a:off x="457200" y="4120923"/>
          <a:ext cx="8231188" cy="2405215"/>
        </p:xfrm>
        <a:graphic>
          <a:graphicData uri="http://schemas.openxmlformats.org/drawingml/2006/table">
            <a:tbl>
              <a:tblPr/>
              <a:tblGrid>
                <a:gridCol w="2185481"/>
                <a:gridCol w="902699"/>
                <a:gridCol w="807678"/>
                <a:gridCol w="4335330"/>
              </a:tblGrid>
              <a:tr h="30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Scan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dvcSCN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dvcSCN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77024">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Panel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Responsibility to generate screen has been separated from </a:t>
                      </a:r>
                      <a:r>
                        <a:rPr lang="en-US" sz="900" b="0" i="0" u="none" strike="noStrike" dirty="0" err="1">
                          <a:solidFill>
                            <a:srgbClr val="000000"/>
                          </a:solidFill>
                          <a:effectLst/>
                          <a:latin typeface="Meiryo UI"/>
                        </a:rPr>
                        <a:t>dvcPNL</a:t>
                      </a:r>
                      <a:r>
                        <a:rPr lang="en-US" sz="900" b="0" i="0" u="none" strike="noStrike" dirty="0">
                          <a:solidFill>
                            <a:srgbClr val="000000"/>
                          </a:solidFill>
                          <a:effectLst/>
                          <a:latin typeface="Meiryo UI"/>
                        </a:rPr>
                        <a:t>. The responsibility to generate screen of WiseCore3dvcPNL has been passed on to Application layer component. There is no other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3851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AccountDevice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dvcACC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dvcACC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Responsibility of demanding request has been separated from dvcACC. There is no other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3851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Print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dvcPRT</a:t>
                      </a:r>
                      <a:br>
                        <a:rPr lang="en-US" sz="900" b="0" i="0" u="none" strike="noStrike">
                          <a:solidFill>
                            <a:srgbClr val="000000"/>
                          </a:solidFill>
                          <a:effectLst/>
                          <a:latin typeface="Meiryo UI"/>
                        </a:rPr>
                      </a:br>
                      <a:r>
                        <a:rPr lang="en-US" sz="900" b="0" i="0" u="none" strike="noStrike">
                          <a:solidFill>
                            <a:srgbClr val="000000"/>
                          </a:solidFill>
                          <a:effectLst/>
                          <a:latin typeface="Meiryo UI"/>
                        </a:rPr>
                        <a:t>dvcEPRT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dvcEPRT has been integrated to dvcPRT. There is no responsibility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Fax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dvcFAX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dvcFAX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Stream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dvcSTRM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dvcSTRM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External Video Input Device Control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dvcEVI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dvcEVI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dirty="0">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pic>
        <p:nvPicPr>
          <p:cNvPr id="5122" name="Picture 2"/>
          <p:cNvPicPr>
            <a:picLocks noChangeAspect="1" noChangeArrowheads="1"/>
          </p:cNvPicPr>
          <p:nvPr/>
        </p:nvPicPr>
        <p:blipFill>
          <a:blip r:embed="rId3" cstate="print"/>
          <a:srcRect/>
          <a:stretch>
            <a:fillRect/>
          </a:stretch>
        </p:blipFill>
        <p:spPr bwMode="auto">
          <a:xfrm>
            <a:off x="1763688" y="2060848"/>
            <a:ext cx="6246887" cy="1933947"/>
          </a:xfrm>
          <a:prstGeom prst="rect">
            <a:avLst/>
          </a:prstGeom>
          <a:noFill/>
          <a:ln w="9525">
            <a:noFill/>
            <a:miter lim="800000"/>
            <a:headEnd/>
            <a:tailEnd/>
          </a:ln>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26</a:t>
            </a:fld>
            <a:endParaRPr kumimoji="1" lang="ja-JP" altLang="en-US" dirty="0">
              <a:latin typeface="Meiryo UI" pitchFamily="50" charset="-128"/>
              <a:ea typeface="Meiryo UI" pitchFamily="50" charset="-128"/>
              <a:cs typeface="Meiryo UI" pitchFamily="50" charset="-128"/>
            </a:endParaRPr>
          </a:p>
        </p:txBody>
      </p:sp>
      <p:sp>
        <p:nvSpPr>
          <p:cNvPr id="10"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Rendering Package</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10"/>
          <p:cNvSpPr/>
          <p:nvPr/>
        </p:nvSpPr>
        <p:spPr bwMode="auto">
          <a:xfrm>
            <a:off x="260340" y="981522"/>
            <a:ext cx="8488918" cy="650391"/>
          </a:xfrm>
          <a:prstGeom prst="roundRect">
            <a:avLst/>
          </a:prstGeom>
          <a:solidFill>
            <a:srgbClr val="FFFF9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Rendering</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necessary means to process </a:t>
            </a: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images (compression, decompression, rotation). </a:t>
            </a: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7938" y="2133650"/>
            <a:ext cx="4048125"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 name="表 12"/>
          <p:cNvGraphicFramePr>
            <a:graphicFrameLocks noGrp="1"/>
          </p:cNvGraphicFramePr>
          <p:nvPr>
            <p:extLst>
              <p:ext uri="{D42A27DB-BD31-4B8C-83A1-F6EECF244321}">
                <p14:modId xmlns:p14="http://schemas.microsoft.com/office/powerpoint/2010/main" val="114862839"/>
              </p:ext>
            </p:extLst>
          </p:nvPr>
        </p:nvGraphicFramePr>
        <p:xfrm>
          <a:off x="457200" y="4366643"/>
          <a:ext cx="8231188" cy="1799455"/>
        </p:xfrm>
        <a:graphic>
          <a:graphicData uri="http://schemas.openxmlformats.org/drawingml/2006/table">
            <a:tbl>
              <a:tblPr/>
              <a:tblGrid>
                <a:gridCol w="2185481"/>
                <a:gridCol w="902699"/>
                <a:gridCol w="807678"/>
                <a:gridCol w="4335330"/>
              </a:tblGrid>
              <a:tr h="30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PDL Interpreter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renINT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renINT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Graphics Analyzer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renGA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renGA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Rendering Coordinator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renCRD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renCRD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Rendering Environment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renENV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renENV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Primitive Renderer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renPR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renPR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Rendering Resource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renRSC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renRSC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Image Format Converter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renIFC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renIFC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87072">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Edit Page Creator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renEPC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renEPC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dirty="0">
                          <a:solidFill>
                            <a:srgbClr val="000000"/>
                          </a:solidFill>
                          <a:effectLst/>
                          <a:latin typeface="Meiryo UI"/>
                        </a:rPr>
                        <a:t>No change.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27</a:t>
            </a:fld>
            <a:endParaRPr kumimoji="1" lang="ja-JP" altLang="en-US" dirty="0">
              <a:latin typeface="Meiryo UI" pitchFamily="50" charset="-128"/>
              <a:ea typeface="Meiryo UI" pitchFamily="50" charset="-128"/>
              <a:cs typeface="Meiryo UI" pitchFamily="50" charset="-128"/>
            </a:endParaRPr>
          </a:p>
        </p:txBody>
      </p:sp>
      <p:sp>
        <p:nvSpPr>
          <p:cNvPr id="12" name="タイトル 4"/>
          <p:cNvSpPr>
            <a:spLocks noGrp="1"/>
          </p:cNvSpPr>
          <p:nvPr>
            <p:ph type="title"/>
          </p:nvPr>
        </p:nvSpPr>
        <p:spPr>
          <a:xfrm>
            <a:off x="1581172" y="71662"/>
            <a:ext cx="6049963" cy="360511"/>
          </a:xfrm>
        </p:spPr>
        <p:txBody>
          <a:bodyPr/>
          <a:lstStyle/>
          <a:p>
            <a:pPr lvl="1" algn="ct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Other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Packages</a:t>
            </a:r>
            <a:b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br>
            <a:r>
              <a:rPr lang="ja-JP" altLang="en-US" sz="2400" b="1" dirty="0" smtClean="0">
                <a:latin typeface="Meiryo UI" panose="020B0604030504040204" pitchFamily="50" charset="-128"/>
                <a:ea typeface="Meiryo UI" panose="020B0604030504040204" pitchFamily="50" charset="-128"/>
                <a:cs typeface="Meiryo UI" panose="020B0604030504040204" pitchFamily="50" charset="-128"/>
              </a:rPr>
              <a:t> </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in Platform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Element Layer</a:t>
            </a:r>
            <a:endParaRPr lang="en-US" altLang="ja-JP" sz="2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角丸四角形 12"/>
          <p:cNvSpPr/>
          <p:nvPr/>
        </p:nvSpPr>
        <p:spPr bwMode="auto">
          <a:xfrm>
            <a:off x="291617" y="1782266"/>
            <a:ext cx="7953583" cy="650391"/>
          </a:xfrm>
          <a:prstGeom prst="roundRect">
            <a:avLst/>
          </a:prstGeom>
          <a:solidFill>
            <a:srgbClr val="FFFF9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Process Management</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Manages </a:t>
            </a:r>
            <a:r>
              <a:rPr kumimoji="0" lang="en-US" altLang="ja-JP"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a:t>
            </a: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process.</a:t>
            </a:r>
            <a:r>
              <a:rPr kumimoji="0" lang="en-US" altLang="ja-JP" sz="1400" b="0" i="0" u="none" strike="noStrike" kern="0" cap="none" spc="0" normalizeH="0" baseline="0" noProof="0" dirty="0" smtClean="0">
                <a:ln>
                  <a:noFill/>
                </a:ln>
                <a:solidFill>
                  <a:srgbClr val="FFFFFF"/>
                </a:solidFill>
                <a:effectLst/>
                <a:uLnTx/>
                <a:uFillTx/>
                <a:latin typeface="Times New Roman"/>
                <a:ea typeface="ＭＳ Ｐゴシック"/>
                <a:cs typeface="+mn-cs"/>
              </a:rPr>
              <a:t>.</a:t>
            </a:r>
            <a:endPar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角丸四角形 13"/>
          <p:cNvSpPr/>
          <p:nvPr/>
        </p:nvSpPr>
        <p:spPr bwMode="auto">
          <a:xfrm>
            <a:off x="287364" y="1053530"/>
            <a:ext cx="7957837" cy="650391"/>
          </a:xfrm>
          <a:prstGeom prst="roundRect">
            <a:avLst/>
          </a:prstGeom>
          <a:solidFill>
            <a:srgbClr val="FFFF9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C00000"/>
                </a:solidFill>
                <a:effectLst/>
                <a:uLnTx/>
                <a:uFillTx/>
                <a:latin typeface="Meiryo UI" panose="020B0604030504040204" pitchFamily="50" charset="-128"/>
                <a:ea typeface="Meiryo UI" panose="020B0604030504040204" pitchFamily="50" charset="-128"/>
                <a:cs typeface="Meiryo UI" panose="020B0604030504040204" pitchFamily="50" charset="-128"/>
              </a:rPr>
              <a:t>Virtual Device Control</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the framework </a:t>
            </a: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and </a:t>
            </a:r>
            <a:r>
              <a:rPr kumimoji="0" lang="en-US" altLang="ja-JP"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means to operate virtual devices</a:t>
            </a:r>
            <a:r>
              <a:rPr kumimoji="0" lang="en-US" altLang="ja-JP" sz="14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p:txBody>
      </p:sp>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422" y="2739405"/>
            <a:ext cx="16383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794" y="2739405"/>
            <a:ext cx="21717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7" name="表 16"/>
          <p:cNvGraphicFramePr>
            <a:graphicFrameLocks noGrp="1"/>
          </p:cNvGraphicFramePr>
          <p:nvPr>
            <p:extLst>
              <p:ext uri="{D42A27DB-BD31-4B8C-83A1-F6EECF244321}">
                <p14:modId xmlns:p14="http://schemas.microsoft.com/office/powerpoint/2010/main" val="1229639309"/>
              </p:ext>
            </p:extLst>
          </p:nvPr>
        </p:nvGraphicFramePr>
        <p:xfrm>
          <a:off x="457200" y="4936023"/>
          <a:ext cx="8231188" cy="1158067"/>
        </p:xfrm>
        <a:graphic>
          <a:graphicData uri="http://schemas.openxmlformats.org/drawingml/2006/table">
            <a:tbl>
              <a:tblPr/>
              <a:tblGrid>
                <a:gridCol w="2185481"/>
                <a:gridCol w="902699"/>
                <a:gridCol w="807678"/>
                <a:gridCol w="4335330"/>
              </a:tblGrid>
              <a:tr h="30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9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50776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Bluetooth Profile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vdcBTP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ntcBTSPP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ctr"/>
                      <a:r>
                        <a:rPr lang="en-US" sz="900" b="0" i="0" u="none" strike="noStrike">
                          <a:solidFill>
                            <a:srgbClr val="000000"/>
                          </a:solidFill>
                          <a:effectLst/>
                          <a:latin typeface="Meiryo UI"/>
                        </a:rPr>
                        <a:t>Bluetooth of virtual device has been extracted from Network Communication, and has been created into new package and placed here. No other change except the abbreviated name has been made.</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47420">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Process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ppmPRCM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a:solidFill>
                            <a:srgbClr val="000000"/>
                          </a:solidFill>
                          <a:effectLst/>
                          <a:latin typeface="Meiryo UI"/>
                        </a:rPr>
                        <a:t>sysPRCM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900" b="0" i="0" u="none" strike="noStrike" dirty="0">
                          <a:solidFill>
                            <a:srgbClr val="000000"/>
                          </a:solidFill>
                          <a:effectLst/>
                          <a:latin typeface="Meiryo UI"/>
                        </a:rPr>
                        <a:t>Responsibility to manage the platform process has been extracted from </a:t>
                      </a:r>
                      <a:r>
                        <a:rPr lang="en-US" sz="900" b="0" i="0" u="none" strike="noStrike" dirty="0" err="1">
                          <a:solidFill>
                            <a:srgbClr val="000000"/>
                          </a:solidFill>
                          <a:effectLst/>
                          <a:latin typeface="Meiryo UI"/>
                        </a:rPr>
                        <a:t>sysPRCM</a:t>
                      </a:r>
                      <a:r>
                        <a:rPr lang="en-US" sz="900" b="0" i="0" u="none" strike="noStrike" dirty="0">
                          <a:solidFill>
                            <a:srgbClr val="000000"/>
                          </a:solidFill>
                          <a:effectLst/>
                          <a:latin typeface="Meiryo UI"/>
                        </a:rPr>
                        <a:t> and placed here.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28</a:t>
            </a:fld>
            <a:endParaRPr kumimoji="1" lang="ja-JP" altLang="en-US" dirty="0">
              <a:latin typeface="Meiryo UI" pitchFamily="50" charset="-128"/>
              <a:ea typeface="Meiryo UI" pitchFamily="50" charset="-128"/>
              <a:cs typeface="Meiryo UI" pitchFamily="50" charset="-128"/>
            </a:endParaRPr>
          </a:p>
        </p:txBody>
      </p:sp>
      <p:sp>
        <p:nvSpPr>
          <p:cNvPr id="12" name="タイトル 4"/>
          <p:cNvSpPr>
            <a:spLocks noGrp="1"/>
          </p:cNvSpPr>
          <p:nvPr>
            <p:ph type="title"/>
          </p:nvPr>
        </p:nvSpPr>
        <p:spPr>
          <a:xfrm>
            <a:off x="1581172" y="-3288"/>
            <a:ext cx="6049963" cy="504527"/>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OS Library and </a:t>
            </a:r>
            <a:b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b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Base Mechanism </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Package</a:t>
            </a:r>
          </a:p>
        </p:txBody>
      </p:sp>
      <p:sp>
        <p:nvSpPr>
          <p:cNvPr id="13" name="角丸四角形 12"/>
          <p:cNvSpPr/>
          <p:nvPr/>
        </p:nvSpPr>
        <p:spPr bwMode="auto">
          <a:xfrm>
            <a:off x="260340" y="1053530"/>
            <a:ext cx="4240446" cy="970478"/>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OS Library</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the operational means in order to use the technological elements that are directly connected to OS base element.</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4"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1861" y="2191916"/>
            <a:ext cx="2828925" cy="188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32834" y="2191916"/>
            <a:ext cx="1524000"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角丸四角形 15"/>
          <p:cNvSpPr/>
          <p:nvPr/>
        </p:nvSpPr>
        <p:spPr bwMode="auto">
          <a:xfrm>
            <a:off x="4612811" y="1048892"/>
            <a:ext cx="4240446" cy="786598"/>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Base Mechanism</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the basic structure and mechanism element as architectural mechanism to the whole system.</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7" name="表 16"/>
          <p:cNvGraphicFramePr>
            <a:graphicFrameLocks noGrp="1"/>
          </p:cNvGraphicFramePr>
          <p:nvPr>
            <p:extLst>
              <p:ext uri="{D42A27DB-BD31-4B8C-83A1-F6EECF244321}">
                <p14:modId xmlns:p14="http://schemas.microsoft.com/office/powerpoint/2010/main" val="942545409"/>
              </p:ext>
            </p:extLst>
          </p:nvPr>
        </p:nvGraphicFramePr>
        <p:xfrm>
          <a:off x="457200" y="4217604"/>
          <a:ext cx="8231188" cy="2380542"/>
        </p:xfrm>
        <a:graphic>
          <a:graphicData uri="http://schemas.openxmlformats.org/drawingml/2006/table">
            <a:tbl>
              <a:tblPr/>
              <a:tblGrid>
                <a:gridCol w="1785486"/>
                <a:gridCol w="950965"/>
                <a:gridCol w="982503"/>
                <a:gridCol w="4512234"/>
              </a:tblGrid>
              <a:tr h="24751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27663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Security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oslSCR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oslSCR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Added oslMDEV's securitykit, activation and satahcutil（encryption logic) to WC3's oslSCR.</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Buffer Management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oslBUF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oslBUF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106551">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System Device Logic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oslSDL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oslMDEV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The logic of system device operation has been separated from osIMDEV that provides I/F that uses mixed devices, and placed here.</a:t>
                      </a:r>
                      <a:br>
                        <a:rPr lang="en-US" sz="800" b="0" i="0" u="none" strike="noStrike">
                          <a:solidFill>
                            <a:srgbClr val="000000"/>
                          </a:solidFill>
                          <a:effectLst/>
                          <a:latin typeface="Meiryo UI"/>
                        </a:rPr>
                      </a:br>
                      <a:r>
                        <a:rPr lang="en-US" sz="800" b="0" i="0" u="none" strike="noStrike">
                          <a:solidFill>
                            <a:srgbClr val="000000"/>
                          </a:solidFill>
                          <a:effectLst/>
                          <a:latin typeface="Meiryo UI"/>
                        </a:rPr>
                        <a:t>*The following Mdev in WiseCore3 corresponds:</a:t>
                      </a:r>
                      <a:br>
                        <a:rPr lang="en-US" sz="800" b="0" i="0" u="none" strike="noStrike">
                          <a:solidFill>
                            <a:srgbClr val="000000"/>
                          </a:solidFill>
                          <a:effectLst/>
                          <a:latin typeface="Meiryo UI"/>
                        </a:rPr>
                      </a:br>
                      <a:r>
                        <a:rPr lang="en-US" sz="800" b="0" i="0" u="none" strike="noStrike">
                          <a:solidFill>
                            <a:srgbClr val="000000"/>
                          </a:solidFill>
                          <a:effectLst/>
                          <a:latin typeface="Meiryo UI"/>
                        </a:rPr>
                        <a:t>osl_mdev_coltbl_dev</a:t>
                      </a:r>
                      <a:br>
                        <a:rPr lang="en-US" sz="800" b="0" i="0" u="none" strike="noStrike">
                          <a:solidFill>
                            <a:srgbClr val="000000"/>
                          </a:solidFill>
                          <a:effectLst/>
                          <a:latin typeface="Meiryo UI"/>
                        </a:rPr>
                      </a:br>
                      <a:r>
                        <a:rPr lang="en-US" sz="800" b="0" i="0" u="none" strike="noStrike">
                          <a:solidFill>
                            <a:srgbClr val="000000"/>
                          </a:solidFill>
                          <a:effectLst/>
                          <a:latin typeface="Meiryo UI"/>
                        </a:rPr>
                        <a:t>osl_mdev_iomem</a:t>
                      </a:r>
                      <a:br>
                        <a:rPr lang="en-US" sz="800" b="0" i="0" u="none" strike="noStrike">
                          <a:solidFill>
                            <a:srgbClr val="000000"/>
                          </a:solidFill>
                          <a:effectLst/>
                          <a:latin typeface="Meiryo UI"/>
                        </a:rPr>
                      </a:br>
                      <a:r>
                        <a:rPr lang="en-US" sz="800" b="0" i="0" u="none" strike="noStrike">
                          <a:solidFill>
                            <a:srgbClr val="000000"/>
                          </a:solidFill>
                          <a:effectLst/>
                          <a:latin typeface="Meiryo UI"/>
                        </a:rPr>
                        <a:t>osl_mdev_upd</a:t>
                      </a:r>
                      <a:br>
                        <a:rPr lang="en-US" sz="800" b="0" i="0" u="none" strike="noStrike">
                          <a:solidFill>
                            <a:srgbClr val="000000"/>
                          </a:solidFill>
                          <a:effectLst/>
                          <a:latin typeface="Meiryo UI"/>
                        </a:rPr>
                      </a:br>
                      <a:r>
                        <a:rPr lang="en-US" sz="800" b="0" i="0" u="none" strike="noStrike">
                          <a:solidFill>
                            <a:srgbClr val="000000"/>
                          </a:solidFill>
                          <a:effectLst/>
                          <a:latin typeface="Meiryo UI"/>
                        </a:rPr>
                        <a:t>osl_mdev_rpcode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015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External Buffer Management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oslEBUF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oslEXBUF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8391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Mechanism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bmcMC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bmcMC</a:t>
                      </a:r>
                      <a:br>
                        <a:rPr lang="en-US" sz="800" b="0" i="0" u="none" strike="noStrike">
                          <a:solidFill>
                            <a:srgbClr val="000000"/>
                          </a:solidFill>
                          <a:effectLst/>
                          <a:latin typeface="Meiryo UI"/>
                        </a:rPr>
                      </a:br>
                      <a:r>
                        <a:rPr lang="en-US" sz="800" b="0" i="0" u="none" strike="noStrike">
                          <a:solidFill>
                            <a:srgbClr val="000000"/>
                          </a:solidFill>
                          <a:effectLst/>
                          <a:latin typeface="Meiryo UI"/>
                        </a:rPr>
                        <a:t>oslDIC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OS Wrapper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bmcOWP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bmcOWP</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29</a:t>
            </a:fld>
            <a:endParaRPr kumimoji="1" lang="ja-JP" altLang="en-US" dirty="0">
              <a:latin typeface="Meiryo UI" pitchFamily="50" charset="-128"/>
              <a:ea typeface="Meiryo UI" pitchFamily="50" charset="-128"/>
              <a:cs typeface="Meiryo UI" pitchFamily="50" charset="-128"/>
            </a:endParaRPr>
          </a:p>
        </p:txBody>
      </p:sp>
      <p:sp>
        <p:nvSpPr>
          <p:cNvPr id="12" name="タイトル 4"/>
          <p:cNvSpPr>
            <a:spLocks noGrp="1"/>
          </p:cNvSpPr>
          <p:nvPr>
            <p:ph type="title"/>
          </p:nvPr>
        </p:nvSpPr>
        <p:spPr>
          <a:xfrm>
            <a:off x="1581172" y="-346"/>
            <a:ext cx="6049963" cy="504527"/>
          </a:xfrm>
        </p:spPr>
        <p:txBody>
          <a:bodyPr/>
          <a:lstStyle/>
          <a:p>
            <a:pPr lvl="1" algn="ct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Platform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Entity </a:t>
            </a:r>
            <a:b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b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and Database </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Package</a:t>
            </a:r>
          </a:p>
        </p:txBody>
      </p:sp>
      <p:sp>
        <p:nvSpPr>
          <p:cNvPr id="13" name="角丸四角形 12"/>
          <p:cNvSpPr/>
          <p:nvPr/>
        </p:nvSpPr>
        <p:spPr bwMode="auto">
          <a:xfrm>
            <a:off x="241993" y="1051211"/>
            <a:ext cx="4240446" cy="786598"/>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Platform Entity</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Manages and holds the data related to platform, provides data operation</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4"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386" y="2081808"/>
            <a:ext cx="5410200" cy="192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3944" y="2153816"/>
            <a:ext cx="1619250"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6" name="表 15"/>
          <p:cNvGraphicFramePr>
            <a:graphicFrameLocks noGrp="1"/>
          </p:cNvGraphicFramePr>
          <p:nvPr>
            <p:extLst>
              <p:ext uri="{D42A27DB-BD31-4B8C-83A1-F6EECF244321}">
                <p14:modId xmlns:p14="http://schemas.microsoft.com/office/powerpoint/2010/main" val="3710084077"/>
              </p:ext>
            </p:extLst>
          </p:nvPr>
        </p:nvGraphicFramePr>
        <p:xfrm>
          <a:off x="457200" y="4094635"/>
          <a:ext cx="8231188" cy="2431503"/>
        </p:xfrm>
        <a:graphic>
          <a:graphicData uri="http://schemas.openxmlformats.org/drawingml/2006/table">
            <a:tbl>
              <a:tblPr/>
              <a:tblGrid>
                <a:gridCol w="1785486"/>
                <a:gridCol w="950965"/>
                <a:gridCol w="982503"/>
                <a:gridCol w="4512234"/>
              </a:tblGrid>
              <a:tr h="24751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27663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Platform Service Information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entPSI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entJBINF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Information necessary for the performance of the platform is assembled and newly deployed.</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Document Box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entBOX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entBOX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11">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The responsibility for information managed by the feature is transferred to each package of the Application Layer. There is no other responsibility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User Account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entUSRAC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entUSRAC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Reservation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entRSV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entRSV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Log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entLOG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entLOG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System Status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entSTS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entSTS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System Setting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entSET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entSET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Counter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entCNT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entCNT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Document Page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entDOCPG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entDOCPG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Department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entDEPT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entDEPT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External Document Page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entEDCPG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entExDOCPG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4559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Address Book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entADBK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entADBK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kumimoji="1" lang="ja-JP" altLang="en-US"/>
                    </a:p>
                  </a:txBody>
                  <a:tcPr/>
                </a:tc>
              </a:tr>
              <a:tr h="15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MFP Entity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dbsME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dbsME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dbsDB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dbsDB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17" name="角丸四角形 16"/>
          <p:cNvSpPr/>
          <p:nvPr/>
        </p:nvSpPr>
        <p:spPr bwMode="auto">
          <a:xfrm>
            <a:off x="4648770" y="1051211"/>
            <a:ext cx="4240446" cy="602718"/>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Database</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the means to manage data.</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30</a:t>
            </a:fld>
            <a:endParaRPr kumimoji="1" lang="ja-JP" altLang="en-US" dirty="0">
              <a:latin typeface="Meiryo UI" pitchFamily="50" charset="-128"/>
              <a:ea typeface="Meiryo UI" pitchFamily="50" charset="-128"/>
              <a:cs typeface="Meiryo UI" pitchFamily="50" charset="-128"/>
            </a:endParaRPr>
          </a:p>
        </p:txBody>
      </p:sp>
      <p:sp>
        <p:nvSpPr>
          <p:cNvPr id="16"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Device Unit </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Package</a:t>
            </a:r>
          </a:p>
        </p:txBody>
      </p:sp>
      <p:sp>
        <p:nvSpPr>
          <p:cNvPr id="17" name="角丸四角形 16"/>
          <p:cNvSpPr/>
          <p:nvPr/>
        </p:nvSpPr>
        <p:spPr bwMode="auto">
          <a:xfrm>
            <a:off x="325791" y="713714"/>
            <a:ext cx="8207443" cy="555046"/>
          </a:xfrm>
          <a:prstGeom prst="roundRect">
            <a:avLst/>
          </a:prstGeom>
          <a:solidFill>
            <a:srgbClr val="FFC00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90000"/>
              </a:lnSpc>
              <a:spcBef>
                <a:spcPct val="50000"/>
              </a:spcBef>
              <a:spcAft>
                <a:spcPct val="0"/>
              </a:spcAft>
              <a:buClrTx/>
              <a:buSzTx/>
              <a:buFontTx/>
              <a:buNone/>
              <a:tabLst/>
            </a:pPr>
            <a:r>
              <a:rPr lang="en-US" altLang="ja-JP" sz="14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Device Unit</a:t>
            </a:r>
            <a:endParaRPr lang="en-US" altLang="ja-JP" sz="1400" b="1" dirty="0" smtClean="0">
              <a:solidFill>
                <a:srgbClr val="0070C0"/>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400" b="1" dirty="0" smtClean="0">
                <a:solidFill>
                  <a:schemeClr val="tx1"/>
                </a:solidFill>
                <a:latin typeface="Meiryo UI" panose="020B0604030504040204" pitchFamily="50" charset="-128"/>
                <a:ea typeface="Meiryo UI" panose="020B0604030504040204" pitchFamily="50" charset="-128"/>
                <a:cs typeface="Meiryo UI" panose="020B0604030504040204" pitchFamily="50" charset="-128"/>
              </a:rPr>
              <a:t>Provides </a:t>
            </a:r>
            <a:r>
              <a:rPr lang="en-US" altLang="ja-JP" sz="14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concrete means to operate </a:t>
            </a:r>
            <a:r>
              <a:rPr lang="en-US" altLang="ja-JP" sz="1400" b="1" dirty="0" smtClean="0">
                <a:solidFill>
                  <a:schemeClr val="tx1"/>
                </a:solidFill>
                <a:latin typeface="Meiryo UI" panose="020B0604030504040204" pitchFamily="50" charset="-128"/>
                <a:ea typeface="Meiryo UI" panose="020B0604030504040204" pitchFamily="50" charset="-128"/>
                <a:cs typeface="Meiryo UI" panose="020B0604030504040204" pitchFamily="50" charset="-128"/>
              </a:rPr>
              <a:t>devices.</a:t>
            </a:r>
            <a:endParaRPr lang="ja-JP" altLang="ja-JP" sz="14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9" name="表 18"/>
          <p:cNvGraphicFramePr>
            <a:graphicFrameLocks noGrp="1"/>
          </p:cNvGraphicFramePr>
          <p:nvPr>
            <p:extLst>
              <p:ext uri="{D42A27DB-BD31-4B8C-83A1-F6EECF244321}">
                <p14:modId xmlns:p14="http://schemas.microsoft.com/office/powerpoint/2010/main" val="688856355"/>
              </p:ext>
            </p:extLst>
          </p:nvPr>
        </p:nvGraphicFramePr>
        <p:xfrm>
          <a:off x="889247" y="3508366"/>
          <a:ext cx="7715995" cy="3233796"/>
        </p:xfrm>
        <a:graphic>
          <a:graphicData uri="http://schemas.openxmlformats.org/drawingml/2006/table">
            <a:tbl>
              <a:tblPr/>
              <a:tblGrid>
                <a:gridCol w="1673732"/>
                <a:gridCol w="891444"/>
                <a:gridCol w="921008"/>
                <a:gridCol w="4229811"/>
              </a:tblGrid>
              <a:tr h="221962">
                <a:tc>
                  <a:txBody>
                    <a:bodyPr/>
                    <a:lstStyle/>
                    <a:p>
                      <a:pPr algn="ctr" fontAlgn="ctr"/>
                      <a:r>
                        <a:rPr lang="en-US" sz="8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ctr"/>
                      <a:r>
                        <a:rPr lang="en-US" sz="8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ctr"/>
                      <a:r>
                        <a:rPr lang="en-US" sz="8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ctr"/>
                      <a:r>
                        <a:rPr lang="en-US" sz="8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r>
              <a:tr h="137094">
                <a:tc>
                  <a:txBody>
                    <a:bodyPr/>
                    <a:lstStyle/>
                    <a:p>
                      <a:pPr algn="l" fontAlgn="t"/>
                      <a:r>
                        <a:rPr lang="en-US" sz="800" b="0" i="0" u="none" strike="noStrike">
                          <a:solidFill>
                            <a:srgbClr val="000000"/>
                          </a:solidFill>
                          <a:effectLst/>
                          <a:latin typeface="Meiryo UI"/>
                        </a:rPr>
                        <a:t>Scan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dvuSCN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dvuSCN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094">
                <a:tc>
                  <a:txBody>
                    <a:bodyPr/>
                    <a:lstStyle/>
                    <a:p>
                      <a:pPr algn="l" fontAlgn="t"/>
                      <a:r>
                        <a:rPr lang="en-US" sz="800" b="0" i="0" u="none" strike="noStrike">
                          <a:solidFill>
                            <a:srgbClr val="000000"/>
                          </a:solidFill>
                          <a:effectLst/>
                          <a:latin typeface="Meiryo UI"/>
                        </a:rPr>
                        <a:t>Print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dvuPRT / dvuEPRT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dvuEPRT has been integrated to dvuPRT. No change in responsibility.</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094">
                <a:tc>
                  <a:txBody>
                    <a:bodyPr/>
                    <a:lstStyle/>
                    <a:p>
                      <a:pPr algn="l" fontAlgn="t"/>
                      <a:r>
                        <a:rPr lang="en-US" sz="800" b="0" i="0" u="none" strike="noStrike">
                          <a:solidFill>
                            <a:srgbClr val="000000"/>
                          </a:solidFill>
                          <a:effectLst/>
                          <a:latin typeface="Meiryo UI"/>
                        </a:rPr>
                        <a:t>Fax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dvuFAX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dvuFAX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094">
                <a:tc>
                  <a:txBody>
                    <a:bodyPr/>
                    <a:lstStyle/>
                    <a:p>
                      <a:pPr algn="l" fontAlgn="t"/>
                      <a:r>
                        <a:rPr lang="en-US" sz="800" b="0" i="0" u="none" strike="noStrike">
                          <a:solidFill>
                            <a:srgbClr val="000000"/>
                          </a:solidFill>
                          <a:effectLst/>
                          <a:latin typeface="Meiryo UI"/>
                        </a:rPr>
                        <a:t>Host IO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dvuHIO</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dvuHIO</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094">
                <a:tc>
                  <a:txBody>
                    <a:bodyPr/>
                    <a:lstStyle/>
                    <a:p>
                      <a:pPr algn="l" fontAlgn="t"/>
                      <a:r>
                        <a:rPr lang="en-US" sz="800" b="0" i="0" u="none" strike="noStrike">
                          <a:solidFill>
                            <a:srgbClr val="000000"/>
                          </a:solidFill>
                          <a:effectLst/>
                          <a:latin typeface="Meiryo UI"/>
                        </a:rPr>
                        <a:t>Account Device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dvuACC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dvuACC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094">
                <a:tc>
                  <a:txBody>
                    <a:bodyPr/>
                    <a:lstStyle/>
                    <a:p>
                      <a:pPr algn="l" fontAlgn="t"/>
                      <a:r>
                        <a:rPr lang="en-US" sz="800" b="0" i="0" u="none" strike="noStrike">
                          <a:solidFill>
                            <a:srgbClr val="000000"/>
                          </a:solidFill>
                          <a:effectLst/>
                          <a:latin typeface="Meiryo UI"/>
                        </a:rPr>
                        <a:t>Disk IO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dvuDIO</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dvuDIO</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No change. Add requirement of osl_mdev_mount.</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094">
                <a:tc>
                  <a:txBody>
                    <a:bodyPr/>
                    <a:lstStyle/>
                    <a:p>
                      <a:pPr algn="l" fontAlgn="t"/>
                      <a:r>
                        <a:rPr lang="en-US" sz="800" b="0" i="0" u="none" strike="noStrike">
                          <a:solidFill>
                            <a:srgbClr val="000000"/>
                          </a:solidFill>
                          <a:effectLst/>
                          <a:latin typeface="Meiryo UI"/>
                        </a:rPr>
                        <a:t>Panel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dvuPNL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37094">
                <a:tc>
                  <a:txBody>
                    <a:bodyPr/>
                    <a:lstStyle/>
                    <a:p>
                      <a:pPr algn="l" fontAlgn="t"/>
                      <a:r>
                        <a:rPr lang="en-US" sz="800" b="0" i="0" u="none" strike="noStrike">
                          <a:solidFill>
                            <a:srgbClr val="000000"/>
                          </a:solidFill>
                          <a:effectLst/>
                          <a:latin typeface="Meiryo UI"/>
                        </a:rPr>
                        <a:t>External Video Input Device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dvuEVI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dvuEVI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646301">
                <a:tc>
                  <a:txBody>
                    <a:bodyPr/>
                    <a:lstStyle/>
                    <a:p>
                      <a:pPr algn="l" fontAlgn="t"/>
                      <a:r>
                        <a:rPr lang="en-US" sz="800" b="0" i="0" u="none" strike="noStrike">
                          <a:solidFill>
                            <a:srgbClr val="000000"/>
                          </a:solidFill>
                          <a:effectLst/>
                          <a:latin typeface="Meiryo UI"/>
                        </a:rPr>
                        <a:t>Memory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dvuMEM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oslMDEV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Memory devices were collectively separated from osIMDEV that provides I/F that uses mixed devices, and placed here.</a:t>
                      </a:r>
                      <a:br>
                        <a:rPr lang="en-US" sz="800" b="0" i="0" u="none" strike="noStrike">
                          <a:solidFill>
                            <a:srgbClr val="000000"/>
                          </a:solidFill>
                          <a:effectLst/>
                          <a:latin typeface="Meiryo UI"/>
                        </a:rPr>
                      </a:br>
                      <a:r>
                        <a:rPr lang="en-US" sz="800" b="0" i="0" u="none" strike="noStrike">
                          <a:solidFill>
                            <a:srgbClr val="000000"/>
                          </a:solidFill>
                          <a:effectLst/>
                          <a:latin typeface="Meiryo UI"/>
                        </a:rPr>
                        <a:t>*The following Mdev in WiseCore3 corresponds:</a:t>
                      </a:r>
                      <a:br>
                        <a:rPr lang="en-US" sz="800" b="0" i="0" u="none" strike="noStrike">
                          <a:solidFill>
                            <a:srgbClr val="000000"/>
                          </a:solidFill>
                          <a:effectLst/>
                          <a:latin typeface="Meiryo UI"/>
                        </a:rPr>
                      </a:br>
                      <a:r>
                        <a:rPr lang="en-US" sz="800" b="0" i="0" u="none" strike="noStrike">
                          <a:solidFill>
                            <a:srgbClr val="000000"/>
                          </a:solidFill>
                          <a:effectLst/>
                          <a:latin typeface="Meiryo UI"/>
                        </a:rPr>
                        <a:t>　env_oplt_eprom / osl_mdev_memchk / osl_mdev_sanitization</a:t>
                      </a:r>
                      <a:br>
                        <a:rPr lang="en-US" sz="800" b="0" i="0" u="none" strike="noStrike">
                          <a:solidFill>
                            <a:srgbClr val="000000"/>
                          </a:solidFill>
                          <a:effectLst/>
                          <a:latin typeface="Meiryo UI"/>
                        </a:rPr>
                      </a:br>
                      <a:r>
                        <a:rPr lang="en-US" sz="800" b="0" i="0" u="none" strike="noStrike">
                          <a:solidFill>
                            <a:srgbClr val="000000"/>
                          </a:solidFill>
                          <a:effectLst/>
                          <a:latin typeface="Meiryo UI"/>
                        </a:rPr>
                        <a:t>　flash / env_oplt_flash、env_nvram_write / osl_mdev_amc / osl_mdev_env</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509206">
                <a:tc>
                  <a:txBody>
                    <a:bodyPr/>
                    <a:lstStyle/>
                    <a:p>
                      <a:pPr algn="l" fontAlgn="t"/>
                      <a:r>
                        <a:rPr lang="en-US" sz="800" b="0" i="0" u="none" strike="noStrike">
                          <a:solidFill>
                            <a:srgbClr val="000000"/>
                          </a:solidFill>
                          <a:effectLst/>
                          <a:latin typeface="Meiryo UI"/>
                        </a:rPr>
                        <a:t>Detectable Unit Handler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dvuDUH</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oslMDEV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The detachable devices were collectively separated from osIMDEV that provides I/F that uses mixed devices, and placed here.</a:t>
                      </a:r>
                      <a:br>
                        <a:rPr lang="en-US" sz="800" b="0" i="0" u="none" strike="noStrike">
                          <a:solidFill>
                            <a:srgbClr val="000000"/>
                          </a:solidFill>
                          <a:effectLst/>
                          <a:latin typeface="Meiryo UI"/>
                        </a:rPr>
                      </a:br>
                      <a:r>
                        <a:rPr lang="en-US" sz="800" b="0" i="0" u="none" strike="noStrike">
                          <a:solidFill>
                            <a:srgbClr val="000000"/>
                          </a:solidFill>
                          <a:effectLst/>
                          <a:latin typeface="Meiryo UI"/>
                        </a:rPr>
                        <a:t>*The following Mdev in WiseCore3 corresponds</a:t>
                      </a:r>
                      <a:br>
                        <a:rPr lang="en-US" sz="800" b="0" i="0" u="none" strike="noStrike">
                          <a:solidFill>
                            <a:srgbClr val="000000"/>
                          </a:solidFill>
                          <a:effectLst/>
                          <a:latin typeface="Meiryo UI"/>
                        </a:rPr>
                      </a:br>
                      <a:r>
                        <a:rPr lang="en-US" sz="800" b="0" i="0" u="none" strike="noStrike">
                          <a:solidFill>
                            <a:srgbClr val="000000"/>
                          </a:solidFill>
                          <a:effectLst/>
                          <a:latin typeface="Meiryo UI"/>
                        </a:rPr>
                        <a:t>　osl_mdev_event_q（including dvuOBS）/ osl_mdev_usbtest / libUSBKuio</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652829">
                <a:tc>
                  <a:txBody>
                    <a:bodyPr/>
                    <a:lstStyle/>
                    <a:p>
                      <a:pPr algn="l" fontAlgn="t"/>
                      <a:r>
                        <a:rPr lang="en-US" sz="800" b="0" i="0" u="none" strike="noStrike">
                          <a:solidFill>
                            <a:srgbClr val="000000"/>
                          </a:solidFill>
                          <a:effectLst/>
                          <a:latin typeface="Meiryo UI"/>
                        </a:rPr>
                        <a:t>System Device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dvuSDV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a:solidFill>
                            <a:srgbClr val="000000"/>
                          </a:solidFill>
                          <a:effectLst/>
                          <a:latin typeface="Meiryo UI"/>
                        </a:rPr>
                        <a:t>oslMDEV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sz="800" b="0" i="0" u="none" strike="noStrike" dirty="0">
                          <a:solidFill>
                            <a:srgbClr val="000000"/>
                          </a:solidFill>
                          <a:effectLst/>
                          <a:latin typeface="Meiryo UI"/>
                        </a:rPr>
                        <a:t>The system devices were collectively separated from </a:t>
                      </a:r>
                      <a:r>
                        <a:rPr lang="en-US" sz="800" b="0" i="0" u="none" strike="noStrike" dirty="0" err="1">
                          <a:solidFill>
                            <a:srgbClr val="000000"/>
                          </a:solidFill>
                          <a:effectLst/>
                          <a:latin typeface="Meiryo UI"/>
                        </a:rPr>
                        <a:t>osIMDEV</a:t>
                      </a:r>
                      <a:r>
                        <a:rPr lang="en-US" sz="800" b="0" i="0" u="none" strike="noStrike" dirty="0">
                          <a:solidFill>
                            <a:srgbClr val="000000"/>
                          </a:solidFill>
                          <a:effectLst/>
                          <a:latin typeface="Meiryo UI"/>
                        </a:rPr>
                        <a:t> that provides I/F that uses mixed devices, and placed here.</a:t>
                      </a:r>
                      <a:br>
                        <a:rPr lang="en-US" sz="800" b="0" i="0" u="none" strike="noStrike" dirty="0">
                          <a:solidFill>
                            <a:srgbClr val="000000"/>
                          </a:solidFill>
                          <a:effectLst/>
                          <a:latin typeface="Meiryo UI"/>
                        </a:rPr>
                      </a:br>
                      <a:r>
                        <a:rPr lang="en-US" sz="800" b="0" i="0" u="none" strike="noStrike" dirty="0">
                          <a:solidFill>
                            <a:srgbClr val="000000"/>
                          </a:solidFill>
                          <a:effectLst/>
                          <a:latin typeface="Meiryo UI"/>
                        </a:rPr>
                        <a:t>*The following </a:t>
                      </a:r>
                      <a:r>
                        <a:rPr lang="en-US" sz="800" b="0" i="0" u="none" strike="noStrike" dirty="0" err="1">
                          <a:solidFill>
                            <a:srgbClr val="000000"/>
                          </a:solidFill>
                          <a:effectLst/>
                          <a:latin typeface="Meiryo UI"/>
                        </a:rPr>
                        <a:t>Mdev</a:t>
                      </a:r>
                      <a:r>
                        <a:rPr lang="en-US" sz="800" b="0" i="0" u="none" strike="noStrike" dirty="0">
                          <a:solidFill>
                            <a:srgbClr val="000000"/>
                          </a:solidFill>
                          <a:effectLst/>
                          <a:latin typeface="Meiryo UI"/>
                        </a:rPr>
                        <a:t> in WiseCore3 corresponds:</a:t>
                      </a:r>
                      <a:br>
                        <a:rPr lang="en-US" sz="800" b="0" i="0" u="none" strike="noStrike" dirty="0">
                          <a:solidFill>
                            <a:srgbClr val="000000"/>
                          </a:solidFill>
                          <a:effectLst/>
                          <a:latin typeface="Meiryo UI"/>
                        </a:rPr>
                      </a:br>
                      <a:r>
                        <a:rPr lang="en-US" sz="800" b="0" i="0" u="none" strike="noStrike" dirty="0">
                          <a:solidFill>
                            <a:srgbClr val="000000"/>
                          </a:solidFill>
                          <a:effectLst/>
                          <a:latin typeface="Meiryo UI"/>
                        </a:rPr>
                        <a:t>　</a:t>
                      </a:r>
                      <a:r>
                        <a:rPr lang="en-US" sz="800" b="0" i="0" u="none" strike="noStrike" dirty="0" err="1">
                          <a:solidFill>
                            <a:srgbClr val="000000"/>
                          </a:solidFill>
                          <a:effectLst/>
                          <a:latin typeface="Meiryo UI"/>
                        </a:rPr>
                        <a:t>osl_mdev_esu_gpio_api</a:t>
                      </a:r>
                      <a:r>
                        <a:rPr lang="en-US" sz="800" b="0" i="0" u="none" strike="noStrike" dirty="0">
                          <a:solidFill>
                            <a:srgbClr val="000000"/>
                          </a:solidFill>
                          <a:effectLst/>
                          <a:latin typeface="Meiryo UI"/>
                        </a:rPr>
                        <a:t> / </a:t>
                      </a:r>
                      <a:r>
                        <a:rPr lang="en-US" sz="800" b="0" i="0" u="none" strike="noStrike" dirty="0" err="1">
                          <a:solidFill>
                            <a:srgbClr val="000000"/>
                          </a:solidFill>
                          <a:effectLst/>
                          <a:latin typeface="Meiryo UI"/>
                        </a:rPr>
                        <a:t>osl_mdev_gpio</a:t>
                      </a:r>
                      <a:r>
                        <a:rPr lang="en-US" sz="800" b="0" i="0" u="none" strike="noStrike" dirty="0">
                          <a:solidFill>
                            <a:srgbClr val="000000"/>
                          </a:solidFill>
                          <a:effectLst/>
                          <a:latin typeface="Meiryo UI"/>
                        </a:rPr>
                        <a:t> / </a:t>
                      </a:r>
                      <a:r>
                        <a:rPr lang="en-US" sz="800" b="0" i="0" u="none" strike="noStrike" dirty="0" err="1">
                          <a:solidFill>
                            <a:srgbClr val="000000"/>
                          </a:solidFill>
                          <a:effectLst/>
                          <a:latin typeface="Meiryo UI"/>
                        </a:rPr>
                        <a:t>osl_mdev_pmd</a:t>
                      </a:r>
                      <a:r>
                        <a:rPr lang="en-US" sz="800" b="0" i="0" u="none" strike="noStrike" dirty="0">
                          <a:solidFill>
                            <a:srgbClr val="000000"/>
                          </a:solidFill>
                          <a:effectLst/>
                          <a:latin typeface="Meiryo UI"/>
                        </a:rPr>
                        <a:t> / </a:t>
                      </a:r>
                      <a:r>
                        <a:rPr lang="en-US" sz="800" b="0" i="0" u="none" strike="noStrike" dirty="0" err="1">
                          <a:solidFill>
                            <a:srgbClr val="000000"/>
                          </a:solidFill>
                          <a:effectLst/>
                          <a:latin typeface="Meiryo UI"/>
                        </a:rPr>
                        <a:t>osl_mdev_ostask</a:t>
                      </a:r>
                      <a:r>
                        <a:rPr lang="en-US" sz="800" b="0" i="0" u="none" strike="noStrike" dirty="0">
                          <a:solidFill>
                            <a:srgbClr val="000000"/>
                          </a:solidFill>
                          <a:effectLst/>
                          <a:latin typeface="Meiryo UI"/>
                        </a:rPr>
                        <a:t> /</a:t>
                      </a:r>
                      <a:br>
                        <a:rPr lang="en-US" sz="800" b="0" i="0" u="none" strike="noStrike" dirty="0">
                          <a:solidFill>
                            <a:srgbClr val="000000"/>
                          </a:solidFill>
                          <a:effectLst/>
                          <a:latin typeface="Meiryo UI"/>
                        </a:rPr>
                      </a:br>
                      <a:r>
                        <a:rPr lang="en-US" sz="800" b="0" i="0" u="none" strike="noStrike" dirty="0">
                          <a:solidFill>
                            <a:srgbClr val="000000"/>
                          </a:solidFill>
                          <a:effectLst/>
                          <a:latin typeface="Meiryo UI"/>
                        </a:rPr>
                        <a:t>  </a:t>
                      </a:r>
                      <a:r>
                        <a:rPr lang="en-US" sz="800" b="0" i="0" u="none" strike="noStrike" dirty="0" err="1">
                          <a:solidFill>
                            <a:srgbClr val="000000"/>
                          </a:solidFill>
                          <a:effectLst/>
                          <a:latin typeface="Meiryo UI"/>
                        </a:rPr>
                        <a:t>osl_mdev_timezone</a:t>
                      </a:r>
                      <a:r>
                        <a:rPr lang="en-US" sz="800" b="0" i="0" u="none" strike="noStrike" dirty="0">
                          <a:solidFill>
                            <a:srgbClr val="000000"/>
                          </a:solidFill>
                          <a:effectLst/>
                          <a:latin typeface="Meiryo UI"/>
                        </a:rPr>
                        <a:t> / </a:t>
                      </a:r>
                      <a:r>
                        <a:rPr lang="en-US" sz="800" b="0" i="0" u="none" strike="noStrike" dirty="0" err="1">
                          <a:solidFill>
                            <a:srgbClr val="000000"/>
                          </a:solidFill>
                          <a:effectLst/>
                          <a:latin typeface="Meiryo UI"/>
                        </a:rPr>
                        <a:t>osl_mdev_rtc</a:t>
                      </a:r>
                      <a:r>
                        <a:rPr lang="en-US" sz="800" b="0" i="0" u="none" strike="noStrike" dirty="0">
                          <a:solidFill>
                            <a:srgbClr val="000000"/>
                          </a:solidFill>
                          <a:effectLst/>
                          <a:latin typeface="Meiryo UI"/>
                        </a:rPr>
                        <a:t> / </a:t>
                      </a:r>
                      <a:r>
                        <a:rPr lang="en-US" sz="800" b="0" i="0" u="none" strike="noStrike" dirty="0" err="1">
                          <a:solidFill>
                            <a:srgbClr val="000000"/>
                          </a:solidFill>
                          <a:effectLst/>
                          <a:latin typeface="Meiryo UI"/>
                        </a:rPr>
                        <a:t>osl_mdev_sysclk</a:t>
                      </a:r>
                      <a:r>
                        <a:rPr lang="en-US" sz="800" b="0" i="0" u="none" strike="noStrike" dirty="0">
                          <a:solidFill>
                            <a:srgbClr val="000000"/>
                          </a:solidFill>
                          <a:effectLst/>
                          <a:latin typeface="Meiryo UI"/>
                        </a:rPr>
                        <a:t> / </a:t>
                      </a:r>
                      <a:r>
                        <a:rPr lang="en-US" sz="800" b="0" i="0" u="none" strike="noStrike" dirty="0" err="1">
                          <a:solidFill>
                            <a:srgbClr val="000000"/>
                          </a:solidFill>
                          <a:effectLst/>
                          <a:latin typeface="Meiryo UI"/>
                        </a:rPr>
                        <a:t>osl_mdev_ethernet_api</a:t>
                      </a:r>
                      <a:endParaRPr lang="en-US" sz="800" b="0" i="0" u="none" strike="noStrike" dirty="0">
                        <a:solidFill>
                          <a:srgbClr val="000000"/>
                        </a:solidFill>
                        <a:effectLst/>
                        <a:latin typeface="Meiryo UI"/>
                      </a:endParaRP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pic>
        <p:nvPicPr>
          <p:cNvPr id="6146" name="Picture 2"/>
          <p:cNvPicPr>
            <a:picLocks noChangeAspect="1" noChangeArrowheads="1"/>
          </p:cNvPicPr>
          <p:nvPr/>
        </p:nvPicPr>
        <p:blipFill>
          <a:blip r:embed="rId3" cstate="print"/>
          <a:srcRect/>
          <a:stretch>
            <a:fillRect/>
          </a:stretch>
        </p:blipFill>
        <p:spPr bwMode="auto">
          <a:xfrm>
            <a:off x="2195737" y="1268760"/>
            <a:ext cx="4824536" cy="2232248"/>
          </a:xfrm>
          <a:prstGeom prst="rect">
            <a:avLst/>
          </a:prstGeom>
          <a:noFill/>
          <a:ln w="9525">
            <a:noFill/>
            <a:miter lim="800000"/>
            <a:headEnd/>
            <a:tailEnd/>
          </a:ln>
        </p:spPr>
      </p:pic>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31</a:t>
            </a:fld>
            <a:endParaRPr kumimoji="1" lang="ja-JP" altLang="en-US" dirty="0">
              <a:latin typeface="Meiryo UI" pitchFamily="50" charset="-128"/>
              <a:ea typeface="Meiryo UI" pitchFamily="50" charset="-128"/>
              <a:cs typeface="Meiryo UI" pitchFamily="50" charset="-128"/>
            </a:endParaRPr>
          </a:p>
        </p:txBody>
      </p:sp>
      <p:sp>
        <p:nvSpPr>
          <p:cNvPr id="11" name="タイトル 4"/>
          <p:cNvSpPr>
            <a:spLocks noGrp="1"/>
          </p:cNvSpPr>
          <p:nvPr>
            <p:ph type="title"/>
          </p:nvPr>
        </p:nvSpPr>
        <p:spPr>
          <a:xfrm>
            <a:off x="1581172" y="0"/>
            <a:ext cx="6049963" cy="765175"/>
          </a:xfrm>
        </p:spPr>
        <p:txBody>
          <a:bodyPr/>
          <a:lstStyle/>
          <a:p>
            <a:pPr lvl="1" algn="ct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Rendering Unit and GICL </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Package</a:t>
            </a:r>
          </a:p>
        </p:txBody>
      </p:sp>
      <p:sp>
        <p:nvSpPr>
          <p:cNvPr id="12" name="角丸四角形 11"/>
          <p:cNvSpPr/>
          <p:nvPr/>
        </p:nvSpPr>
        <p:spPr bwMode="auto">
          <a:xfrm>
            <a:off x="324322" y="1195227"/>
            <a:ext cx="4240446" cy="786598"/>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Rendering </a:t>
            </a:r>
            <a:r>
              <a:rPr kumimoji="0" lang="en-US" altLang="ja-JP" sz="1400" b="1" i="0" u="none" strike="noStrike" kern="0" cap="none" spc="0" normalizeH="0" baseline="0" noProof="0" dirty="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Unit</a:t>
            </a:r>
            <a:endPar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means to operate the device necessary for processing images.</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角丸四角形 12"/>
          <p:cNvSpPr/>
          <p:nvPr/>
        </p:nvSpPr>
        <p:spPr bwMode="auto">
          <a:xfrm>
            <a:off x="4716810" y="1195227"/>
            <a:ext cx="4240446" cy="970478"/>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GICL</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20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a:t>
            </a: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controlling means for hardware logic that is related to image processing and means for operating software logic.</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4"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2275" y="2433978"/>
            <a:ext cx="3219450"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5" name="表 14"/>
          <p:cNvGraphicFramePr>
            <a:graphicFrameLocks noGrp="1"/>
          </p:cNvGraphicFramePr>
          <p:nvPr>
            <p:extLst>
              <p:ext uri="{D42A27DB-BD31-4B8C-83A1-F6EECF244321}">
                <p14:modId xmlns:p14="http://schemas.microsoft.com/office/powerpoint/2010/main" val="3294451326"/>
              </p:ext>
            </p:extLst>
          </p:nvPr>
        </p:nvGraphicFramePr>
        <p:xfrm>
          <a:off x="457200" y="4450202"/>
          <a:ext cx="8231188" cy="1859912"/>
        </p:xfrm>
        <a:graphic>
          <a:graphicData uri="http://schemas.openxmlformats.org/drawingml/2006/table">
            <a:tbl>
              <a:tblPr/>
              <a:tblGrid>
                <a:gridCol w="1785486"/>
                <a:gridCol w="950965"/>
                <a:gridCol w="982503"/>
                <a:gridCol w="4512234"/>
              </a:tblGrid>
              <a:tr h="24751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dirty="0">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ctr" fontAlgn="ctr"/>
                      <a:r>
                        <a:rPr lang="en-US" sz="8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28391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Image Flow Manager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rnuIFM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renIFM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Since there is access from Platform Middleware Layer, it has been extracted from Rendering and placed in this package. No other changes except the abbreviated name has been made.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13038">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Image Rendering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rnuIRU</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renIRM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Since there is access from Platform Middleware Layer, it has been extracted from Rendering and placed in this package. No other changes except the abbreviated name has been made.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14957">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Image Printing Unit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rnuIPU</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dvuPRT</a:t>
                      </a:r>
                      <a:br>
                        <a:rPr lang="en-US" sz="800" b="0" i="0" u="none" strike="noStrike">
                          <a:solidFill>
                            <a:srgbClr val="000000"/>
                          </a:solidFill>
                          <a:effectLst/>
                          <a:latin typeface="Meiryo UI"/>
                        </a:rPr>
                      </a:br>
                      <a:r>
                        <a:rPr lang="en-US" sz="800" b="0" i="0" u="none" strike="noStrike">
                          <a:solidFill>
                            <a:srgbClr val="000000"/>
                          </a:solidFill>
                          <a:effectLst/>
                          <a:latin typeface="Meiryo UI"/>
                        </a:rPr>
                        <a:t>dvuEPRT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This newly defined component partly takes over the responsibility of </a:t>
                      </a:r>
                      <a:r>
                        <a:rPr lang="en-US" sz="800" b="0" i="0" u="none" strike="noStrike" dirty="0" err="1">
                          <a:solidFill>
                            <a:srgbClr val="000000"/>
                          </a:solidFill>
                          <a:effectLst/>
                          <a:latin typeface="Meiryo UI"/>
                        </a:rPr>
                        <a:t>dvuPRT</a:t>
                      </a:r>
                      <a:r>
                        <a:rPr lang="en-US" sz="800" b="0" i="0" u="none" strike="noStrike" dirty="0">
                          <a:solidFill>
                            <a:srgbClr val="000000"/>
                          </a:solidFill>
                          <a:effectLst/>
                          <a:latin typeface="Meiryo UI"/>
                        </a:rPr>
                        <a:t> component, so that it now assumes the responsibility of image processing triggered by operating a device.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Codec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giclCDC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giclCDC</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287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Conversion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giclCNV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giclCNV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60159">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Generation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giclGNR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a:solidFill>
                            <a:srgbClr val="000000"/>
                          </a:solidFill>
                          <a:effectLst/>
                          <a:latin typeface="Meiryo UI"/>
                        </a:rPr>
                        <a:t>giclGNR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algn="l" fontAlgn="t"/>
                      <a:r>
                        <a:rPr lang="en-US" sz="800" b="0" i="0" u="none" strike="noStrike" dirty="0">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r>
              <a:rPr lang="en-US" altLang="ja-JP" smtClean="0">
                <a:latin typeface="Meiryo UI" pitchFamily="50" charset="-128"/>
                <a:ea typeface="Meiryo UI" pitchFamily="50" charset="-128"/>
                <a:cs typeface="Meiryo UI" pitchFamily="50" charset="-128"/>
              </a:rPr>
              <a:t>Confidential</a:t>
            </a:r>
            <a:endParaRPr lang="ja-JP" altLang="en-US" dirty="0">
              <a:latin typeface="Meiryo UI" pitchFamily="50" charset="-128"/>
              <a:ea typeface="Meiryo UI" pitchFamily="50" charset="-128"/>
              <a:cs typeface="Meiryo UI" pitchFamily="50" charset="-128"/>
            </a:endParaRPr>
          </a:p>
        </p:txBody>
      </p:sp>
      <p:sp>
        <p:nvSpPr>
          <p:cNvPr id="4" name="フッター プレースホルダー 3"/>
          <p:cNvSpPr>
            <a:spLocks noGrp="1"/>
          </p:cNvSpPr>
          <p:nvPr>
            <p:ph type="ftr" sz="quarter" idx="11"/>
          </p:nvPr>
        </p:nvSpPr>
        <p:spPr/>
        <p:txBody>
          <a:bodyPr/>
          <a:lstStyle/>
          <a:p>
            <a:r>
              <a:rPr lang="fr-FR" altLang="ja-JP" dirty="0" smtClean="0">
                <a:solidFill>
                  <a:schemeClr val="bg1">
                    <a:lumMod val="50000"/>
                  </a:schemeClr>
                </a:solidFill>
                <a:latin typeface="Meiryo UI" pitchFamily="50" charset="-128"/>
                <a:ea typeface="Meiryo UI" pitchFamily="50" charset="-128"/>
                <a:cs typeface="Meiryo UI" pitchFamily="50" charset="-128"/>
              </a:rPr>
              <a:t>ⓒ 201</a:t>
            </a:r>
            <a:r>
              <a:rPr lang="en-US" altLang="ja-JP" dirty="0" smtClean="0">
                <a:solidFill>
                  <a:schemeClr val="bg1">
                    <a:lumMod val="50000"/>
                  </a:schemeClr>
                </a:solidFill>
                <a:latin typeface="Meiryo UI" pitchFamily="50" charset="-128"/>
                <a:ea typeface="Meiryo UI" pitchFamily="50" charset="-128"/>
                <a:cs typeface="Meiryo UI" pitchFamily="50" charset="-128"/>
              </a:rPr>
              <a:t>6</a:t>
            </a:r>
            <a:r>
              <a:rPr lang="fr-FR" altLang="ja-JP" dirty="0" smtClean="0">
                <a:solidFill>
                  <a:schemeClr val="bg1">
                    <a:lumMod val="50000"/>
                  </a:schemeClr>
                </a:solidFill>
                <a:latin typeface="Meiryo UI" pitchFamily="50" charset="-128"/>
                <a:ea typeface="Meiryo UI" pitchFamily="50" charset="-128"/>
                <a:cs typeface="Meiryo UI" pitchFamily="50" charset="-128"/>
              </a:rPr>
              <a:t> KYOCERA Document Solutions Inc.</a:t>
            </a:r>
            <a:endParaRPr lang="en-US" altLang="ja-JP" dirty="0" smtClean="0">
              <a:solidFill>
                <a:schemeClr val="bg1">
                  <a:lumMod val="50000"/>
                </a:schemeClr>
              </a:solidFill>
              <a:latin typeface="Meiryo UI" pitchFamily="50" charset="-128"/>
              <a:ea typeface="Meiryo UI" pitchFamily="50" charset="-128"/>
              <a:cs typeface="Meiryo UI" pitchFamily="50" charset="-128"/>
            </a:endParaRPr>
          </a:p>
        </p:txBody>
      </p:sp>
      <p:sp>
        <p:nvSpPr>
          <p:cNvPr id="5" name="スライド番号プレースホルダー 4"/>
          <p:cNvSpPr>
            <a:spLocks noGrp="1"/>
          </p:cNvSpPr>
          <p:nvPr>
            <p:ph type="sldNum" sz="quarter" idx="12"/>
          </p:nvPr>
        </p:nvSpPr>
        <p:spPr/>
        <p:txBody>
          <a:bodyPr/>
          <a:lstStyle/>
          <a:p>
            <a:fld id="{6A5434C0-8F2D-41BA-937E-6EC1B0C7411D}" type="slidenum">
              <a:rPr kumimoji="1" lang="ja-JP" altLang="en-US" smtClean="0">
                <a:latin typeface="Meiryo UI" pitchFamily="50" charset="-128"/>
                <a:ea typeface="Meiryo UI" pitchFamily="50" charset="-128"/>
                <a:cs typeface="Meiryo UI" pitchFamily="50" charset="-128"/>
              </a:rPr>
              <a:pPr/>
              <a:t>32</a:t>
            </a:fld>
            <a:endParaRPr kumimoji="1" lang="ja-JP" altLang="en-US" dirty="0">
              <a:latin typeface="Meiryo UI" pitchFamily="50" charset="-128"/>
              <a:ea typeface="Meiryo UI" pitchFamily="50" charset="-128"/>
              <a:cs typeface="Meiryo UI" pitchFamily="50" charset="-128"/>
            </a:endParaRPr>
          </a:p>
        </p:txBody>
      </p:sp>
      <p:sp>
        <p:nvSpPr>
          <p:cNvPr id="11" name="タイトル 4"/>
          <p:cNvSpPr>
            <a:spLocks noGrp="1"/>
          </p:cNvSpPr>
          <p:nvPr>
            <p:ph type="title"/>
          </p:nvPr>
        </p:nvSpPr>
        <p:spPr>
          <a:xfrm>
            <a:off x="1581172" y="0"/>
            <a:ext cx="6049963" cy="765175"/>
          </a:xfrm>
        </p:spPr>
        <p:txBody>
          <a:bodyPr/>
          <a:lstStyle/>
          <a:p>
            <a:pPr lvl="1" algn="ct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Protocol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Server </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and </a:t>
            </a:r>
            <a:r>
              <a:rPr lang="en-US" altLang="ja-JP" sz="2400" b="1" dirty="0" smtClean="0">
                <a:latin typeface="Meiryo UI" panose="020B0604030504040204" pitchFamily="50" charset="-128"/>
                <a:ea typeface="Meiryo UI" panose="020B0604030504040204" pitchFamily="50" charset="-128"/>
                <a:cs typeface="Meiryo UI" panose="020B0604030504040204" pitchFamily="50" charset="-128"/>
              </a:rPr>
              <a:t>Utility </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Package</a:t>
            </a:r>
          </a:p>
        </p:txBody>
      </p:sp>
      <p:sp>
        <p:nvSpPr>
          <p:cNvPr id="12" name="角丸四角形 11"/>
          <p:cNvSpPr/>
          <p:nvPr/>
        </p:nvSpPr>
        <p:spPr bwMode="auto">
          <a:xfrm>
            <a:off x="331554" y="1195227"/>
            <a:ext cx="4240446" cy="786598"/>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Protocol</a:t>
            </a: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 Server</a:t>
            </a:r>
          </a:p>
          <a:p>
            <a:pPr marL="0" marR="0" lvl="0" indent="0" defTabSz="914400" eaLnBrk="1" fontAlgn="base" latinLnBrk="0" hangingPunct="1">
              <a:lnSpc>
                <a:spcPct val="90000"/>
              </a:lnSpc>
              <a:spcBef>
                <a:spcPct val="50000"/>
              </a:spcBef>
              <a:spcAft>
                <a:spcPts val="0"/>
              </a:spcAft>
              <a:buClrTx/>
              <a:buSzTx/>
              <a:buFontTx/>
              <a:buNone/>
              <a:tabLst/>
              <a:defRPr/>
            </a:pP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server operational means that supports network protocol.</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角丸四角形 12"/>
          <p:cNvSpPr/>
          <p:nvPr/>
        </p:nvSpPr>
        <p:spPr bwMode="auto">
          <a:xfrm>
            <a:off x="4716810" y="1195226"/>
            <a:ext cx="4240446" cy="725305"/>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ja-JP" sz="1400" b="1" i="0" u="none" strike="noStrike" kern="0" cap="none" spc="0" normalizeH="0" baseline="0" noProof="0" dirty="0" smtClean="0">
                <a:ln>
                  <a:noFill/>
                </a:ln>
                <a:solidFill>
                  <a:srgbClr val="0070C0"/>
                </a:solidFill>
                <a:effectLst/>
                <a:uLnTx/>
                <a:uFillTx/>
                <a:latin typeface="Meiryo UI" panose="020B0604030504040204" pitchFamily="50" charset="-128"/>
                <a:ea typeface="Meiryo UI" panose="020B0604030504040204" pitchFamily="50" charset="-128"/>
                <a:cs typeface="Meiryo UI" panose="020B0604030504040204" pitchFamily="50" charset="-128"/>
              </a:rPr>
              <a:t>Utility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Provides useful features to be used in the platform in </a:t>
            </a:r>
            <a:r>
              <a:rPr kumimoji="0" lang="en-US" altLang="ja-JP" sz="1200" b="0"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common.</a:t>
            </a:r>
            <a:endParaRPr kumimoji="0" lang="en-US" altLang="ja-JP" sz="1200" b="1" i="0" u="none" strike="noStrike" kern="0" cap="none" spc="0" normalizeH="0" baseline="0" noProof="0" dirty="0" smtClean="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5600" y="2349674"/>
            <a:ext cx="3352800" cy="181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5" name="表 14"/>
          <p:cNvGraphicFramePr>
            <a:graphicFrameLocks noGrp="1"/>
          </p:cNvGraphicFramePr>
          <p:nvPr>
            <p:extLst>
              <p:ext uri="{D42A27DB-BD31-4B8C-83A1-F6EECF244321}">
                <p14:modId xmlns:p14="http://schemas.microsoft.com/office/powerpoint/2010/main" val="32718533"/>
              </p:ext>
            </p:extLst>
          </p:nvPr>
        </p:nvGraphicFramePr>
        <p:xfrm>
          <a:off x="457200" y="4581922"/>
          <a:ext cx="8231188" cy="1266711"/>
        </p:xfrm>
        <a:graphic>
          <a:graphicData uri="http://schemas.openxmlformats.org/drawingml/2006/table">
            <a:tbl>
              <a:tblPr/>
              <a:tblGrid>
                <a:gridCol w="1785486"/>
                <a:gridCol w="950965"/>
                <a:gridCol w="982503"/>
                <a:gridCol w="4512234"/>
              </a:tblGrid>
              <a:tr h="247518">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ctr"/>
                      <a:r>
                        <a:rPr lang="en-US" sz="800" b="1" i="0" u="none" strike="noStrike">
                          <a:solidFill>
                            <a:srgbClr val="000000"/>
                          </a:solidFill>
                          <a:effectLst/>
                          <a:latin typeface="Meiryo UI"/>
                        </a:rPr>
                        <a:t>Component 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ctr"/>
                      <a:r>
                        <a:rPr lang="en-US" sz="800" b="1" i="0" u="none" strike="noStrike">
                          <a:solidFill>
                            <a:srgbClr val="000000"/>
                          </a:solidFill>
                          <a:effectLst/>
                          <a:latin typeface="Meiryo UI"/>
                        </a:rPr>
                        <a:t>Abbreviation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ctr"/>
                      <a:r>
                        <a:rPr lang="en-US" sz="800" b="1" i="0" u="none" strike="noStrike">
                          <a:solidFill>
                            <a:srgbClr val="000000"/>
                          </a:solidFill>
                          <a:effectLst/>
                          <a:latin typeface="Meiryo UI"/>
                        </a:rPr>
                        <a:t>WiseCore3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ctr"/>
                      <a:r>
                        <a:rPr lang="en-US" sz="800" b="1" i="0" u="none" strike="noStrike">
                          <a:solidFill>
                            <a:srgbClr val="000000"/>
                          </a:solidFill>
                          <a:effectLst/>
                          <a:latin typeface="Meiryo UI"/>
                        </a:rPr>
                        <a:t>Background and modification reason of responsibility definition</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r>
              <a:tr h="152879">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Print Server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prsPRT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prsPRT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2879">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Configuration Server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prsCNF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prsCNF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52879">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Management Server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prsMNG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prsMNG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No change.</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76638">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Utility Library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utlLIB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utlLIB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Library which is only used by platform is extracted from utlLIB and newly added.</a:t>
                      </a:r>
                      <a:br>
                        <a:rPr lang="en-US" sz="800" b="0" i="0" u="none" strike="noStrike">
                          <a:solidFill>
                            <a:srgbClr val="000000"/>
                          </a:solidFill>
                          <a:effectLst/>
                          <a:latin typeface="Meiryo UI"/>
                        </a:rPr>
                      </a:br>
                      <a:r>
                        <a:rPr lang="en-US" sz="800" b="0" i="0" u="none" strike="noStrike">
                          <a:solidFill>
                            <a:srgbClr val="000000"/>
                          </a:solidFill>
                          <a:effectLst/>
                          <a:latin typeface="Meiryo UI"/>
                        </a:rPr>
                        <a:t>Add requirements of utstmr.</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83918">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Setting Rules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utlRULE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a:solidFill>
                            <a:srgbClr val="000000"/>
                          </a:solidFill>
                          <a:effectLst/>
                          <a:latin typeface="Meiryo UI"/>
                        </a:rPr>
                        <a:t>utlRULE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fontAlgn="t"/>
                      <a:r>
                        <a:rPr lang="en-US" sz="800" b="0" i="0" u="none" strike="noStrike" dirty="0">
                          <a:solidFill>
                            <a:srgbClr val="000000"/>
                          </a:solidFill>
                          <a:effectLst/>
                          <a:latin typeface="Meiryo UI"/>
                        </a:rPr>
                        <a:t>Condition judgment of prohibition only used by platform is extracted from </a:t>
                      </a:r>
                      <a:r>
                        <a:rPr lang="en-US" sz="800" b="0" i="0" u="none" strike="noStrike" dirty="0" err="1">
                          <a:solidFill>
                            <a:srgbClr val="000000"/>
                          </a:solidFill>
                          <a:effectLst/>
                          <a:latin typeface="Meiryo UI"/>
                        </a:rPr>
                        <a:t>utlRULE</a:t>
                      </a:r>
                      <a:r>
                        <a:rPr lang="en-US" sz="800" b="0" i="0" u="none" strike="noStrike" dirty="0">
                          <a:solidFill>
                            <a:srgbClr val="000000"/>
                          </a:solidFill>
                          <a:effectLst/>
                          <a:latin typeface="Meiryo UI"/>
                        </a:rPr>
                        <a:t> and newly added. </a:t>
                      </a: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extLst>
      <p:ext uri="{BB962C8B-B14F-4D97-AF65-F5344CB8AC3E}">
        <p14:creationId xmlns:p14="http://schemas.microsoft.com/office/powerpoint/2010/main" val="15619081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2016powerpointTP">
      <a:dk1>
        <a:sysClr val="windowText" lastClr="000000"/>
      </a:dk1>
      <a:lt1>
        <a:sysClr val="window" lastClr="FFFFFF"/>
      </a:lt1>
      <a:dk2>
        <a:srgbClr val="1F497D"/>
      </a:dk2>
      <a:lt2>
        <a:srgbClr val="EEECE1"/>
      </a:lt2>
      <a:accent1>
        <a:srgbClr val="2479CE"/>
      </a:accent1>
      <a:accent2>
        <a:srgbClr val="EB3737"/>
      </a:accent2>
      <a:accent3>
        <a:srgbClr val="F58400"/>
      </a:accent3>
      <a:accent4>
        <a:srgbClr val="FFE60A"/>
      </a:accent4>
      <a:accent5>
        <a:srgbClr val="6EBE69"/>
      </a:accent5>
      <a:accent6>
        <a:srgbClr val="8C2AAA"/>
      </a:accent6>
      <a:hlink>
        <a:srgbClr val="0000FF"/>
      </a:hlink>
      <a:folHlink>
        <a:srgbClr val="9999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AverageRating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E161B5176D6C94BB4F1A14710589162" ma:contentTypeVersion="5" ma:contentTypeDescription="新しいドキュメントを作成します。" ma:contentTypeScope="" ma:versionID="4ea02c71eba5e4c9f42e1ca0e0f493ad">
  <xsd:schema xmlns:xsd="http://www.w3.org/2001/XMLSchema" xmlns:xs="http://www.w3.org/2001/XMLSchema" xmlns:p="http://schemas.microsoft.com/office/2006/metadata/properties" xmlns:ns1="http://schemas.microsoft.com/sharepoint/v3" xmlns:ns2="http://schemas.microsoft.com/sharepoint/v4" targetNamespace="http://schemas.microsoft.com/office/2006/metadata/properties" ma:root="true" ma:fieldsID="efded4df395519db5b8c1373c0255401" ns1:_="" ns2:_="">
    <xsd:import namespace="http://schemas.microsoft.com/sharepoint/v3"/>
    <xsd:import namespace="http://schemas.microsoft.com/sharepoint/v4"/>
    <xsd:element name="properties">
      <xsd:complexType>
        <xsd:sequence>
          <xsd:element name="documentManagement">
            <xsd:complexType>
              <xsd:all>
                <xsd:element ref="ns1:AverageRating" minOccurs="0"/>
                <xsd:element ref="ns1:RatingCount" minOccurs="0"/>
                <xsd:element ref="ns2: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8" nillable="true" ma:displayName="評価 (0 ～ 5)" ma:decimals="2" ma:description="送信されたすべての評価の平均値" ma:internalName="AverageRating" ma:readOnly="true">
      <xsd:simpleType>
        <xsd:restriction base="dms:Number"/>
      </xsd:simpleType>
    </xsd:element>
    <xsd:element name="RatingCount" ma:index="9" nillable="true" ma:displayName="評価の数(Number of Ratings )" ma:decimals="0" ma:description="送信された評価の数" ma:internalName="RatingCount" ma:readOnly="tru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0"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8C10CA-E923-42FB-8A89-7771675DD838}">
  <ds:schemaRefs>
    <ds:schemaRef ds:uri="http://www.w3.org/XML/1998/namespace"/>
    <ds:schemaRef ds:uri="http://schemas.microsoft.com/sharepoint/v4"/>
    <ds:schemaRef ds:uri="http://schemas.microsoft.com/office/infopath/2007/PartnerControls"/>
    <ds:schemaRef ds:uri="http://purl.org/dc/terms/"/>
    <ds:schemaRef ds:uri="http://purl.org/dc/dcmitype/"/>
    <ds:schemaRef ds:uri="http://purl.org/dc/elements/1.1/"/>
    <ds:schemaRef ds:uri="http://schemas.microsoft.com/office/2006/documentManagement/types"/>
    <ds:schemaRef ds:uri="http://schemas.openxmlformats.org/package/2006/metadata/core-properties"/>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641E7237-D7D9-4A91-A5EC-69504E0A8FC4}">
  <ds:schemaRefs>
    <ds:schemaRef ds:uri="http://schemas.microsoft.com/sharepoint/v3/contenttype/forms"/>
  </ds:schemaRefs>
</ds:datastoreItem>
</file>

<file path=customXml/itemProps3.xml><?xml version="1.0" encoding="utf-8"?>
<ds:datastoreItem xmlns:ds="http://schemas.openxmlformats.org/officeDocument/2006/customXml" ds:itemID="{811DC9F8-6EFE-4A89-8ADA-92932B2EB1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Foundry</Template>
  <TotalTime>5076</TotalTime>
  <Words>8520</Words>
  <Application>Microsoft Office PowerPoint</Application>
  <PresentationFormat>On-screen Show (4:3)</PresentationFormat>
  <Paragraphs>1224</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​​テーマ</vt:lpstr>
      <vt:lpstr>PowerPoint Presentation</vt:lpstr>
      <vt:lpstr>Self-introduction</vt:lpstr>
      <vt:lpstr>PowerPoint Presentation</vt:lpstr>
      <vt:lpstr>Subsystem</vt:lpstr>
      <vt:lpstr>Subsystem</vt:lpstr>
      <vt:lpstr>Layers</vt:lpstr>
      <vt:lpstr>Application Layer</vt:lpstr>
      <vt:lpstr>Platform Service Layer</vt:lpstr>
      <vt:lpstr>Platform Element Layer</vt:lpstr>
      <vt:lpstr>Platform Middleware Layer</vt:lpstr>
      <vt:lpstr>Process configuration</vt:lpstr>
      <vt:lpstr>Process configuration</vt:lpstr>
      <vt:lpstr>PowerPoint Presentation</vt:lpstr>
      <vt:lpstr>PowerPoint Presentation</vt:lpstr>
      <vt:lpstr>Application Layer</vt:lpstr>
      <vt:lpstr>Application Layer </vt:lpstr>
      <vt:lpstr>Application Layer</vt:lpstr>
      <vt:lpstr>Application Layer </vt:lpstr>
      <vt:lpstr>Application Layer</vt:lpstr>
      <vt:lpstr>Application Layer</vt:lpstr>
      <vt:lpstr>Image Processing Package</vt:lpstr>
      <vt:lpstr>Device Operation Package</vt:lpstr>
      <vt:lpstr>Communication Package</vt:lpstr>
      <vt:lpstr>Other Packages in Platform Service Layer</vt:lpstr>
      <vt:lpstr>Communication Protocol Package</vt:lpstr>
      <vt:lpstr>Device Control Package</vt:lpstr>
      <vt:lpstr>Rendering Package</vt:lpstr>
      <vt:lpstr>Other Packages  in Platform Element Layer</vt:lpstr>
      <vt:lpstr>OS Library and  Base Mechanism Package</vt:lpstr>
      <vt:lpstr>Platform Entity  and Database Package</vt:lpstr>
      <vt:lpstr>Device Unit Package</vt:lpstr>
      <vt:lpstr>Rendering Unit and GICL Package</vt:lpstr>
      <vt:lpstr>Protocol Server and Utility Package</vt:lpstr>
    </vt:vector>
  </TitlesOfParts>
  <Company>京セラドキュメントソリューションズ</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WiseCore4S architecture lecture</dc:title>
  <dc:creator>Obara，Shuhei(小原秀平)</dc:creator>
  <cp:lastModifiedBy>Jungie Lobitana</cp:lastModifiedBy>
  <cp:revision>432</cp:revision>
  <dcterms:created xsi:type="dcterms:W3CDTF">2016-02-23T10:51:37Z</dcterms:created>
  <dcterms:modified xsi:type="dcterms:W3CDTF">2016-07-08T00:50:10Z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676f76d1-840f-467c-97cd-076a971b4ebf</vt:lpwstr>
  </property>
  <property fmtid="{D5CDD505-2E9C-101B-9397-08002B2CF9AE}" pid="3" name="ContentTypeId">
    <vt:lpwstr>0x010100EE161B5176D6C94BB4F1A14710589162</vt:lpwstr>
  </property>
</Properties>
</file>